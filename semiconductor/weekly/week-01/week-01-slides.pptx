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This week assumes no background at all. The picture on the right is a silicon wafer: a thin disc that hundreds of chips are made on at the same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you remember only four things from this week, make it these four. The rest of the slides explain each one with a picture.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chip is the phone's brain. It has areas for different jobs: the CPU runs apps, the GPU draws graphics, an AI engine handles things like photo enhancement, and memory keeps data close by. Every one of those areas is made of the same building block: the transistor, a microscopic switch.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Think of a water tap. Current flows from the source to the drain through a path called the channel. The gate is the tap handle: a small voltage on it opens or closes the path. Combine billions of these and you can do maths, show videos and run 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real published transistor counts. The jump from thousands to billions is the whole story of the chip industry: make the switch smaller, fit more of them, get a more capable chip.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nanometre is one billionth of a metre. Today's transistor gates are about 15 to 20 nanometres long: smaller than a virus, but still about 100 silicon atoms across. That's why we can't keep shrinking forever.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why companies spend tens of billions of dollars on new factories. Each new generation of smaller switches gives better phones, laptops and AI servers.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2 by 4 plank of wood actually measures one and a half by three and a half inches. The name stuck from long ago. Chip names work the same way. Thirty years ago the number matched the switch size. Today the switches are about 20 nanometres long and about 48 nanometres apart, but the generations kept counting down: 7, 5, 3, 2. So 3nm just means 'the generation after 5nm'.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a switch gets very small, the gate loses control and current leaks through even when it's off, like a tap that drips. Leaking wastes battery and makes heat. The fix has been to wrap the gate around the channel from more sides: one side on old flat switches, three sides on FinFETs, and all four sides on gate-all-around switches.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Big structural changes are rare. FinFET lasted about ten years. Gate-all-around is the new standard for the most advanced chips. Stacking switches on top of each other is the next idea in research labs.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Engineers can't slide metal into a gap a few nanometres wide. So they grow a stack of alternating layers, silicon and a temporary material. A chemical that dissolves only the temporary layers leaves silicon sheets floating. Then the gate material is deposited one atom-thick layer at a time, so it coats every side of every sheet.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chip has more than ten layers of tiny wires above the switches. Some carry data, some carry power. Sharing that space is like water pipes and internet cables crammed into the same ceiling. Backside power flips the wafer over and builds the power wiring underneath. Intel calls it PowerVia, TSMC calls it Super Power Rail.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Apple and Nvidia design chips, then pay TSMC to manufacture them. That's why TSMC is one of the most important companies in the world. Building one advanced chip factory costs over 20 billion dollars.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We'll go much deeper into jobs and companies in weeks 10 to 12. For now, notice that every technical change creates winners: whoever makes the machines, the factories and the software.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Ten words cover almost everything this week. The full glossary is in notes/glossary.md.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Pause here and try answering before moving on. Explaining something out loud is one of the best ways to remember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you got four or five right, you've understood week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That's week one. The podcast covers the same ideas as a conversation, so it's a good way to review on the go.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0B1F33"/>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417320"/>
            <a:ext cx="4937760" cy="1463040"/>
          </a:xfrm>
          <a:prstGeom prst="rect">
            <a:avLst/>
          </a:prstGeom>
          <a:noFill/>
          <a:ln/>
        </p:spPr>
        <p:txBody>
          <a:bodyPr wrap="square" rtlCol="0"/>
          <a:lstStyle>
            <a:lvl1pPr algn="l" indent="0" marL="0">
              <a:buNone/>
              <a:defRPr lang="en-US" sz="3600" b="1" dirty="0">
                <a:solidFill>
                  <a:srgbClr val="FFFFFF"/>
                </a:solidFill>
                <a:latin typeface="Cambria" pitchFamily="34" charset="0"/>
                <a:ea typeface="Cambria" pitchFamily="34" charset="-122"/>
                <a:cs typeface="Cambria" pitchFamily="34" charset="-120"/>
              </a:defRPr>
            </a:lvl1pPr>
          </a:lstStyle>
          <a:p>
            <a:pPr algn="l" indent="0" marL="0">
              <a:buNone/>
            </a:pPr>
            <a:endParaRPr lang="en-US" sz="3600" dirty="0"/>
          </a:p>
        </p:txBody>
      </p:sp>
      <p:sp>
        <p:nvSpPr>
          <p:cNvPr id="3" name="Text 0"/>
          <p:cNvSpPr/>
          <p:nvPr>
            <p:ph idx="101" type="body" hasCustomPrompt="1"/>
          </p:nvPr>
        </p:nvSpPr>
        <p:spPr>
          <a:xfrm>
            <a:off x="548640" y="2971800"/>
            <a:ext cx="4937760" cy="1097280"/>
          </a:xfrm>
          <a:prstGeom prst="rect">
            <a:avLst/>
          </a:prstGeom>
          <a:noFill/>
          <a:ln/>
        </p:spPr>
        <p:txBody>
          <a:bodyPr wrap="square" rtlCol="0"/>
          <a:lstStyle>
            <a:lvl1pPr algn="l" indent="0" marL="0">
              <a:buNone/>
              <a:defRPr lang="en-US" sz="1600" dirty="0">
                <a:solidFill>
                  <a:srgbClr val="8FB8DE"/>
                </a:solidFill>
                <a:latin typeface="Calibri" pitchFamily="34" charset="0"/>
                <a:ea typeface="Calibri" pitchFamily="34" charset="-122"/>
                <a:cs typeface="Calibri" pitchFamily="34" charset="-120"/>
              </a:defRPr>
            </a:lvl1pPr>
          </a:lstStyle>
          <a:p>
            <a:pPr algn="l" indent="0" marL="0">
              <a:buNone/>
            </a:pPr>
            <a:endParaRPr lang="en-US" sz="1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_DARK">
    <p:bg>
      <p:bgPr>
        <a:solidFill>
          <a:srgbClr val="0B1F33"/>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828800"/>
            <a:ext cx="8046720" cy="914400"/>
          </a:xfrm>
          <a:prstGeom prst="rect">
            <a:avLst/>
          </a:prstGeom>
          <a:noFill/>
          <a:ln/>
        </p:spPr>
        <p:txBody>
          <a:bodyPr wrap="square" rtlCol="0"/>
          <a:lstStyle>
            <a:lvl1pPr algn="l" indent="0" marL="0">
              <a:buNone/>
              <a:defRPr lang="en-US" sz="3600" b="1" dirty="0">
                <a:solidFill>
                  <a:srgbClr val="FFFFFF"/>
                </a:solidFill>
                <a:latin typeface="Cambria" pitchFamily="34" charset="0"/>
                <a:ea typeface="Cambria" pitchFamily="34" charset="-122"/>
                <a:cs typeface="Cambria" pitchFamily="34" charset="-120"/>
              </a:defRPr>
            </a:lvl1pPr>
          </a:lstStyle>
          <a:p>
            <a:pPr algn="l" indent="0" marL="0">
              <a:buNone/>
            </a:pPr>
            <a:endParaRPr lang="en-US" sz="3600" dirty="0"/>
          </a:p>
        </p:txBody>
      </p:sp>
      <p:sp>
        <p:nvSpPr>
          <p:cNvPr id="3" name="Text 0"/>
          <p:cNvSpPr/>
          <p:nvPr>
            <p:ph idx="101" type="body" hasCustomPrompt="1"/>
          </p:nvPr>
        </p:nvSpPr>
        <p:spPr>
          <a:xfrm>
            <a:off x="548640" y="2743200"/>
            <a:ext cx="8046720" cy="731520"/>
          </a:xfrm>
          <a:prstGeom prst="rect">
            <a:avLst/>
          </a:prstGeom>
          <a:noFill/>
          <a:ln/>
        </p:spPr>
        <p:txBody>
          <a:bodyPr wrap="square" rtlCol="0"/>
          <a:lstStyle>
            <a:lvl1pPr algn="l" indent="0" marL="0">
              <a:buNone/>
              <a:defRPr lang="en-US" sz="1600" dirty="0">
                <a:solidFill>
                  <a:srgbClr val="8FB8DE"/>
                </a:solidFill>
                <a:latin typeface="Calibri" pitchFamily="34" charset="0"/>
                <a:ea typeface="Calibri" pitchFamily="34" charset="-122"/>
                <a:cs typeface="Calibri" pitchFamily="34" charset="-120"/>
              </a:defRPr>
            </a:lvl1pPr>
          </a:lstStyle>
          <a:p>
            <a:pPr algn="l" indent="0" marL="0">
              <a:buNone/>
            </a:pPr>
            <a:endParaRPr lang="en-US" sz="16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RECAP_DARK">
    <p:bg>
      <p:bgPr>
        <a:solidFill>
          <a:srgbClr val="0B1F33"/>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8046720" cy="731520"/>
          </a:xfrm>
          <a:prstGeom prst="rect">
            <a:avLst/>
          </a:prstGeom>
          <a:noFill/>
          <a:ln/>
        </p:spPr>
        <p:txBody>
          <a:bodyPr wrap="square" rtlCol="0"/>
          <a:lstStyle>
            <a:lvl1pPr algn="l" indent="0" marL="0">
              <a:buNone/>
              <a:defRPr lang="en-US" sz="3200" b="1" dirty="0">
                <a:solidFill>
                  <a:srgbClr val="FFFFFF"/>
                </a:solidFill>
                <a:latin typeface="Cambria" pitchFamily="34" charset="0"/>
                <a:ea typeface="Cambria" pitchFamily="34" charset="-122"/>
                <a:cs typeface="Cambria" pitchFamily="34" charset="-120"/>
              </a:defRPr>
            </a:lvl1pPr>
          </a:lstStyle>
          <a:p>
            <a:pPr algn="l" indent="0" marL="0">
              <a:buNone/>
            </a:pPr>
            <a:endParaRPr lang="en-US" sz="3200"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rtlCol="0"/>
          <a:lstStyle>
            <a:lvl1pPr indent="0" marL="0">
              <a:buNone/>
              <a:defRPr lang="en-US" sz="2800" b="1" dirty="0">
                <a:solidFill>
                  <a:srgbClr val="0B1F33"/>
                </a:solidFill>
                <a:latin typeface="Cambria" pitchFamily="34" charset="0"/>
                <a:ea typeface="Cambria" pitchFamily="34" charset="-122"/>
                <a:cs typeface="Cambria" pitchFamily="34" charset="-120"/>
              </a:defRPr>
            </a:lvl1pPr>
          </a:lstStyle>
          <a:p>
            <a:pPr indent="0" marL="0">
              <a:buNone/>
            </a:pPr>
            <a:endParaRPr lang="en-US" sz="2800" dirty="0"/>
          </a:p>
        </p:txBody>
      </p:sp>
      <p:sp>
        <p:nvSpPr>
          <p:cNvPr id="3" name="Text 0"/>
          <p:cNvSpPr/>
          <p:nvPr/>
        </p:nvSpPr>
        <p:spPr>
          <a:xfrm>
            <a:off x="457200" y="4800600"/>
            <a:ext cx="4572000" cy="228600"/>
          </a:xfrm>
          <a:prstGeom prst="rect">
            <a:avLst/>
          </a:prstGeom>
          <a:noFill/>
          <a:ln/>
        </p:spPr>
        <p:txBody>
          <a:bodyPr wrap="square" lIns="0" tIns="0" rIns="0" bIns="0" rtlCol="0" anchor="ctr"/>
          <a:lstStyle/>
          <a:p>
            <a:pPr indent="0" marL="0">
              <a:buNone/>
            </a:pPr>
            <a:r>
              <a:rPr lang="en-US" sz="1000" dirty="0">
                <a:solidFill>
                  <a:srgbClr val="5B7083"/>
                </a:solidFill>
                <a:latin typeface="Calibri" pitchFamily="34" charset="0"/>
                <a:ea typeface="Calibri" pitchFamily="34" charset="-122"/>
                <a:cs typeface="Calibri" pitchFamily="34" charset="-120"/>
              </a:rPr>
              <a:t>Semiconductor Track  ·  Week 1</a:t>
            </a:r>
            <a:endParaRPr lang="en-US" sz="10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7083"/>
                </a:solidFill>
                <a:latin typeface="Calibri"/>
                <a:ea typeface="Calibri"/>
                <a:cs typeface="Calibri"/>
              </a:defRPr>
            </a:lvl1pPr>
          </a:lstStyle>
          <a:p>
            <a:pPr algn="r"/>
            <a:fld id="{F7021451-1387-4CA6-816F-3879F97B5CBC}" type="slidenum">
              <a:rPr b="0" lang="en-US"/>
              <a:t>1005</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7083"/>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5.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5.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5.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5.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5.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5.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5.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417320"/>
            <a:ext cx="4937760" cy="1463040"/>
          </a:xfrm>
          <a:prstGeom prst="rect">
            <a:avLst/>
          </a:prstGeom>
          <a:noFill/>
          <a:ln/>
        </p:spPr>
        <p:txBody>
          <a:bodyPr wrap="square" lIns="0" tIns="0" rIns="0" bIns="0" rtlCol="0" anchor="t"/>
          <a:lstStyle/>
          <a:p>
            <a:pPr algn="l" indent="0" marL="0">
              <a:buNone/>
            </a:pPr>
            <a:r>
              <a:rPr lang="en-US" sz="3600" b="1" dirty="0">
                <a:solidFill>
                  <a:srgbClr val="FFFFFF"/>
                </a:solidFill>
                <a:latin typeface="Cambria" pitchFamily="34" charset="0"/>
                <a:ea typeface="Cambria" pitchFamily="34" charset="-122"/>
                <a:cs typeface="Cambria" pitchFamily="34" charset="-120"/>
              </a:rPr>
              <a:t>How computer</a:t>
            </a:r>
            <a:endParaRPr lang="en-US" sz="3600" dirty="0"/>
          </a:p>
          <a:p>
            <a:pPr algn="l" indent="0" marL="0">
              <a:buNone/>
            </a:pPr>
            <a:r>
              <a:rPr lang="en-US" sz="3600" b="1" dirty="0">
                <a:solidFill>
                  <a:srgbClr val="FFFFFF"/>
                </a:solidFill>
                <a:latin typeface="Cambria" pitchFamily="34" charset="0"/>
                <a:ea typeface="Cambria" pitchFamily="34" charset="-122"/>
                <a:cs typeface="Cambria" pitchFamily="34" charset="-120"/>
              </a:rPr>
              <a:t>chips work</a:t>
            </a:r>
            <a:endParaRPr lang="en-US" sz="3600" dirty="0"/>
          </a:p>
        </p:txBody>
      </p:sp>
      <p:sp>
        <p:nvSpPr>
          <p:cNvPr id="3" name="Text 0"/>
          <p:cNvSpPr/>
          <p:nvPr>
            <p:ph idx="101" type="body" hasCustomPrompt="1"/>
          </p:nvPr>
        </p:nvSpPr>
        <p:spPr>
          <a:xfrm>
            <a:off x="548640" y="2971800"/>
            <a:ext cx="4937760" cy="1097280"/>
          </a:xfrm>
          <a:prstGeom prst="rect">
            <a:avLst/>
          </a:prstGeom>
          <a:noFill/>
          <a:ln/>
        </p:spPr>
        <p:txBody>
          <a:bodyPr wrap="square" lIns="0" tIns="0" rIns="0" bIns="0" rtlCol="0" anchor="t"/>
          <a:lstStyle/>
          <a:p>
            <a:pPr algn="l" indent="0" marL="0">
              <a:buNone/>
            </a:pPr>
            <a:r>
              <a:rPr lang="en-US" sz="1600" dirty="0">
                <a:solidFill>
                  <a:srgbClr val="8FB8DE"/>
                </a:solidFill>
                <a:latin typeface="Calibri" pitchFamily="34" charset="0"/>
                <a:ea typeface="Calibri" pitchFamily="34" charset="-122"/>
                <a:cs typeface="Calibri" pitchFamily="34" charset="-120"/>
              </a:rPr>
              <a:t>Week 1  ·  No background needed. What's inside a chip, why “3nm” is just a nickname, and the clever tricks that keep chips getting better</a:t>
            </a:r>
            <a:endParaRPr lang="en-US" sz="1600" dirty="0"/>
          </a:p>
        </p:txBody>
      </p:sp>
      <p:sp>
        <p:nvSpPr>
          <p:cNvPr id="4" name="Shape 2"/>
          <p:cNvSpPr/>
          <p:nvPr/>
        </p:nvSpPr>
        <p:spPr>
          <a:xfrm>
            <a:off x="5486400" y="960120"/>
            <a:ext cx="3200400" cy="3200400"/>
          </a:xfrm>
          <a:prstGeom prst="ellipse">
            <a:avLst/>
          </a:prstGeom>
          <a:solidFill>
            <a:srgbClr val="1A3350"/>
          </a:solidFill>
          <a:ln w="12700">
            <a:solidFill>
              <a:srgbClr val="5B7083"/>
            </a:solidFill>
            <a:prstDash val="solid"/>
          </a:ln>
        </p:spPr>
      </p:sp>
      <p:sp>
        <p:nvSpPr>
          <p:cNvPr id="5" name="Shape 3"/>
          <p:cNvSpPr/>
          <p:nvPr/>
        </p:nvSpPr>
        <p:spPr>
          <a:xfrm>
            <a:off x="5760720" y="2057400"/>
            <a:ext cx="237744" cy="237744"/>
          </a:xfrm>
          <a:prstGeom prst="rect">
            <a:avLst/>
          </a:prstGeom>
          <a:solidFill>
            <a:srgbClr val="5B7083">
              <a:alpha val="65000"/>
            </a:srgbClr>
          </a:solidFill>
          <a:ln w="6350">
            <a:solidFill>
              <a:srgbClr val="0B1F33"/>
            </a:solidFill>
            <a:prstDash val="solid"/>
          </a:ln>
        </p:spPr>
      </p:sp>
      <p:sp>
        <p:nvSpPr>
          <p:cNvPr id="6" name="Shape 4"/>
          <p:cNvSpPr/>
          <p:nvPr/>
        </p:nvSpPr>
        <p:spPr>
          <a:xfrm>
            <a:off x="5760720" y="2331720"/>
            <a:ext cx="237744" cy="237744"/>
          </a:xfrm>
          <a:prstGeom prst="rect">
            <a:avLst/>
          </a:prstGeom>
          <a:solidFill>
            <a:srgbClr val="5B7083">
              <a:alpha val="65000"/>
            </a:srgbClr>
          </a:solidFill>
          <a:ln w="6350">
            <a:solidFill>
              <a:srgbClr val="0B1F33"/>
            </a:solidFill>
            <a:prstDash val="solid"/>
          </a:ln>
        </p:spPr>
      </p:sp>
      <p:sp>
        <p:nvSpPr>
          <p:cNvPr id="7" name="Shape 5"/>
          <p:cNvSpPr/>
          <p:nvPr/>
        </p:nvSpPr>
        <p:spPr>
          <a:xfrm>
            <a:off x="5760720" y="2606040"/>
            <a:ext cx="237744" cy="237744"/>
          </a:xfrm>
          <a:prstGeom prst="rect">
            <a:avLst/>
          </a:prstGeom>
          <a:solidFill>
            <a:srgbClr val="5B7083">
              <a:alpha val="65000"/>
            </a:srgbClr>
          </a:solidFill>
          <a:ln w="6350">
            <a:solidFill>
              <a:srgbClr val="0B1F33"/>
            </a:solidFill>
            <a:prstDash val="solid"/>
          </a:ln>
        </p:spPr>
      </p:sp>
      <p:sp>
        <p:nvSpPr>
          <p:cNvPr id="8" name="Shape 6"/>
          <p:cNvSpPr/>
          <p:nvPr/>
        </p:nvSpPr>
        <p:spPr>
          <a:xfrm>
            <a:off x="5760720" y="2880360"/>
            <a:ext cx="237744" cy="237744"/>
          </a:xfrm>
          <a:prstGeom prst="rect">
            <a:avLst/>
          </a:prstGeom>
          <a:solidFill>
            <a:srgbClr val="5B7083">
              <a:alpha val="65000"/>
            </a:srgbClr>
          </a:solidFill>
          <a:ln w="6350">
            <a:solidFill>
              <a:srgbClr val="0B1F33"/>
            </a:solidFill>
            <a:prstDash val="solid"/>
          </a:ln>
        </p:spPr>
      </p:sp>
      <p:sp>
        <p:nvSpPr>
          <p:cNvPr id="9" name="Shape 7"/>
          <p:cNvSpPr/>
          <p:nvPr/>
        </p:nvSpPr>
        <p:spPr>
          <a:xfrm>
            <a:off x="6035040" y="1508760"/>
            <a:ext cx="237744" cy="237744"/>
          </a:xfrm>
          <a:prstGeom prst="rect">
            <a:avLst/>
          </a:prstGeom>
          <a:solidFill>
            <a:srgbClr val="5B7083">
              <a:alpha val="65000"/>
            </a:srgbClr>
          </a:solidFill>
          <a:ln w="6350">
            <a:solidFill>
              <a:srgbClr val="0B1F33"/>
            </a:solidFill>
            <a:prstDash val="solid"/>
          </a:ln>
        </p:spPr>
      </p:sp>
      <p:sp>
        <p:nvSpPr>
          <p:cNvPr id="10" name="Shape 8"/>
          <p:cNvSpPr/>
          <p:nvPr/>
        </p:nvSpPr>
        <p:spPr>
          <a:xfrm>
            <a:off x="6035040" y="1783080"/>
            <a:ext cx="237744" cy="237744"/>
          </a:xfrm>
          <a:prstGeom prst="rect">
            <a:avLst/>
          </a:prstGeom>
          <a:solidFill>
            <a:srgbClr val="5B7083">
              <a:alpha val="65000"/>
            </a:srgbClr>
          </a:solidFill>
          <a:ln w="6350">
            <a:solidFill>
              <a:srgbClr val="0B1F33"/>
            </a:solidFill>
            <a:prstDash val="solid"/>
          </a:ln>
        </p:spPr>
      </p:sp>
      <p:sp>
        <p:nvSpPr>
          <p:cNvPr id="11" name="Shape 9"/>
          <p:cNvSpPr/>
          <p:nvPr/>
        </p:nvSpPr>
        <p:spPr>
          <a:xfrm>
            <a:off x="6035040" y="2057400"/>
            <a:ext cx="237744" cy="237744"/>
          </a:xfrm>
          <a:prstGeom prst="rect">
            <a:avLst/>
          </a:prstGeom>
          <a:solidFill>
            <a:srgbClr val="5B7083">
              <a:alpha val="65000"/>
            </a:srgbClr>
          </a:solidFill>
          <a:ln w="6350">
            <a:solidFill>
              <a:srgbClr val="0B1F33"/>
            </a:solidFill>
            <a:prstDash val="solid"/>
          </a:ln>
        </p:spPr>
      </p:sp>
      <p:sp>
        <p:nvSpPr>
          <p:cNvPr id="12" name="Shape 10"/>
          <p:cNvSpPr/>
          <p:nvPr/>
        </p:nvSpPr>
        <p:spPr>
          <a:xfrm>
            <a:off x="6035040" y="2331720"/>
            <a:ext cx="237744" cy="237744"/>
          </a:xfrm>
          <a:prstGeom prst="rect">
            <a:avLst/>
          </a:prstGeom>
          <a:solidFill>
            <a:srgbClr val="5B7083">
              <a:alpha val="65000"/>
            </a:srgbClr>
          </a:solidFill>
          <a:ln w="6350">
            <a:solidFill>
              <a:srgbClr val="0B1F33"/>
            </a:solidFill>
            <a:prstDash val="solid"/>
          </a:ln>
        </p:spPr>
      </p:sp>
      <p:sp>
        <p:nvSpPr>
          <p:cNvPr id="13" name="Shape 11"/>
          <p:cNvSpPr/>
          <p:nvPr/>
        </p:nvSpPr>
        <p:spPr>
          <a:xfrm>
            <a:off x="6035040" y="2606040"/>
            <a:ext cx="237744" cy="237744"/>
          </a:xfrm>
          <a:prstGeom prst="rect">
            <a:avLst/>
          </a:prstGeom>
          <a:solidFill>
            <a:srgbClr val="5B7083">
              <a:alpha val="65000"/>
            </a:srgbClr>
          </a:solidFill>
          <a:ln w="6350">
            <a:solidFill>
              <a:srgbClr val="0B1F33"/>
            </a:solidFill>
            <a:prstDash val="solid"/>
          </a:ln>
        </p:spPr>
      </p:sp>
      <p:sp>
        <p:nvSpPr>
          <p:cNvPr id="14" name="Shape 12"/>
          <p:cNvSpPr/>
          <p:nvPr/>
        </p:nvSpPr>
        <p:spPr>
          <a:xfrm>
            <a:off x="6035040" y="2880360"/>
            <a:ext cx="237744" cy="237744"/>
          </a:xfrm>
          <a:prstGeom prst="rect">
            <a:avLst/>
          </a:prstGeom>
          <a:solidFill>
            <a:srgbClr val="5B7083">
              <a:alpha val="65000"/>
            </a:srgbClr>
          </a:solidFill>
          <a:ln w="6350">
            <a:solidFill>
              <a:srgbClr val="0B1F33"/>
            </a:solidFill>
            <a:prstDash val="solid"/>
          </a:ln>
        </p:spPr>
      </p:sp>
      <p:sp>
        <p:nvSpPr>
          <p:cNvPr id="15" name="Shape 13"/>
          <p:cNvSpPr/>
          <p:nvPr/>
        </p:nvSpPr>
        <p:spPr>
          <a:xfrm>
            <a:off x="6035040" y="3154680"/>
            <a:ext cx="237744" cy="237744"/>
          </a:xfrm>
          <a:prstGeom prst="rect">
            <a:avLst/>
          </a:prstGeom>
          <a:solidFill>
            <a:srgbClr val="5B7083">
              <a:alpha val="65000"/>
            </a:srgbClr>
          </a:solidFill>
          <a:ln w="6350">
            <a:solidFill>
              <a:srgbClr val="0B1F33"/>
            </a:solidFill>
            <a:prstDash val="solid"/>
          </a:ln>
        </p:spPr>
      </p:sp>
      <p:sp>
        <p:nvSpPr>
          <p:cNvPr id="16" name="Shape 14"/>
          <p:cNvSpPr/>
          <p:nvPr/>
        </p:nvSpPr>
        <p:spPr>
          <a:xfrm>
            <a:off x="6035040" y="3429000"/>
            <a:ext cx="237744" cy="237744"/>
          </a:xfrm>
          <a:prstGeom prst="rect">
            <a:avLst/>
          </a:prstGeom>
          <a:solidFill>
            <a:srgbClr val="5B7083">
              <a:alpha val="65000"/>
            </a:srgbClr>
          </a:solidFill>
          <a:ln w="6350">
            <a:solidFill>
              <a:srgbClr val="0B1F33"/>
            </a:solidFill>
            <a:prstDash val="solid"/>
          </a:ln>
        </p:spPr>
      </p:sp>
      <p:sp>
        <p:nvSpPr>
          <p:cNvPr id="17" name="Shape 15"/>
          <p:cNvSpPr/>
          <p:nvPr/>
        </p:nvSpPr>
        <p:spPr>
          <a:xfrm>
            <a:off x="6309360" y="1508760"/>
            <a:ext cx="237744" cy="237744"/>
          </a:xfrm>
          <a:prstGeom prst="rect">
            <a:avLst/>
          </a:prstGeom>
          <a:solidFill>
            <a:srgbClr val="5B7083">
              <a:alpha val="65000"/>
            </a:srgbClr>
          </a:solidFill>
          <a:ln w="6350">
            <a:solidFill>
              <a:srgbClr val="0B1F33"/>
            </a:solidFill>
            <a:prstDash val="solid"/>
          </a:ln>
        </p:spPr>
      </p:sp>
      <p:sp>
        <p:nvSpPr>
          <p:cNvPr id="18" name="Shape 16"/>
          <p:cNvSpPr/>
          <p:nvPr/>
        </p:nvSpPr>
        <p:spPr>
          <a:xfrm>
            <a:off x="6309360" y="1783080"/>
            <a:ext cx="237744" cy="237744"/>
          </a:xfrm>
          <a:prstGeom prst="rect">
            <a:avLst/>
          </a:prstGeom>
          <a:solidFill>
            <a:srgbClr val="5B7083">
              <a:alpha val="65000"/>
            </a:srgbClr>
          </a:solidFill>
          <a:ln w="6350">
            <a:solidFill>
              <a:srgbClr val="0B1F33"/>
            </a:solidFill>
            <a:prstDash val="solid"/>
          </a:ln>
        </p:spPr>
      </p:sp>
      <p:sp>
        <p:nvSpPr>
          <p:cNvPr id="19" name="Shape 17"/>
          <p:cNvSpPr/>
          <p:nvPr/>
        </p:nvSpPr>
        <p:spPr>
          <a:xfrm>
            <a:off x="6309360" y="2057400"/>
            <a:ext cx="237744" cy="237744"/>
          </a:xfrm>
          <a:prstGeom prst="rect">
            <a:avLst/>
          </a:prstGeom>
          <a:solidFill>
            <a:srgbClr val="5B7083">
              <a:alpha val="65000"/>
            </a:srgbClr>
          </a:solidFill>
          <a:ln w="6350">
            <a:solidFill>
              <a:srgbClr val="0B1F33"/>
            </a:solidFill>
            <a:prstDash val="solid"/>
          </a:ln>
        </p:spPr>
      </p:sp>
      <p:sp>
        <p:nvSpPr>
          <p:cNvPr id="20" name="Shape 18"/>
          <p:cNvSpPr/>
          <p:nvPr/>
        </p:nvSpPr>
        <p:spPr>
          <a:xfrm>
            <a:off x="6309360" y="2331720"/>
            <a:ext cx="237744" cy="237744"/>
          </a:xfrm>
          <a:prstGeom prst="rect">
            <a:avLst/>
          </a:prstGeom>
          <a:solidFill>
            <a:srgbClr val="5B7083">
              <a:alpha val="65000"/>
            </a:srgbClr>
          </a:solidFill>
          <a:ln w="6350">
            <a:solidFill>
              <a:srgbClr val="0B1F33"/>
            </a:solidFill>
            <a:prstDash val="solid"/>
          </a:ln>
        </p:spPr>
      </p:sp>
      <p:sp>
        <p:nvSpPr>
          <p:cNvPr id="21" name="Shape 19"/>
          <p:cNvSpPr/>
          <p:nvPr/>
        </p:nvSpPr>
        <p:spPr>
          <a:xfrm>
            <a:off x="6309360" y="2606040"/>
            <a:ext cx="237744" cy="237744"/>
          </a:xfrm>
          <a:prstGeom prst="rect">
            <a:avLst/>
          </a:prstGeom>
          <a:solidFill>
            <a:srgbClr val="5B7083">
              <a:alpha val="65000"/>
            </a:srgbClr>
          </a:solidFill>
          <a:ln w="6350">
            <a:solidFill>
              <a:srgbClr val="0B1F33"/>
            </a:solidFill>
            <a:prstDash val="solid"/>
          </a:ln>
        </p:spPr>
      </p:sp>
      <p:sp>
        <p:nvSpPr>
          <p:cNvPr id="22" name="Shape 20"/>
          <p:cNvSpPr/>
          <p:nvPr/>
        </p:nvSpPr>
        <p:spPr>
          <a:xfrm>
            <a:off x="6309360" y="2880360"/>
            <a:ext cx="237744" cy="237744"/>
          </a:xfrm>
          <a:prstGeom prst="rect">
            <a:avLst/>
          </a:prstGeom>
          <a:solidFill>
            <a:srgbClr val="5B7083">
              <a:alpha val="65000"/>
            </a:srgbClr>
          </a:solidFill>
          <a:ln w="6350">
            <a:solidFill>
              <a:srgbClr val="0B1F33"/>
            </a:solidFill>
            <a:prstDash val="solid"/>
          </a:ln>
        </p:spPr>
      </p:sp>
      <p:sp>
        <p:nvSpPr>
          <p:cNvPr id="23" name="Shape 21"/>
          <p:cNvSpPr/>
          <p:nvPr/>
        </p:nvSpPr>
        <p:spPr>
          <a:xfrm>
            <a:off x="6309360" y="3154680"/>
            <a:ext cx="237744" cy="237744"/>
          </a:xfrm>
          <a:prstGeom prst="rect">
            <a:avLst/>
          </a:prstGeom>
          <a:solidFill>
            <a:srgbClr val="5B7083">
              <a:alpha val="65000"/>
            </a:srgbClr>
          </a:solidFill>
          <a:ln w="6350">
            <a:solidFill>
              <a:srgbClr val="0B1F33"/>
            </a:solidFill>
            <a:prstDash val="solid"/>
          </a:ln>
        </p:spPr>
      </p:sp>
      <p:sp>
        <p:nvSpPr>
          <p:cNvPr id="24" name="Shape 22"/>
          <p:cNvSpPr/>
          <p:nvPr/>
        </p:nvSpPr>
        <p:spPr>
          <a:xfrm>
            <a:off x="6309360" y="3429000"/>
            <a:ext cx="237744" cy="237744"/>
          </a:xfrm>
          <a:prstGeom prst="rect">
            <a:avLst/>
          </a:prstGeom>
          <a:solidFill>
            <a:srgbClr val="5B7083">
              <a:alpha val="65000"/>
            </a:srgbClr>
          </a:solidFill>
          <a:ln w="6350">
            <a:solidFill>
              <a:srgbClr val="0B1F33"/>
            </a:solidFill>
            <a:prstDash val="solid"/>
          </a:ln>
        </p:spPr>
      </p:sp>
      <p:sp>
        <p:nvSpPr>
          <p:cNvPr id="25" name="Shape 23"/>
          <p:cNvSpPr/>
          <p:nvPr/>
        </p:nvSpPr>
        <p:spPr>
          <a:xfrm>
            <a:off x="6583680" y="1234440"/>
            <a:ext cx="237744" cy="237744"/>
          </a:xfrm>
          <a:prstGeom prst="rect">
            <a:avLst/>
          </a:prstGeom>
          <a:solidFill>
            <a:srgbClr val="5B7083">
              <a:alpha val="65000"/>
            </a:srgbClr>
          </a:solidFill>
          <a:ln w="6350">
            <a:solidFill>
              <a:srgbClr val="0B1F33"/>
            </a:solidFill>
            <a:prstDash val="solid"/>
          </a:ln>
        </p:spPr>
      </p:sp>
      <p:sp>
        <p:nvSpPr>
          <p:cNvPr id="26" name="Shape 24"/>
          <p:cNvSpPr/>
          <p:nvPr/>
        </p:nvSpPr>
        <p:spPr>
          <a:xfrm>
            <a:off x="6583680" y="1508760"/>
            <a:ext cx="237744" cy="237744"/>
          </a:xfrm>
          <a:prstGeom prst="rect">
            <a:avLst/>
          </a:prstGeom>
          <a:solidFill>
            <a:srgbClr val="5B7083">
              <a:alpha val="65000"/>
            </a:srgbClr>
          </a:solidFill>
          <a:ln w="6350">
            <a:solidFill>
              <a:srgbClr val="0B1F33"/>
            </a:solidFill>
            <a:prstDash val="solid"/>
          </a:ln>
        </p:spPr>
      </p:sp>
      <p:sp>
        <p:nvSpPr>
          <p:cNvPr id="27" name="Shape 25"/>
          <p:cNvSpPr/>
          <p:nvPr/>
        </p:nvSpPr>
        <p:spPr>
          <a:xfrm>
            <a:off x="6583680" y="1783080"/>
            <a:ext cx="237744" cy="237744"/>
          </a:xfrm>
          <a:prstGeom prst="rect">
            <a:avLst/>
          </a:prstGeom>
          <a:solidFill>
            <a:srgbClr val="5B7083">
              <a:alpha val="65000"/>
            </a:srgbClr>
          </a:solidFill>
          <a:ln w="6350">
            <a:solidFill>
              <a:srgbClr val="0B1F33"/>
            </a:solidFill>
            <a:prstDash val="solid"/>
          </a:ln>
        </p:spPr>
      </p:sp>
      <p:sp>
        <p:nvSpPr>
          <p:cNvPr id="28" name="Shape 26"/>
          <p:cNvSpPr/>
          <p:nvPr/>
        </p:nvSpPr>
        <p:spPr>
          <a:xfrm>
            <a:off x="6583680" y="2057400"/>
            <a:ext cx="237744" cy="237744"/>
          </a:xfrm>
          <a:prstGeom prst="rect">
            <a:avLst/>
          </a:prstGeom>
          <a:solidFill>
            <a:srgbClr val="5B7083">
              <a:alpha val="65000"/>
            </a:srgbClr>
          </a:solidFill>
          <a:ln w="6350">
            <a:solidFill>
              <a:srgbClr val="0B1F33"/>
            </a:solidFill>
            <a:prstDash val="solid"/>
          </a:ln>
        </p:spPr>
      </p:sp>
      <p:sp>
        <p:nvSpPr>
          <p:cNvPr id="29" name="Shape 27"/>
          <p:cNvSpPr/>
          <p:nvPr/>
        </p:nvSpPr>
        <p:spPr>
          <a:xfrm>
            <a:off x="6583680" y="2331720"/>
            <a:ext cx="237744" cy="237744"/>
          </a:xfrm>
          <a:prstGeom prst="rect">
            <a:avLst/>
          </a:prstGeom>
          <a:solidFill>
            <a:srgbClr val="5B7083">
              <a:alpha val="65000"/>
            </a:srgbClr>
          </a:solidFill>
          <a:ln w="6350">
            <a:solidFill>
              <a:srgbClr val="0B1F33"/>
            </a:solidFill>
            <a:prstDash val="solid"/>
          </a:ln>
        </p:spPr>
      </p:sp>
      <p:sp>
        <p:nvSpPr>
          <p:cNvPr id="30" name="Shape 28"/>
          <p:cNvSpPr/>
          <p:nvPr/>
        </p:nvSpPr>
        <p:spPr>
          <a:xfrm>
            <a:off x="6583680" y="2606040"/>
            <a:ext cx="237744" cy="237744"/>
          </a:xfrm>
          <a:prstGeom prst="rect">
            <a:avLst/>
          </a:prstGeom>
          <a:solidFill>
            <a:srgbClr val="5B7083">
              <a:alpha val="65000"/>
            </a:srgbClr>
          </a:solidFill>
          <a:ln w="6350">
            <a:solidFill>
              <a:srgbClr val="0B1F33"/>
            </a:solidFill>
            <a:prstDash val="solid"/>
          </a:ln>
        </p:spPr>
      </p:sp>
      <p:sp>
        <p:nvSpPr>
          <p:cNvPr id="31" name="Shape 29"/>
          <p:cNvSpPr/>
          <p:nvPr/>
        </p:nvSpPr>
        <p:spPr>
          <a:xfrm>
            <a:off x="6583680" y="2880360"/>
            <a:ext cx="237744" cy="237744"/>
          </a:xfrm>
          <a:prstGeom prst="rect">
            <a:avLst/>
          </a:prstGeom>
          <a:solidFill>
            <a:srgbClr val="5B7083">
              <a:alpha val="65000"/>
            </a:srgbClr>
          </a:solidFill>
          <a:ln w="6350">
            <a:solidFill>
              <a:srgbClr val="0B1F33"/>
            </a:solidFill>
            <a:prstDash val="solid"/>
          </a:ln>
        </p:spPr>
      </p:sp>
      <p:sp>
        <p:nvSpPr>
          <p:cNvPr id="32" name="Shape 30"/>
          <p:cNvSpPr/>
          <p:nvPr/>
        </p:nvSpPr>
        <p:spPr>
          <a:xfrm>
            <a:off x="6583680" y="3154680"/>
            <a:ext cx="237744" cy="237744"/>
          </a:xfrm>
          <a:prstGeom prst="rect">
            <a:avLst/>
          </a:prstGeom>
          <a:solidFill>
            <a:srgbClr val="5B7083">
              <a:alpha val="65000"/>
            </a:srgbClr>
          </a:solidFill>
          <a:ln w="6350">
            <a:solidFill>
              <a:srgbClr val="0B1F33"/>
            </a:solidFill>
            <a:prstDash val="solid"/>
          </a:ln>
        </p:spPr>
      </p:sp>
      <p:sp>
        <p:nvSpPr>
          <p:cNvPr id="33" name="Shape 31"/>
          <p:cNvSpPr/>
          <p:nvPr/>
        </p:nvSpPr>
        <p:spPr>
          <a:xfrm>
            <a:off x="6583680" y="3429000"/>
            <a:ext cx="237744" cy="237744"/>
          </a:xfrm>
          <a:prstGeom prst="rect">
            <a:avLst/>
          </a:prstGeom>
          <a:solidFill>
            <a:srgbClr val="5B7083">
              <a:alpha val="65000"/>
            </a:srgbClr>
          </a:solidFill>
          <a:ln w="6350">
            <a:solidFill>
              <a:srgbClr val="0B1F33"/>
            </a:solidFill>
            <a:prstDash val="solid"/>
          </a:ln>
        </p:spPr>
      </p:sp>
      <p:sp>
        <p:nvSpPr>
          <p:cNvPr id="34" name="Shape 32"/>
          <p:cNvSpPr/>
          <p:nvPr/>
        </p:nvSpPr>
        <p:spPr>
          <a:xfrm>
            <a:off x="6583680" y="3703320"/>
            <a:ext cx="237744" cy="237744"/>
          </a:xfrm>
          <a:prstGeom prst="rect">
            <a:avLst/>
          </a:prstGeom>
          <a:solidFill>
            <a:srgbClr val="5B7083">
              <a:alpha val="65000"/>
            </a:srgbClr>
          </a:solidFill>
          <a:ln w="6350">
            <a:solidFill>
              <a:srgbClr val="0B1F33"/>
            </a:solidFill>
            <a:prstDash val="solid"/>
          </a:ln>
        </p:spPr>
      </p:sp>
      <p:sp>
        <p:nvSpPr>
          <p:cNvPr id="35" name="Shape 33"/>
          <p:cNvSpPr/>
          <p:nvPr/>
        </p:nvSpPr>
        <p:spPr>
          <a:xfrm>
            <a:off x="6858000" y="1234440"/>
            <a:ext cx="237744" cy="237744"/>
          </a:xfrm>
          <a:prstGeom prst="rect">
            <a:avLst/>
          </a:prstGeom>
          <a:solidFill>
            <a:srgbClr val="5B7083">
              <a:alpha val="65000"/>
            </a:srgbClr>
          </a:solidFill>
          <a:ln w="6350">
            <a:solidFill>
              <a:srgbClr val="0B1F33"/>
            </a:solidFill>
            <a:prstDash val="solid"/>
          </a:ln>
        </p:spPr>
      </p:sp>
      <p:sp>
        <p:nvSpPr>
          <p:cNvPr id="36" name="Shape 34"/>
          <p:cNvSpPr/>
          <p:nvPr/>
        </p:nvSpPr>
        <p:spPr>
          <a:xfrm>
            <a:off x="6858000" y="1508760"/>
            <a:ext cx="237744" cy="237744"/>
          </a:xfrm>
          <a:prstGeom prst="rect">
            <a:avLst/>
          </a:prstGeom>
          <a:solidFill>
            <a:srgbClr val="5B7083">
              <a:alpha val="65000"/>
            </a:srgbClr>
          </a:solidFill>
          <a:ln w="6350">
            <a:solidFill>
              <a:srgbClr val="0B1F33"/>
            </a:solidFill>
            <a:prstDash val="solid"/>
          </a:ln>
        </p:spPr>
      </p:sp>
      <p:sp>
        <p:nvSpPr>
          <p:cNvPr id="37" name="Shape 35"/>
          <p:cNvSpPr/>
          <p:nvPr/>
        </p:nvSpPr>
        <p:spPr>
          <a:xfrm>
            <a:off x="6858000" y="1783080"/>
            <a:ext cx="237744" cy="237744"/>
          </a:xfrm>
          <a:prstGeom prst="rect">
            <a:avLst/>
          </a:prstGeom>
          <a:solidFill>
            <a:srgbClr val="5B7083">
              <a:alpha val="65000"/>
            </a:srgbClr>
          </a:solidFill>
          <a:ln w="6350">
            <a:solidFill>
              <a:srgbClr val="0B1F33"/>
            </a:solidFill>
            <a:prstDash val="solid"/>
          </a:ln>
        </p:spPr>
      </p:sp>
      <p:sp>
        <p:nvSpPr>
          <p:cNvPr id="38" name="Shape 36"/>
          <p:cNvSpPr/>
          <p:nvPr/>
        </p:nvSpPr>
        <p:spPr>
          <a:xfrm>
            <a:off x="6858000" y="2057400"/>
            <a:ext cx="237744" cy="237744"/>
          </a:xfrm>
          <a:prstGeom prst="rect">
            <a:avLst/>
          </a:prstGeom>
          <a:solidFill>
            <a:srgbClr val="5B7083">
              <a:alpha val="65000"/>
            </a:srgbClr>
          </a:solidFill>
          <a:ln w="6350">
            <a:solidFill>
              <a:srgbClr val="0B1F33"/>
            </a:solidFill>
            <a:prstDash val="solid"/>
          </a:ln>
        </p:spPr>
      </p:sp>
      <p:sp>
        <p:nvSpPr>
          <p:cNvPr id="39" name="Shape 37"/>
          <p:cNvSpPr/>
          <p:nvPr/>
        </p:nvSpPr>
        <p:spPr>
          <a:xfrm>
            <a:off x="6858000" y="2331720"/>
            <a:ext cx="237744" cy="237744"/>
          </a:xfrm>
          <a:prstGeom prst="rect">
            <a:avLst/>
          </a:prstGeom>
          <a:solidFill>
            <a:srgbClr val="C8763A"/>
          </a:solidFill>
          <a:ln w="6350">
            <a:solidFill>
              <a:srgbClr val="0B1F33"/>
            </a:solidFill>
            <a:prstDash val="solid"/>
          </a:ln>
        </p:spPr>
      </p:sp>
      <p:sp>
        <p:nvSpPr>
          <p:cNvPr id="40" name="Shape 38"/>
          <p:cNvSpPr/>
          <p:nvPr/>
        </p:nvSpPr>
        <p:spPr>
          <a:xfrm>
            <a:off x="6858000" y="2606040"/>
            <a:ext cx="237744" cy="237744"/>
          </a:xfrm>
          <a:prstGeom prst="rect">
            <a:avLst/>
          </a:prstGeom>
          <a:solidFill>
            <a:srgbClr val="C8763A"/>
          </a:solidFill>
          <a:ln w="6350">
            <a:solidFill>
              <a:srgbClr val="0B1F33"/>
            </a:solidFill>
            <a:prstDash val="solid"/>
          </a:ln>
        </p:spPr>
      </p:sp>
      <p:sp>
        <p:nvSpPr>
          <p:cNvPr id="41" name="Shape 39"/>
          <p:cNvSpPr/>
          <p:nvPr/>
        </p:nvSpPr>
        <p:spPr>
          <a:xfrm>
            <a:off x="6858000" y="2880360"/>
            <a:ext cx="237744" cy="237744"/>
          </a:xfrm>
          <a:prstGeom prst="rect">
            <a:avLst/>
          </a:prstGeom>
          <a:solidFill>
            <a:srgbClr val="C8763A"/>
          </a:solidFill>
          <a:ln w="6350">
            <a:solidFill>
              <a:srgbClr val="0B1F33"/>
            </a:solidFill>
            <a:prstDash val="solid"/>
          </a:ln>
        </p:spPr>
      </p:sp>
      <p:sp>
        <p:nvSpPr>
          <p:cNvPr id="42" name="Shape 40"/>
          <p:cNvSpPr/>
          <p:nvPr/>
        </p:nvSpPr>
        <p:spPr>
          <a:xfrm>
            <a:off x="6858000" y="3154680"/>
            <a:ext cx="237744" cy="237744"/>
          </a:xfrm>
          <a:prstGeom prst="rect">
            <a:avLst/>
          </a:prstGeom>
          <a:solidFill>
            <a:srgbClr val="5B7083">
              <a:alpha val="65000"/>
            </a:srgbClr>
          </a:solidFill>
          <a:ln w="6350">
            <a:solidFill>
              <a:srgbClr val="0B1F33"/>
            </a:solidFill>
            <a:prstDash val="solid"/>
          </a:ln>
        </p:spPr>
      </p:sp>
      <p:sp>
        <p:nvSpPr>
          <p:cNvPr id="43" name="Shape 41"/>
          <p:cNvSpPr/>
          <p:nvPr/>
        </p:nvSpPr>
        <p:spPr>
          <a:xfrm>
            <a:off x="6858000" y="3429000"/>
            <a:ext cx="237744" cy="237744"/>
          </a:xfrm>
          <a:prstGeom prst="rect">
            <a:avLst/>
          </a:prstGeom>
          <a:solidFill>
            <a:srgbClr val="5B7083">
              <a:alpha val="65000"/>
            </a:srgbClr>
          </a:solidFill>
          <a:ln w="6350">
            <a:solidFill>
              <a:srgbClr val="0B1F33"/>
            </a:solidFill>
            <a:prstDash val="solid"/>
          </a:ln>
        </p:spPr>
      </p:sp>
      <p:sp>
        <p:nvSpPr>
          <p:cNvPr id="44" name="Shape 42"/>
          <p:cNvSpPr/>
          <p:nvPr/>
        </p:nvSpPr>
        <p:spPr>
          <a:xfrm>
            <a:off x="6858000" y="3703320"/>
            <a:ext cx="237744" cy="237744"/>
          </a:xfrm>
          <a:prstGeom prst="rect">
            <a:avLst/>
          </a:prstGeom>
          <a:solidFill>
            <a:srgbClr val="5B7083">
              <a:alpha val="65000"/>
            </a:srgbClr>
          </a:solidFill>
          <a:ln w="6350">
            <a:solidFill>
              <a:srgbClr val="0B1F33"/>
            </a:solidFill>
            <a:prstDash val="solid"/>
          </a:ln>
        </p:spPr>
      </p:sp>
      <p:sp>
        <p:nvSpPr>
          <p:cNvPr id="45" name="Shape 43"/>
          <p:cNvSpPr/>
          <p:nvPr/>
        </p:nvSpPr>
        <p:spPr>
          <a:xfrm>
            <a:off x="7132320" y="1234440"/>
            <a:ext cx="237744" cy="237744"/>
          </a:xfrm>
          <a:prstGeom prst="rect">
            <a:avLst/>
          </a:prstGeom>
          <a:solidFill>
            <a:srgbClr val="5B7083">
              <a:alpha val="65000"/>
            </a:srgbClr>
          </a:solidFill>
          <a:ln w="6350">
            <a:solidFill>
              <a:srgbClr val="0B1F33"/>
            </a:solidFill>
            <a:prstDash val="solid"/>
          </a:ln>
        </p:spPr>
      </p:sp>
      <p:sp>
        <p:nvSpPr>
          <p:cNvPr id="46" name="Shape 44"/>
          <p:cNvSpPr/>
          <p:nvPr/>
        </p:nvSpPr>
        <p:spPr>
          <a:xfrm>
            <a:off x="7132320" y="1508760"/>
            <a:ext cx="237744" cy="237744"/>
          </a:xfrm>
          <a:prstGeom prst="rect">
            <a:avLst/>
          </a:prstGeom>
          <a:solidFill>
            <a:srgbClr val="5B7083">
              <a:alpha val="65000"/>
            </a:srgbClr>
          </a:solidFill>
          <a:ln w="6350">
            <a:solidFill>
              <a:srgbClr val="0B1F33"/>
            </a:solidFill>
            <a:prstDash val="solid"/>
          </a:ln>
        </p:spPr>
      </p:sp>
      <p:sp>
        <p:nvSpPr>
          <p:cNvPr id="47" name="Shape 45"/>
          <p:cNvSpPr/>
          <p:nvPr/>
        </p:nvSpPr>
        <p:spPr>
          <a:xfrm>
            <a:off x="7132320" y="1783080"/>
            <a:ext cx="237744" cy="237744"/>
          </a:xfrm>
          <a:prstGeom prst="rect">
            <a:avLst/>
          </a:prstGeom>
          <a:solidFill>
            <a:srgbClr val="5B7083">
              <a:alpha val="65000"/>
            </a:srgbClr>
          </a:solidFill>
          <a:ln w="6350">
            <a:solidFill>
              <a:srgbClr val="0B1F33"/>
            </a:solidFill>
            <a:prstDash val="solid"/>
          </a:ln>
        </p:spPr>
      </p:sp>
      <p:sp>
        <p:nvSpPr>
          <p:cNvPr id="48" name="Shape 46"/>
          <p:cNvSpPr/>
          <p:nvPr/>
        </p:nvSpPr>
        <p:spPr>
          <a:xfrm>
            <a:off x="7132320" y="2057400"/>
            <a:ext cx="237744" cy="237744"/>
          </a:xfrm>
          <a:prstGeom prst="rect">
            <a:avLst/>
          </a:prstGeom>
          <a:solidFill>
            <a:srgbClr val="5B7083">
              <a:alpha val="65000"/>
            </a:srgbClr>
          </a:solidFill>
          <a:ln w="6350">
            <a:solidFill>
              <a:srgbClr val="0B1F33"/>
            </a:solidFill>
            <a:prstDash val="solid"/>
          </a:ln>
        </p:spPr>
      </p:sp>
      <p:sp>
        <p:nvSpPr>
          <p:cNvPr id="49" name="Shape 47"/>
          <p:cNvSpPr/>
          <p:nvPr/>
        </p:nvSpPr>
        <p:spPr>
          <a:xfrm>
            <a:off x="7132320" y="2331720"/>
            <a:ext cx="237744" cy="237744"/>
          </a:xfrm>
          <a:prstGeom prst="rect">
            <a:avLst/>
          </a:prstGeom>
          <a:solidFill>
            <a:srgbClr val="C8763A"/>
          </a:solidFill>
          <a:ln w="6350">
            <a:solidFill>
              <a:srgbClr val="0B1F33"/>
            </a:solidFill>
            <a:prstDash val="solid"/>
          </a:ln>
        </p:spPr>
      </p:sp>
      <p:sp>
        <p:nvSpPr>
          <p:cNvPr id="50" name="Shape 48"/>
          <p:cNvSpPr/>
          <p:nvPr/>
        </p:nvSpPr>
        <p:spPr>
          <a:xfrm>
            <a:off x="7132320" y="2606040"/>
            <a:ext cx="237744" cy="237744"/>
          </a:xfrm>
          <a:prstGeom prst="rect">
            <a:avLst/>
          </a:prstGeom>
          <a:solidFill>
            <a:srgbClr val="C8763A"/>
          </a:solidFill>
          <a:ln w="6350">
            <a:solidFill>
              <a:srgbClr val="0B1F33"/>
            </a:solidFill>
            <a:prstDash val="solid"/>
          </a:ln>
        </p:spPr>
      </p:sp>
      <p:sp>
        <p:nvSpPr>
          <p:cNvPr id="51" name="Shape 49"/>
          <p:cNvSpPr/>
          <p:nvPr/>
        </p:nvSpPr>
        <p:spPr>
          <a:xfrm>
            <a:off x="7132320" y="2880360"/>
            <a:ext cx="237744" cy="237744"/>
          </a:xfrm>
          <a:prstGeom prst="rect">
            <a:avLst/>
          </a:prstGeom>
          <a:solidFill>
            <a:srgbClr val="C8763A"/>
          </a:solidFill>
          <a:ln w="6350">
            <a:solidFill>
              <a:srgbClr val="0B1F33"/>
            </a:solidFill>
            <a:prstDash val="solid"/>
          </a:ln>
        </p:spPr>
      </p:sp>
      <p:sp>
        <p:nvSpPr>
          <p:cNvPr id="52" name="Shape 50"/>
          <p:cNvSpPr/>
          <p:nvPr/>
        </p:nvSpPr>
        <p:spPr>
          <a:xfrm>
            <a:off x="7132320" y="3154680"/>
            <a:ext cx="237744" cy="237744"/>
          </a:xfrm>
          <a:prstGeom prst="rect">
            <a:avLst/>
          </a:prstGeom>
          <a:solidFill>
            <a:srgbClr val="5B7083">
              <a:alpha val="65000"/>
            </a:srgbClr>
          </a:solidFill>
          <a:ln w="6350">
            <a:solidFill>
              <a:srgbClr val="0B1F33"/>
            </a:solidFill>
            <a:prstDash val="solid"/>
          </a:ln>
        </p:spPr>
      </p:sp>
      <p:sp>
        <p:nvSpPr>
          <p:cNvPr id="53" name="Shape 51"/>
          <p:cNvSpPr/>
          <p:nvPr/>
        </p:nvSpPr>
        <p:spPr>
          <a:xfrm>
            <a:off x="7132320" y="3429000"/>
            <a:ext cx="237744" cy="237744"/>
          </a:xfrm>
          <a:prstGeom prst="rect">
            <a:avLst/>
          </a:prstGeom>
          <a:solidFill>
            <a:srgbClr val="5B7083">
              <a:alpha val="65000"/>
            </a:srgbClr>
          </a:solidFill>
          <a:ln w="6350">
            <a:solidFill>
              <a:srgbClr val="0B1F33"/>
            </a:solidFill>
            <a:prstDash val="solid"/>
          </a:ln>
        </p:spPr>
      </p:sp>
      <p:sp>
        <p:nvSpPr>
          <p:cNvPr id="54" name="Shape 52"/>
          <p:cNvSpPr/>
          <p:nvPr/>
        </p:nvSpPr>
        <p:spPr>
          <a:xfrm>
            <a:off x="7132320" y="3703320"/>
            <a:ext cx="237744" cy="237744"/>
          </a:xfrm>
          <a:prstGeom prst="rect">
            <a:avLst/>
          </a:prstGeom>
          <a:solidFill>
            <a:srgbClr val="5B7083">
              <a:alpha val="65000"/>
            </a:srgbClr>
          </a:solidFill>
          <a:ln w="6350">
            <a:solidFill>
              <a:srgbClr val="0B1F33"/>
            </a:solidFill>
            <a:prstDash val="solid"/>
          </a:ln>
        </p:spPr>
      </p:sp>
      <p:sp>
        <p:nvSpPr>
          <p:cNvPr id="55" name="Shape 53"/>
          <p:cNvSpPr/>
          <p:nvPr/>
        </p:nvSpPr>
        <p:spPr>
          <a:xfrm>
            <a:off x="7406640" y="1234440"/>
            <a:ext cx="237744" cy="237744"/>
          </a:xfrm>
          <a:prstGeom prst="rect">
            <a:avLst/>
          </a:prstGeom>
          <a:solidFill>
            <a:srgbClr val="5B7083">
              <a:alpha val="65000"/>
            </a:srgbClr>
          </a:solidFill>
          <a:ln w="6350">
            <a:solidFill>
              <a:srgbClr val="0B1F33"/>
            </a:solidFill>
            <a:prstDash val="solid"/>
          </a:ln>
        </p:spPr>
      </p:sp>
      <p:sp>
        <p:nvSpPr>
          <p:cNvPr id="56" name="Shape 54"/>
          <p:cNvSpPr/>
          <p:nvPr/>
        </p:nvSpPr>
        <p:spPr>
          <a:xfrm>
            <a:off x="7406640" y="1508760"/>
            <a:ext cx="237744" cy="237744"/>
          </a:xfrm>
          <a:prstGeom prst="rect">
            <a:avLst/>
          </a:prstGeom>
          <a:solidFill>
            <a:srgbClr val="5B7083">
              <a:alpha val="65000"/>
            </a:srgbClr>
          </a:solidFill>
          <a:ln w="6350">
            <a:solidFill>
              <a:srgbClr val="0B1F33"/>
            </a:solidFill>
            <a:prstDash val="solid"/>
          </a:ln>
        </p:spPr>
      </p:sp>
      <p:sp>
        <p:nvSpPr>
          <p:cNvPr id="57" name="Shape 55"/>
          <p:cNvSpPr/>
          <p:nvPr/>
        </p:nvSpPr>
        <p:spPr>
          <a:xfrm>
            <a:off x="7406640" y="1783080"/>
            <a:ext cx="237744" cy="237744"/>
          </a:xfrm>
          <a:prstGeom prst="rect">
            <a:avLst/>
          </a:prstGeom>
          <a:solidFill>
            <a:srgbClr val="5B7083">
              <a:alpha val="65000"/>
            </a:srgbClr>
          </a:solidFill>
          <a:ln w="6350">
            <a:solidFill>
              <a:srgbClr val="0B1F33"/>
            </a:solidFill>
            <a:prstDash val="solid"/>
          </a:ln>
        </p:spPr>
      </p:sp>
      <p:sp>
        <p:nvSpPr>
          <p:cNvPr id="58" name="Shape 56"/>
          <p:cNvSpPr/>
          <p:nvPr/>
        </p:nvSpPr>
        <p:spPr>
          <a:xfrm>
            <a:off x="7406640" y="2057400"/>
            <a:ext cx="237744" cy="237744"/>
          </a:xfrm>
          <a:prstGeom prst="rect">
            <a:avLst/>
          </a:prstGeom>
          <a:solidFill>
            <a:srgbClr val="5B7083">
              <a:alpha val="65000"/>
            </a:srgbClr>
          </a:solidFill>
          <a:ln w="6350">
            <a:solidFill>
              <a:srgbClr val="0B1F33"/>
            </a:solidFill>
            <a:prstDash val="solid"/>
          </a:ln>
        </p:spPr>
      </p:sp>
      <p:sp>
        <p:nvSpPr>
          <p:cNvPr id="59" name="Shape 57"/>
          <p:cNvSpPr/>
          <p:nvPr/>
        </p:nvSpPr>
        <p:spPr>
          <a:xfrm>
            <a:off x="7406640" y="2331720"/>
            <a:ext cx="237744" cy="237744"/>
          </a:xfrm>
          <a:prstGeom prst="rect">
            <a:avLst/>
          </a:prstGeom>
          <a:solidFill>
            <a:srgbClr val="C8763A"/>
          </a:solidFill>
          <a:ln w="6350">
            <a:solidFill>
              <a:srgbClr val="0B1F33"/>
            </a:solidFill>
            <a:prstDash val="solid"/>
          </a:ln>
        </p:spPr>
      </p:sp>
      <p:sp>
        <p:nvSpPr>
          <p:cNvPr id="60" name="Shape 58"/>
          <p:cNvSpPr/>
          <p:nvPr/>
        </p:nvSpPr>
        <p:spPr>
          <a:xfrm>
            <a:off x="7406640" y="2606040"/>
            <a:ext cx="237744" cy="237744"/>
          </a:xfrm>
          <a:prstGeom prst="rect">
            <a:avLst/>
          </a:prstGeom>
          <a:solidFill>
            <a:srgbClr val="C8763A"/>
          </a:solidFill>
          <a:ln w="6350">
            <a:solidFill>
              <a:srgbClr val="0B1F33"/>
            </a:solidFill>
            <a:prstDash val="solid"/>
          </a:ln>
        </p:spPr>
      </p:sp>
      <p:sp>
        <p:nvSpPr>
          <p:cNvPr id="61" name="Shape 59"/>
          <p:cNvSpPr/>
          <p:nvPr/>
        </p:nvSpPr>
        <p:spPr>
          <a:xfrm>
            <a:off x="7406640" y="2880360"/>
            <a:ext cx="237744" cy="237744"/>
          </a:xfrm>
          <a:prstGeom prst="rect">
            <a:avLst/>
          </a:prstGeom>
          <a:solidFill>
            <a:srgbClr val="C8763A"/>
          </a:solidFill>
          <a:ln w="6350">
            <a:solidFill>
              <a:srgbClr val="0B1F33"/>
            </a:solidFill>
            <a:prstDash val="solid"/>
          </a:ln>
        </p:spPr>
      </p:sp>
      <p:sp>
        <p:nvSpPr>
          <p:cNvPr id="62" name="Shape 60"/>
          <p:cNvSpPr/>
          <p:nvPr/>
        </p:nvSpPr>
        <p:spPr>
          <a:xfrm>
            <a:off x="7406640" y="3154680"/>
            <a:ext cx="237744" cy="237744"/>
          </a:xfrm>
          <a:prstGeom prst="rect">
            <a:avLst/>
          </a:prstGeom>
          <a:solidFill>
            <a:srgbClr val="5B7083">
              <a:alpha val="65000"/>
            </a:srgbClr>
          </a:solidFill>
          <a:ln w="6350">
            <a:solidFill>
              <a:srgbClr val="0B1F33"/>
            </a:solidFill>
            <a:prstDash val="solid"/>
          </a:ln>
        </p:spPr>
      </p:sp>
      <p:sp>
        <p:nvSpPr>
          <p:cNvPr id="63" name="Shape 61"/>
          <p:cNvSpPr/>
          <p:nvPr/>
        </p:nvSpPr>
        <p:spPr>
          <a:xfrm>
            <a:off x="7406640" y="3429000"/>
            <a:ext cx="237744" cy="237744"/>
          </a:xfrm>
          <a:prstGeom prst="rect">
            <a:avLst/>
          </a:prstGeom>
          <a:solidFill>
            <a:srgbClr val="5B7083">
              <a:alpha val="65000"/>
            </a:srgbClr>
          </a:solidFill>
          <a:ln w="6350">
            <a:solidFill>
              <a:srgbClr val="0B1F33"/>
            </a:solidFill>
            <a:prstDash val="solid"/>
          </a:ln>
        </p:spPr>
      </p:sp>
      <p:sp>
        <p:nvSpPr>
          <p:cNvPr id="64" name="Shape 62"/>
          <p:cNvSpPr/>
          <p:nvPr/>
        </p:nvSpPr>
        <p:spPr>
          <a:xfrm>
            <a:off x="7406640" y="3703320"/>
            <a:ext cx="237744" cy="237744"/>
          </a:xfrm>
          <a:prstGeom prst="rect">
            <a:avLst/>
          </a:prstGeom>
          <a:solidFill>
            <a:srgbClr val="5B7083">
              <a:alpha val="65000"/>
            </a:srgbClr>
          </a:solidFill>
          <a:ln w="6350">
            <a:solidFill>
              <a:srgbClr val="0B1F33"/>
            </a:solidFill>
            <a:prstDash val="solid"/>
          </a:ln>
        </p:spPr>
      </p:sp>
      <p:sp>
        <p:nvSpPr>
          <p:cNvPr id="65" name="Shape 63"/>
          <p:cNvSpPr/>
          <p:nvPr/>
        </p:nvSpPr>
        <p:spPr>
          <a:xfrm>
            <a:off x="7680960" y="1508760"/>
            <a:ext cx="237744" cy="237744"/>
          </a:xfrm>
          <a:prstGeom prst="rect">
            <a:avLst/>
          </a:prstGeom>
          <a:solidFill>
            <a:srgbClr val="5B7083">
              <a:alpha val="65000"/>
            </a:srgbClr>
          </a:solidFill>
          <a:ln w="6350">
            <a:solidFill>
              <a:srgbClr val="0B1F33"/>
            </a:solidFill>
            <a:prstDash val="solid"/>
          </a:ln>
        </p:spPr>
      </p:sp>
      <p:sp>
        <p:nvSpPr>
          <p:cNvPr id="66" name="Shape 64"/>
          <p:cNvSpPr/>
          <p:nvPr/>
        </p:nvSpPr>
        <p:spPr>
          <a:xfrm>
            <a:off x="7680960" y="1783080"/>
            <a:ext cx="237744" cy="237744"/>
          </a:xfrm>
          <a:prstGeom prst="rect">
            <a:avLst/>
          </a:prstGeom>
          <a:solidFill>
            <a:srgbClr val="5B7083">
              <a:alpha val="65000"/>
            </a:srgbClr>
          </a:solidFill>
          <a:ln w="6350">
            <a:solidFill>
              <a:srgbClr val="0B1F33"/>
            </a:solidFill>
            <a:prstDash val="solid"/>
          </a:ln>
        </p:spPr>
      </p:sp>
      <p:sp>
        <p:nvSpPr>
          <p:cNvPr id="67" name="Shape 65"/>
          <p:cNvSpPr/>
          <p:nvPr/>
        </p:nvSpPr>
        <p:spPr>
          <a:xfrm>
            <a:off x="7680960" y="2057400"/>
            <a:ext cx="237744" cy="237744"/>
          </a:xfrm>
          <a:prstGeom prst="rect">
            <a:avLst/>
          </a:prstGeom>
          <a:solidFill>
            <a:srgbClr val="5B7083">
              <a:alpha val="65000"/>
            </a:srgbClr>
          </a:solidFill>
          <a:ln w="6350">
            <a:solidFill>
              <a:srgbClr val="0B1F33"/>
            </a:solidFill>
            <a:prstDash val="solid"/>
          </a:ln>
        </p:spPr>
      </p:sp>
      <p:sp>
        <p:nvSpPr>
          <p:cNvPr id="68" name="Shape 66"/>
          <p:cNvSpPr/>
          <p:nvPr/>
        </p:nvSpPr>
        <p:spPr>
          <a:xfrm>
            <a:off x="7680960" y="2331720"/>
            <a:ext cx="237744" cy="237744"/>
          </a:xfrm>
          <a:prstGeom prst="rect">
            <a:avLst/>
          </a:prstGeom>
          <a:solidFill>
            <a:srgbClr val="5B7083">
              <a:alpha val="65000"/>
            </a:srgbClr>
          </a:solidFill>
          <a:ln w="6350">
            <a:solidFill>
              <a:srgbClr val="0B1F33"/>
            </a:solidFill>
            <a:prstDash val="solid"/>
          </a:ln>
        </p:spPr>
      </p:sp>
      <p:sp>
        <p:nvSpPr>
          <p:cNvPr id="69" name="Shape 67"/>
          <p:cNvSpPr/>
          <p:nvPr/>
        </p:nvSpPr>
        <p:spPr>
          <a:xfrm>
            <a:off x="7680960" y="2606040"/>
            <a:ext cx="237744" cy="237744"/>
          </a:xfrm>
          <a:prstGeom prst="rect">
            <a:avLst/>
          </a:prstGeom>
          <a:solidFill>
            <a:srgbClr val="5B7083">
              <a:alpha val="65000"/>
            </a:srgbClr>
          </a:solidFill>
          <a:ln w="6350">
            <a:solidFill>
              <a:srgbClr val="0B1F33"/>
            </a:solidFill>
            <a:prstDash val="solid"/>
          </a:ln>
        </p:spPr>
      </p:sp>
      <p:sp>
        <p:nvSpPr>
          <p:cNvPr id="70" name="Shape 68"/>
          <p:cNvSpPr/>
          <p:nvPr/>
        </p:nvSpPr>
        <p:spPr>
          <a:xfrm>
            <a:off x="7680960" y="2880360"/>
            <a:ext cx="237744" cy="237744"/>
          </a:xfrm>
          <a:prstGeom prst="rect">
            <a:avLst/>
          </a:prstGeom>
          <a:solidFill>
            <a:srgbClr val="5B7083">
              <a:alpha val="65000"/>
            </a:srgbClr>
          </a:solidFill>
          <a:ln w="6350">
            <a:solidFill>
              <a:srgbClr val="0B1F33"/>
            </a:solidFill>
            <a:prstDash val="solid"/>
          </a:ln>
        </p:spPr>
      </p:sp>
      <p:sp>
        <p:nvSpPr>
          <p:cNvPr id="71" name="Shape 69"/>
          <p:cNvSpPr/>
          <p:nvPr/>
        </p:nvSpPr>
        <p:spPr>
          <a:xfrm>
            <a:off x="7680960" y="3154680"/>
            <a:ext cx="237744" cy="237744"/>
          </a:xfrm>
          <a:prstGeom prst="rect">
            <a:avLst/>
          </a:prstGeom>
          <a:solidFill>
            <a:srgbClr val="5B7083">
              <a:alpha val="65000"/>
            </a:srgbClr>
          </a:solidFill>
          <a:ln w="6350">
            <a:solidFill>
              <a:srgbClr val="0B1F33"/>
            </a:solidFill>
            <a:prstDash val="solid"/>
          </a:ln>
        </p:spPr>
      </p:sp>
      <p:sp>
        <p:nvSpPr>
          <p:cNvPr id="72" name="Shape 70"/>
          <p:cNvSpPr/>
          <p:nvPr/>
        </p:nvSpPr>
        <p:spPr>
          <a:xfrm>
            <a:off x="7680960" y="3429000"/>
            <a:ext cx="237744" cy="237744"/>
          </a:xfrm>
          <a:prstGeom prst="rect">
            <a:avLst/>
          </a:prstGeom>
          <a:solidFill>
            <a:srgbClr val="5B7083">
              <a:alpha val="65000"/>
            </a:srgbClr>
          </a:solidFill>
          <a:ln w="6350">
            <a:solidFill>
              <a:srgbClr val="0B1F33"/>
            </a:solidFill>
            <a:prstDash val="solid"/>
          </a:ln>
        </p:spPr>
      </p:sp>
      <p:sp>
        <p:nvSpPr>
          <p:cNvPr id="73" name="Shape 71"/>
          <p:cNvSpPr/>
          <p:nvPr/>
        </p:nvSpPr>
        <p:spPr>
          <a:xfrm>
            <a:off x="7955280" y="1508760"/>
            <a:ext cx="237744" cy="237744"/>
          </a:xfrm>
          <a:prstGeom prst="rect">
            <a:avLst/>
          </a:prstGeom>
          <a:solidFill>
            <a:srgbClr val="5B7083">
              <a:alpha val="65000"/>
            </a:srgbClr>
          </a:solidFill>
          <a:ln w="6350">
            <a:solidFill>
              <a:srgbClr val="0B1F33"/>
            </a:solidFill>
            <a:prstDash val="solid"/>
          </a:ln>
        </p:spPr>
      </p:sp>
      <p:sp>
        <p:nvSpPr>
          <p:cNvPr id="74" name="Shape 72"/>
          <p:cNvSpPr/>
          <p:nvPr/>
        </p:nvSpPr>
        <p:spPr>
          <a:xfrm>
            <a:off x="7955280" y="1783080"/>
            <a:ext cx="237744" cy="237744"/>
          </a:xfrm>
          <a:prstGeom prst="rect">
            <a:avLst/>
          </a:prstGeom>
          <a:solidFill>
            <a:srgbClr val="5B7083">
              <a:alpha val="65000"/>
            </a:srgbClr>
          </a:solidFill>
          <a:ln w="6350">
            <a:solidFill>
              <a:srgbClr val="0B1F33"/>
            </a:solidFill>
            <a:prstDash val="solid"/>
          </a:ln>
        </p:spPr>
      </p:sp>
      <p:sp>
        <p:nvSpPr>
          <p:cNvPr id="75" name="Shape 73"/>
          <p:cNvSpPr/>
          <p:nvPr/>
        </p:nvSpPr>
        <p:spPr>
          <a:xfrm>
            <a:off x="7955280" y="2057400"/>
            <a:ext cx="237744" cy="237744"/>
          </a:xfrm>
          <a:prstGeom prst="rect">
            <a:avLst/>
          </a:prstGeom>
          <a:solidFill>
            <a:srgbClr val="5B7083">
              <a:alpha val="65000"/>
            </a:srgbClr>
          </a:solidFill>
          <a:ln w="6350">
            <a:solidFill>
              <a:srgbClr val="0B1F33"/>
            </a:solidFill>
            <a:prstDash val="solid"/>
          </a:ln>
        </p:spPr>
      </p:sp>
      <p:sp>
        <p:nvSpPr>
          <p:cNvPr id="76" name="Shape 74"/>
          <p:cNvSpPr/>
          <p:nvPr/>
        </p:nvSpPr>
        <p:spPr>
          <a:xfrm>
            <a:off x="7955280" y="2331720"/>
            <a:ext cx="237744" cy="237744"/>
          </a:xfrm>
          <a:prstGeom prst="rect">
            <a:avLst/>
          </a:prstGeom>
          <a:solidFill>
            <a:srgbClr val="5B7083">
              <a:alpha val="65000"/>
            </a:srgbClr>
          </a:solidFill>
          <a:ln w="6350">
            <a:solidFill>
              <a:srgbClr val="0B1F33"/>
            </a:solidFill>
            <a:prstDash val="solid"/>
          </a:ln>
        </p:spPr>
      </p:sp>
      <p:sp>
        <p:nvSpPr>
          <p:cNvPr id="77" name="Shape 75"/>
          <p:cNvSpPr/>
          <p:nvPr/>
        </p:nvSpPr>
        <p:spPr>
          <a:xfrm>
            <a:off x="7955280" y="2606040"/>
            <a:ext cx="237744" cy="237744"/>
          </a:xfrm>
          <a:prstGeom prst="rect">
            <a:avLst/>
          </a:prstGeom>
          <a:solidFill>
            <a:srgbClr val="5B7083">
              <a:alpha val="65000"/>
            </a:srgbClr>
          </a:solidFill>
          <a:ln w="6350">
            <a:solidFill>
              <a:srgbClr val="0B1F33"/>
            </a:solidFill>
            <a:prstDash val="solid"/>
          </a:ln>
        </p:spPr>
      </p:sp>
      <p:sp>
        <p:nvSpPr>
          <p:cNvPr id="78" name="Shape 76"/>
          <p:cNvSpPr/>
          <p:nvPr/>
        </p:nvSpPr>
        <p:spPr>
          <a:xfrm>
            <a:off x="7955280" y="2880360"/>
            <a:ext cx="237744" cy="237744"/>
          </a:xfrm>
          <a:prstGeom prst="rect">
            <a:avLst/>
          </a:prstGeom>
          <a:solidFill>
            <a:srgbClr val="5B7083">
              <a:alpha val="65000"/>
            </a:srgbClr>
          </a:solidFill>
          <a:ln w="6350">
            <a:solidFill>
              <a:srgbClr val="0B1F33"/>
            </a:solidFill>
            <a:prstDash val="solid"/>
          </a:ln>
        </p:spPr>
      </p:sp>
      <p:sp>
        <p:nvSpPr>
          <p:cNvPr id="79" name="Shape 77"/>
          <p:cNvSpPr/>
          <p:nvPr/>
        </p:nvSpPr>
        <p:spPr>
          <a:xfrm>
            <a:off x="7955280" y="3154680"/>
            <a:ext cx="237744" cy="237744"/>
          </a:xfrm>
          <a:prstGeom prst="rect">
            <a:avLst/>
          </a:prstGeom>
          <a:solidFill>
            <a:srgbClr val="5B7083">
              <a:alpha val="65000"/>
            </a:srgbClr>
          </a:solidFill>
          <a:ln w="6350">
            <a:solidFill>
              <a:srgbClr val="0B1F33"/>
            </a:solidFill>
            <a:prstDash val="solid"/>
          </a:ln>
        </p:spPr>
      </p:sp>
      <p:sp>
        <p:nvSpPr>
          <p:cNvPr id="80" name="Shape 78"/>
          <p:cNvSpPr/>
          <p:nvPr/>
        </p:nvSpPr>
        <p:spPr>
          <a:xfrm>
            <a:off x="8229600" y="2057400"/>
            <a:ext cx="237744" cy="237744"/>
          </a:xfrm>
          <a:prstGeom prst="rect">
            <a:avLst/>
          </a:prstGeom>
          <a:solidFill>
            <a:srgbClr val="5B7083">
              <a:alpha val="65000"/>
            </a:srgbClr>
          </a:solidFill>
          <a:ln w="6350">
            <a:solidFill>
              <a:srgbClr val="0B1F33"/>
            </a:solidFill>
            <a:prstDash val="solid"/>
          </a:ln>
        </p:spPr>
      </p:sp>
      <p:sp>
        <p:nvSpPr>
          <p:cNvPr id="81" name="Shape 79"/>
          <p:cNvSpPr/>
          <p:nvPr/>
        </p:nvSpPr>
        <p:spPr>
          <a:xfrm>
            <a:off x="8229600" y="2331720"/>
            <a:ext cx="237744" cy="237744"/>
          </a:xfrm>
          <a:prstGeom prst="rect">
            <a:avLst/>
          </a:prstGeom>
          <a:solidFill>
            <a:srgbClr val="5B7083">
              <a:alpha val="65000"/>
            </a:srgbClr>
          </a:solidFill>
          <a:ln w="6350">
            <a:solidFill>
              <a:srgbClr val="0B1F33"/>
            </a:solidFill>
            <a:prstDash val="solid"/>
          </a:ln>
        </p:spPr>
      </p:sp>
      <p:sp>
        <p:nvSpPr>
          <p:cNvPr id="82" name="Shape 80"/>
          <p:cNvSpPr/>
          <p:nvPr/>
        </p:nvSpPr>
        <p:spPr>
          <a:xfrm>
            <a:off x="8229600" y="2606040"/>
            <a:ext cx="237744" cy="237744"/>
          </a:xfrm>
          <a:prstGeom prst="rect">
            <a:avLst/>
          </a:prstGeom>
          <a:solidFill>
            <a:srgbClr val="5B7083">
              <a:alpha val="65000"/>
            </a:srgbClr>
          </a:solidFill>
          <a:ln w="6350">
            <a:solidFill>
              <a:srgbClr val="0B1F33"/>
            </a:solidFill>
            <a:prstDash val="solid"/>
          </a:ln>
        </p:spPr>
      </p:sp>
      <p:sp>
        <p:nvSpPr>
          <p:cNvPr id="83" name="Shape 81"/>
          <p:cNvSpPr/>
          <p:nvPr/>
        </p:nvSpPr>
        <p:spPr>
          <a:xfrm>
            <a:off x="8229600" y="2880360"/>
            <a:ext cx="237744" cy="237744"/>
          </a:xfrm>
          <a:prstGeom prst="rect">
            <a:avLst/>
          </a:prstGeom>
          <a:solidFill>
            <a:srgbClr val="5B7083">
              <a:alpha val="65000"/>
            </a:srgbClr>
          </a:solidFill>
          <a:ln w="6350">
            <a:solidFill>
              <a:srgbClr val="0B1F33"/>
            </a:solidFill>
            <a:prstDash val="solid"/>
          </a:ln>
        </p:spPr>
      </p:sp>
      <p:sp>
        <p:nvSpPr>
          <p:cNvPr id="84" name="Shape 82"/>
          <p:cNvSpPr/>
          <p:nvPr/>
        </p:nvSpPr>
        <p:spPr>
          <a:xfrm>
            <a:off x="7031736" y="4014216"/>
            <a:ext cx="109728" cy="109728"/>
          </a:xfrm>
          <a:prstGeom prst="ellipse">
            <a:avLst/>
          </a:prstGeom>
          <a:solidFill>
            <a:srgbClr val="0B1F33"/>
          </a:solidFill>
          <a:ln w="12700">
            <a:solidFill>
              <a:srgbClr val="0B1F33"/>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2800" b="1" dirty="0">
                <a:solidFill>
                  <a:srgbClr val="0B1F33"/>
                </a:solidFill>
                <a:latin typeface="Cambria" pitchFamily="34" charset="0"/>
                <a:ea typeface="Cambria" pitchFamily="34" charset="-122"/>
                <a:cs typeface="Cambria" pitchFamily="34" charset="-120"/>
              </a:rPr>
              <a:t>This week in one minute</a:t>
            </a:r>
            <a:endParaRPr lang="en-US" sz="2800" dirty="0"/>
          </a:p>
        </p:txBody>
      </p:sp>
      <p:sp>
        <p:nvSpPr>
          <p:cNvPr id="3" name="Shape 1"/>
          <p:cNvSpPr/>
          <p:nvPr/>
        </p:nvSpPr>
        <p:spPr>
          <a:xfrm>
            <a:off x="457200" y="1097280"/>
            <a:ext cx="4023360" cy="1600200"/>
          </a:xfrm>
          <a:prstGeom prst="roundRect">
            <a:avLst>
              <a:gd name="adj" fmla="val 4571"/>
            </a:avLst>
          </a:prstGeom>
          <a:solidFill>
            <a:srgbClr val="DDF1EE"/>
          </a:solidFill>
          <a:ln w="12700">
            <a:solidFill>
              <a:srgbClr val="DDF1EE"/>
            </a:solidFill>
            <a:prstDash val="solid"/>
          </a:ln>
        </p:spPr>
      </p:sp>
      <p:sp>
        <p:nvSpPr>
          <p:cNvPr id="4" name="Shape 2"/>
          <p:cNvSpPr/>
          <p:nvPr/>
        </p:nvSpPr>
        <p:spPr>
          <a:xfrm>
            <a:off x="594360" y="1234440"/>
            <a:ext cx="347472" cy="347472"/>
          </a:xfrm>
          <a:prstGeom prst="ellipse">
            <a:avLst/>
          </a:prstGeom>
          <a:solidFill>
            <a:srgbClr val="C8763A"/>
          </a:solidFill>
          <a:ln w="12700">
            <a:solidFill>
              <a:srgbClr val="C8763A"/>
            </a:solidFill>
            <a:prstDash val="solid"/>
          </a:ln>
        </p:spPr>
      </p:sp>
      <p:sp>
        <p:nvSpPr>
          <p:cNvPr id="5" name="Text 3"/>
          <p:cNvSpPr txBox="1"/>
          <p:nvPr/>
        </p:nvSpPr>
        <p:spPr>
          <a:xfrm>
            <a:off x="594360" y="1234440"/>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1</a:t>
            </a:r>
            <a:endParaRPr lang="en-US" sz="1300" dirty="0"/>
          </a:p>
        </p:txBody>
      </p:sp>
      <p:sp>
        <p:nvSpPr>
          <p:cNvPr id="6" name="Text 4"/>
          <p:cNvSpPr txBox="1"/>
          <p:nvPr/>
        </p:nvSpPr>
        <p:spPr>
          <a:xfrm>
            <a:off x="1051560" y="1234440"/>
            <a:ext cx="3291840" cy="365760"/>
          </a:xfrm>
          <a:prstGeom prst="rect">
            <a:avLst/>
          </a:prstGeom>
          <a:noFill/>
          <a:ln/>
        </p:spPr>
        <p:txBody>
          <a:bodyPr wrap="square" lIns="0" tIns="0" rIns="0" bIns="0" rtlCol="0" anchor="ctr"/>
          <a:lstStyle/>
          <a:p>
            <a:pPr indent="0" marL="0">
              <a:buNone/>
            </a:pPr>
            <a:r>
              <a:rPr lang="en-US" sz="1600" b="1" dirty="0">
                <a:solidFill>
                  <a:srgbClr val="0B1F33"/>
                </a:solidFill>
                <a:latin typeface="Calibri" pitchFamily="34" charset="0"/>
                <a:ea typeface="Calibri" pitchFamily="34" charset="-122"/>
                <a:cs typeface="Calibri" pitchFamily="34" charset="-120"/>
              </a:rPr>
              <a:t>A chip is billions of tiny switches</a:t>
            </a:r>
            <a:endParaRPr lang="en-US" sz="1600" dirty="0"/>
          </a:p>
        </p:txBody>
      </p:sp>
      <p:sp>
        <p:nvSpPr>
          <p:cNvPr id="7" name="Text 5"/>
          <p:cNvSpPr txBox="1"/>
          <p:nvPr/>
        </p:nvSpPr>
        <p:spPr>
          <a:xfrm>
            <a:off x="621792" y="1664208"/>
            <a:ext cx="3694176" cy="914400"/>
          </a:xfrm>
          <a:prstGeom prst="rect">
            <a:avLst/>
          </a:prstGeom>
          <a:noFill/>
          <a:ln/>
        </p:spPr>
        <p:txBody>
          <a:bodyPr wrap="square" lIns="0" tIns="0" rIns="0" bIns="0" rtlCol="0" anchor="t"/>
          <a:lstStyle/>
          <a:p>
            <a:pPr indent="0" marL="0">
              <a:buNone/>
            </a:pPr>
            <a:r>
              <a:rPr lang="en-US" sz="1400" dirty="0">
                <a:solidFill>
                  <a:srgbClr val="14202E"/>
                </a:solidFill>
                <a:latin typeface="Calibri" pitchFamily="34" charset="0"/>
                <a:ea typeface="Calibri" pitchFamily="34" charset="-122"/>
                <a:cs typeface="Calibri" pitchFamily="34" charset="-120"/>
              </a:rPr>
              <a:t>Each switch is ON or OFF, 1 or 0. Everything your phone does is built from that.</a:t>
            </a:r>
            <a:endParaRPr lang="en-US" sz="1400" dirty="0"/>
          </a:p>
        </p:txBody>
      </p:sp>
      <p:sp>
        <p:nvSpPr>
          <p:cNvPr id="8" name="Shape 6"/>
          <p:cNvSpPr/>
          <p:nvPr/>
        </p:nvSpPr>
        <p:spPr>
          <a:xfrm>
            <a:off x="4663440" y="1097280"/>
            <a:ext cx="4023360" cy="1600200"/>
          </a:xfrm>
          <a:prstGeom prst="roundRect">
            <a:avLst>
              <a:gd name="adj" fmla="val 4571"/>
            </a:avLst>
          </a:prstGeom>
          <a:solidFill>
            <a:srgbClr val="EEF2F6"/>
          </a:solidFill>
          <a:ln w="12700">
            <a:solidFill>
              <a:srgbClr val="EEF2F6"/>
            </a:solidFill>
            <a:prstDash val="solid"/>
          </a:ln>
        </p:spPr>
      </p:sp>
      <p:sp>
        <p:nvSpPr>
          <p:cNvPr id="9" name="Shape 7"/>
          <p:cNvSpPr/>
          <p:nvPr/>
        </p:nvSpPr>
        <p:spPr>
          <a:xfrm>
            <a:off x="4800600" y="1234440"/>
            <a:ext cx="347472" cy="347472"/>
          </a:xfrm>
          <a:prstGeom prst="ellipse">
            <a:avLst/>
          </a:prstGeom>
          <a:solidFill>
            <a:srgbClr val="C8763A"/>
          </a:solidFill>
          <a:ln w="12700">
            <a:solidFill>
              <a:srgbClr val="C8763A"/>
            </a:solidFill>
            <a:prstDash val="solid"/>
          </a:ln>
        </p:spPr>
      </p:sp>
      <p:sp>
        <p:nvSpPr>
          <p:cNvPr id="10" name="Text 8"/>
          <p:cNvSpPr txBox="1"/>
          <p:nvPr/>
        </p:nvSpPr>
        <p:spPr>
          <a:xfrm>
            <a:off x="4800600" y="1234440"/>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2</a:t>
            </a:r>
            <a:endParaRPr lang="en-US" sz="1300" dirty="0"/>
          </a:p>
        </p:txBody>
      </p:sp>
      <p:sp>
        <p:nvSpPr>
          <p:cNvPr id="11" name="Text 9"/>
          <p:cNvSpPr txBox="1"/>
          <p:nvPr/>
        </p:nvSpPr>
        <p:spPr>
          <a:xfrm>
            <a:off x="5257800" y="1234440"/>
            <a:ext cx="3291840" cy="365760"/>
          </a:xfrm>
          <a:prstGeom prst="rect">
            <a:avLst/>
          </a:prstGeom>
          <a:noFill/>
          <a:ln/>
        </p:spPr>
        <p:txBody>
          <a:bodyPr wrap="square" lIns="0" tIns="0" rIns="0" bIns="0" rtlCol="0" anchor="ctr"/>
          <a:lstStyle/>
          <a:p>
            <a:pPr indent="0" marL="0">
              <a:buNone/>
            </a:pPr>
            <a:r>
              <a:rPr lang="en-US" sz="1600" b="1" dirty="0">
                <a:solidFill>
                  <a:srgbClr val="0B1F33"/>
                </a:solidFill>
                <a:latin typeface="Calibri" pitchFamily="34" charset="0"/>
                <a:ea typeface="Calibri" pitchFamily="34" charset="-122"/>
                <a:cs typeface="Calibri" pitchFamily="34" charset="-120"/>
              </a:rPr>
              <a:t>“3nm” is a nickname</a:t>
            </a:r>
            <a:endParaRPr lang="en-US" sz="1600" dirty="0"/>
          </a:p>
        </p:txBody>
      </p:sp>
      <p:sp>
        <p:nvSpPr>
          <p:cNvPr id="12" name="Text 10"/>
          <p:cNvSpPr txBox="1"/>
          <p:nvPr/>
        </p:nvSpPr>
        <p:spPr>
          <a:xfrm>
            <a:off x="4828032" y="1664208"/>
            <a:ext cx="3694176" cy="914400"/>
          </a:xfrm>
          <a:prstGeom prst="rect">
            <a:avLst/>
          </a:prstGeom>
          <a:noFill/>
          <a:ln/>
        </p:spPr>
        <p:txBody>
          <a:bodyPr wrap="square" lIns="0" tIns="0" rIns="0" bIns="0" rtlCol="0" anchor="t"/>
          <a:lstStyle/>
          <a:p>
            <a:pPr indent="0" marL="0">
              <a:buNone/>
            </a:pPr>
            <a:r>
              <a:rPr lang="en-US" sz="1400" dirty="0">
                <a:solidFill>
                  <a:srgbClr val="14202E"/>
                </a:solidFill>
                <a:latin typeface="Calibri" pitchFamily="34" charset="0"/>
                <a:ea typeface="Calibri" pitchFamily="34" charset="-122"/>
                <a:cs typeface="Calibri" pitchFamily="34" charset="-120"/>
              </a:rPr>
              <a:t>Like a “2 × 4” plank of wood, the name doesn't match the real size.</a:t>
            </a:r>
            <a:endParaRPr lang="en-US" sz="1400" dirty="0"/>
          </a:p>
        </p:txBody>
      </p:sp>
      <p:sp>
        <p:nvSpPr>
          <p:cNvPr id="13" name="Shape 11"/>
          <p:cNvSpPr/>
          <p:nvPr/>
        </p:nvSpPr>
        <p:spPr>
          <a:xfrm>
            <a:off x="457200" y="2880360"/>
            <a:ext cx="4023360" cy="1600200"/>
          </a:xfrm>
          <a:prstGeom prst="roundRect">
            <a:avLst>
              <a:gd name="adj" fmla="val 4571"/>
            </a:avLst>
          </a:prstGeom>
          <a:solidFill>
            <a:srgbClr val="EEF2F6"/>
          </a:solidFill>
          <a:ln w="12700">
            <a:solidFill>
              <a:srgbClr val="EEF2F6"/>
            </a:solidFill>
            <a:prstDash val="solid"/>
          </a:ln>
        </p:spPr>
      </p:sp>
      <p:sp>
        <p:nvSpPr>
          <p:cNvPr id="14" name="Shape 12"/>
          <p:cNvSpPr/>
          <p:nvPr/>
        </p:nvSpPr>
        <p:spPr>
          <a:xfrm>
            <a:off x="594360" y="3017520"/>
            <a:ext cx="347472" cy="347472"/>
          </a:xfrm>
          <a:prstGeom prst="ellipse">
            <a:avLst/>
          </a:prstGeom>
          <a:solidFill>
            <a:srgbClr val="C8763A"/>
          </a:solidFill>
          <a:ln w="12700">
            <a:solidFill>
              <a:srgbClr val="C8763A"/>
            </a:solidFill>
            <a:prstDash val="solid"/>
          </a:ln>
        </p:spPr>
      </p:sp>
      <p:sp>
        <p:nvSpPr>
          <p:cNvPr id="15" name="Text 13"/>
          <p:cNvSpPr txBox="1"/>
          <p:nvPr/>
        </p:nvSpPr>
        <p:spPr>
          <a:xfrm>
            <a:off x="594360" y="3017520"/>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3</a:t>
            </a:r>
            <a:endParaRPr lang="en-US" sz="1300" dirty="0"/>
          </a:p>
        </p:txBody>
      </p:sp>
      <p:sp>
        <p:nvSpPr>
          <p:cNvPr id="16" name="Text 14"/>
          <p:cNvSpPr txBox="1"/>
          <p:nvPr/>
        </p:nvSpPr>
        <p:spPr>
          <a:xfrm>
            <a:off x="1051560" y="3017520"/>
            <a:ext cx="3291840" cy="365760"/>
          </a:xfrm>
          <a:prstGeom prst="rect">
            <a:avLst/>
          </a:prstGeom>
          <a:noFill/>
          <a:ln/>
        </p:spPr>
        <p:txBody>
          <a:bodyPr wrap="square" lIns="0" tIns="0" rIns="0" bIns="0" rtlCol="0" anchor="ctr"/>
          <a:lstStyle/>
          <a:p>
            <a:pPr indent="0" marL="0">
              <a:buNone/>
            </a:pPr>
            <a:r>
              <a:rPr lang="en-US" sz="1600" b="1" dirty="0">
                <a:solidFill>
                  <a:srgbClr val="0B1F33"/>
                </a:solidFill>
                <a:latin typeface="Calibri" pitchFamily="34" charset="0"/>
                <a:ea typeface="Calibri" pitchFamily="34" charset="-122"/>
                <a:cs typeface="Calibri" pitchFamily="34" charset="-120"/>
              </a:rPr>
              <a:t>Tiny switches leak</a:t>
            </a:r>
            <a:endParaRPr lang="en-US" sz="1600" dirty="0"/>
          </a:p>
        </p:txBody>
      </p:sp>
      <p:sp>
        <p:nvSpPr>
          <p:cNvPr id="17" name="Text 15"/>
          <p:cNvSpPr txBox="1"/>
          <p:nvPr/>
        </p:nvSpPr>
        <p:spPr>
          <a:xfrm>
            <a:off x="621792" y="3447288"/>
            <a:ext cx="3694176" cy="914400"/>
          </a:xfrm>
          <a:prstGeom prst="rect">
            <a:avLst/>
          </a:prstGeom>
          <a:noFill/>
          <a:ln/>
        </p:spPr>
        <p:txBody>
          <a:bodyPr wrap="square" lIns="0" tIns="0" rIns="0" bIns="0" rtlCol="0" anchor="t"/>
          <a:lstStyle/>
          <a:p>
            <a:pPr indent="0" marL="0">
              <a:buNone/>
            </a:pPr>
            <a:r>
              <a:rPr lang="en-US" sz="1400" dirty="0">
                <a:solidFill>
                  <a:srgbClr val="14202E"/>
                </a:solidFill>
                <a:latin typeface="Calibri" pitchFamily="34" charset="0"/>
                <a:ea typeface="Calibri" pitchFamily="34" charset="-122"/>
                <a:cs typeface="Calibri" pitchFamily="34" charset="-120"/>
              </a:rPr>
              <a:t>So engineers wrapped the switch's control around it from more and more sides.</a:t>
            </a:r>
            <a:endParaRPr lang="en-US" sz="1400" dirty="0"/>
          </a:p>
        </p:txBody>
      </p:sp>
      <p:sp>
        <p:nvSpPr>
          <p:cNvPr id="18" name="Shape 16"/>
          <p:cNvSpPr/>
          <p:nvPr/>
        </p:nvSpPr>
        <p:spPr>
          <a:xfrm>
            <a:off x="4663440" y="2880360"/>
            <a:ext cx="4023360" cy="1600200"/>
          </a:xfrm>
          <a:prstGeom prst="roundRect">
            <a:avLst>
              <a:gd name="adj" fmla="val 4571"/>
            </a:avLst>
          </a:prstGeom>
          <a:solidFill>
            <a:srgbClr val="DDF1EE"/>
          </a:solidFill>
          <a:ln w="12700">
            <a:solidFill>
              <a:srgbClr val="DDF1EE"/>
            </a:solidFill>
            <a:prstDash val="solid"/>
          </a:ln>
        </p:spPr>
      </p:sp>
      <p:sp>
        <p:nvSpPr>
          <p:cNvPr id="19" name="Shape 17"/>
          <p:cNvSpPr/>
          <p:nvPr/>
        </p:nvSpPr>
        <p:spPr>
          <a:xfrm>
            <a:off x="4800600" y="3017520"/>
            <a:ext cx="347472" cy="347472"/>
          </a:xfrm>
          <a:prstGeom prst="ellipse">
            <a:avLst/>
          </a:prstGeom>
          <a:solidFill>
            <a:srgbClr val="C8763A"/>
          </a:solidFill>
          <a:ln w="12700">
            <a:solidFill>
              <a:srgbClr val="C8763A"/>
            </a:solidFill>
            <a:prstDash val="solid"/>
          </a:ln>
        </p:spPr>
      </p:sp>
      <p:sp>
        <p:nvSpPr>
          <p:cNvPr id="20" name="Text 18"/>
          <p:cNvSpPr txBox="1"/>
          <p:nvPr/>
        </p:nvSpPr>
        <p:spPr>
          <a:xfrm>
            <a:off x="4800600" y="3017520"/>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4</a:t>
            </a:r>
            <a:endParaRPr lang="en-US" sz="1300" dirty="0"/>
          </a:p>
        </p:txBody>
      </p:sp>
      <p:sp>
        <p:nvSpPr>
          <p:cNvPr id="21" name="Text 19"/>
          <p:cNvSpPr txBox="1"/>
          <p:nvPr/>
        </p:nvSpPr>
        <p:spPr>
          <a:xfrm>
            <a:off x="5257800" y="3017520"/>
            <a:ext cx="3291840" cy="365760"/>
          </a:xfrm>
          <a:prstGeom prst="rect">
            <a:avLst/>
          </a:prstGeom>
          <a:noFill/>
          <a:ln/>
        </p:spPr>
        <p:txBody>
          <a:bodyPr wrap="square" lIns="0" tIns="0" rIns="0" bIns="0" rtlCol="0" anchor="ctr"/>
          <a:lstStyle/>
          <a:p>
            <a:pPr indent="0" marL="0">
              <a:buNone/>
            </a:pPr>
            <a:r>
              <a:rPr lang="en-US" sz="1600" b="1" dirty="0">
                <a:solidFill>
                  <a:srgbClr val="0B1F33"/>
                </a:solidFill>
                <a:latin typeface="Calibri" pitchFamily="34" charset="0"/>
                <a:ea typeface="Calibri" pitchFamily="34" charset="-122"/>
                <a:cs typeface="Calibri" pitchFamily="34" charset="-120"/>
              </a:rPr>
              <a:t>Power is moving underneath</a:t>
            </a:r>
            <a:endParaRPr lang="en-US" sz="1600" dirty="0"/>
          </a:p>
        </p:txBody>
      </p:sp>
      <p:sp>
        <p:nvSpPr>
          <p:cNvPr id="22" name="Text 20"/>
          <p:cNvSpPr txBox="1"/>
          <p:nvPr/>
        </p:nvSpPr>
        <p:spPr>
          <a:xfrm>
            <a:off x="4828032" y="3447288"/>
            <a:ext cx="3694176" cy="914400"/>
          </a:xfrm>
          <a:prstGeom prst="rect">
            <a:avLst/>
          </a:prstGeom>
          <a:noFill/>
          <a:ln/>
        </p:spPr>
        <p:txBody>
          <a:bodyPr wrap="square" lIns="0" tIns="0" rIns="0" bIns="0" rtlCol="0" anchor="t"/>
          <a:lstStyle/>
          <a:p>
            <a:pPr indent="0" marL="0">
              <a:buNone/>
            </a:pPr>
            <a:r>
              <a:rPr lang="en-US" sz="1400" dirty="0">
                <a:solidFill>
                  <a:srgbClr val="14202E"/>
                </a:solidFill>
                <a:latin typeface="Calibri" pitchFamily="34" charset="0"/>
                <a:ea typeface="Calibri" pitchFamily="34" charset="-122"/>
                <a:cs typeface="Calibri" pitchFamily="34" charset="-120"/>
              </a:rPr>
              <a:t>Power wires go below the switches, like pipes moved to a basement.</a:t>
            </a:r>
            <a:endParaRPr lang="en-US" sz="14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7083"/>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2800" b="1" dirty="0">
                <a:solidFill>
                  <a:srgbClr val="0B1F33"/>
                </a:solidFill>
                <a:latin typeface="Cambria" pitchFamily="34" charset="0"/>
                <a:ea typeface="Cambria" pitchFamily="34" charset="-122"/>
                <a:cs typeface="Cambria" pitchFamily="34" charset="-120"/>
              </a:rPr>
              <a:t>What's inside a chip?</a:t>
            </a:r>
            <a:endParaRPr lang="en-US" sz="2800" dirty="0"/>
          </a:p>
        </p:txBody>
      </p:sp>
      <p:pic>
        <p:nvPicPr>
          <p:cNvPr id="3" name="Image 0" descr="What's inside a chip?">    </p:cNvPr>
          <p:cNvPicPr>
            <a:picLocks noChangeAspect="1"/>
          </p:cNvPicPr>
          <p:nvPr/>
        </p:nvPicPr>
        <p:blipFill>
          <a:blip r:embed="rId1"/>
          <a:stretch>
            <a:fillRect/>
          </a:stretch>
        </p:blipFill>
        <p:spPr>
          <a:xfrm>
            <a:off x="855406" y="1005840"/>
            <a:ext cx="7433187" cy="3291840"/>
          </a:xfrm>
          <a:prstGeom prst="rect">
            <a:avLst/>
          </a:prstGeom>
        </p:spPr>
      </p:pic>
      <p:sp>
        <p:nvSpPr>
          <p:cNvPr id="4" name="Text 1"/>
          <p:cNvSpPr txBox="1"/>
          <p:nvPr/>
        </p:nvSpPr>
        <p:spPr>
          <a:xfrm>
            <a:off x="457200" y="4370832"/>
            <a:ext cx="8229600" cy="365760"/>
          </a:xfrm>
          <a:prstGeom prst="rect">
            <a:avLst/>
          </a:prstGeom>
          <a:noFill/>
          <a:ln/>
        </p:spPr>
        <p:txBody>
          <a:bodyPr wrap="square" lIns="0" tIns="0" rIns="0" bIns="0" rtlCol="0" anchor="ctr"/>
          <a:lstStyle/>
          <a:p>
            <a:pPr algn="ctr" indent="0" marL="0">
              <a:buNone/>
            </a:pPr>
            <a:r>
              <a:rPr lang="en-US" sz="1500" b="1" dirty="0">
                <a:solidFill>
                  <a:srgbClr val="C8763A"/>
                </a:solidFill>
                <a:latin typeface="Calibri" pitchFamily="34" charset="0"/>
                <a:ea typeface="Calibri" pitchFamily="34" charset="-122"/>
                <a:cs typeface="Calibri" pitchFamily="34" charset="-120"/>
              </a:rPr>
              <a:t>Zoom into any phone or laptop and you end up at billions of tiny on/off switches</a:t>
            </a:r>
            <a:endParaRPr lang="en-US" sz="15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7083"/>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2800" b="1" dirty="0">
                <a:solidFill>
                  <a:srgbClr val="0B1F33"/>
                </a:solidFill>
                <a:latin typeface="Cambria" pitchFamily="34" charset="0"/>
                <a:ea typeface="Cambria" pitchFamily="34" charset="-122"/>
                <a:cs typeface="Cambria" pitchFamily="34" charset="-120"/>
              </a:rPr>
              <a:t>A transistor is just a tap</a:t>
            </a:r>
            <a:endParaRPr lang="en-US" sz="2800" dirty="0"/>
          </a:p>
        </p:txBody>
      </p:sp>
      <p:pic>
        <p:nvPicPr>
          <p:cNvPr id="3" name="Image 0" descr="A transistor is just a tap">    </p:cNvPr>
          <p:cNvPicPr>
            <a:picLocks noChangeAspect="1"/>
          </p:cNvPicPr>
          <p:nvPr/>
        </p:nvPicPr>
        <p:blipFill>
          <a:blip r:embed="rId1"/>
          <a:stretch>
            <a:fillRect/>
          </a:stretch>
        </p:blipFill>
        <p:spPr>
          <a:xfrm>
            <a:off x="731520" y="1005840"/>
            <a:ext cx="7680960" cy="3291840"/>
          </a:xfrm>
          <a:prstGeom prst="rect">
            <a:avLst/>
          </a:prstGeom>
        </p:spPr>
      </p:pic>
      <p:sp>
        <p:nvSpPr>
          <p:cNvPr id="4" name="Text 1"/>
          <p:cNvSpPr txBox="1"/>
          <p:nvPr/>
        </p:nvSpPr>
        <p:spPr>
          <a:xfrm>
            <a:off x="457200" y="4370832"/>
            <a:ext cx="8229600" cy="365760"/>
          </a:xfrm>
          <a:prstGeom prst="rect">
            <a:avLst/>
          </a:prstGeom>
          <a:noFill/>
          <a:ln/>
        </p:spPr>
        <p:txBody>
          <a:bodyPr wrap="square" lIns="0" tIns="0" rIns="0" bIns="0" rtlCol="0" anchor="ctr"/>
          <a:lstStyle/>
          <a:p>
            <a:pPr algn="ctr" indent="0" marL="0">
              <a:buNone/>
            </a:pPr>
            <a:r>
              <a:rPr lang="en-US" sz="1500" b="1" dirty="0">
                <a:solidFill>
                  <a:srgbClr val="C8763A"/>
                </a:solidFill>
                <a:latin typeface="Calibri" pitchFamily="34" charset="0"/>
                <a:ea typeface="Calibri" pitchFamily="34" charset="-122"/>
                <a:cs typeface="Calibri" pitchFamily="34" charset="-120"/>
              </a:rPr>
              <a:t>Gate open = current flows = 1.  Gate closed = no current = 0.</a:t>
            </a:r>
            <a:endParaRPr lang="en-US" sz="15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7083"/>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2800" b="1" dirty="0">
                <a:solidFill>
                  <a:srgbClr val="0B1F33"/>
                </a:solidFill>
                <a:latin typeface="Cambria" pitchFamily="34" charset="0"/>
                <a:ea typeface="Cambria" pitchFamily="34" charset="-122"/>
                <a:cs typeface="Cambria" pitchFamily="34" charset="-120"/>
              </a:rPr>
              <a:t>Real example: how many switches?</a:t>
            </a:r>
            <a:endParaRPr lang="en-US" sz="2800" dirty="0"/>
          </a:p>
        </p:txBody>
      </p:sp>
      <p:sp>
        <p:nvSpPr>
          <p:cNvPr id="3" name="Shape 1"/>
          <p:cNvSpPr/>
          <p:nvPr/>
        </p:nvSpPr>
        <p:spPr>
          <a:xfrm>
            <a:off x="457200" y="1143000"/>
            <a:ext cx="2606040" cy="2514600"/>
          </a:xfrm>
          <a:prstGeom prst="roundRect">
            <a:avLst>
              <a:gd name="adj" fmla="val 2909"/>
            </a:avLst>
          </a:prstGeom>
          <a:solidFill>
            <a:srgbClr val="EEF2F6"/>
          </a:solidFill>
          <a:ln w="12700">
            <a:solidFill>
              <a:srgbClr val="EEF2F6"/>
            </a:solidFill>
            <a:prstDash val="solid"/>
          </a:ln>
        </p:spPr>
      </p:sp>
      <p:sp>
        <p:nvSpPr>
          <p:cNvPr id="4" name="Text 2"/>
          <p:cNvSpPr txBox="1"/>
          <p:nvPr/>
        </p:nvSpPr>
        <p:spPr>
          <a:xfrm>
            <a:off x="640080" y="1280160"/>
            <a:ext cx="2240280" cy="365760"/>
          </a:xfrm>
          <a:prstGeom prst="rect">
            <a:avLst/>
          </a:prstGeom>
          <a:noFill/>
          <a:ln/>
        </p:spPr>
        <p:txBody>
          <a:bodyPr wrap="square" lIns="0" tIns="0" rIns="0" bIns="0" rtlCol="0" anchor="t"/>
          <a:lstStyle/>
          <a:p>
            <a:pPr indent="0" marL="0">
              <a:buNone/>
            </a:pPr>
            <a:r>
              <a:rPr lang="en-US" sz="1600" b="1" dirty="0">
                <a:solidFill>
                  <a:srgbClr val="5B7083"/>
                </a:solidFill>
                <a:latin typeface="Calibri" pitchFamily="34" charset="0"/>
                <a:ea typeface="Calibri" pitchFamily="34" charset="-122"/>
                <a:cs typeface="Calibri" pitchFamily="34" charset="-120"/>
              </a:rPr>
              <a:t>1971</a:t>
            </a:r>
            <a:endParaRPr lang="en-US" sz="1600" dirty="0"/>
          </a:p>
        </p:txBody>
      </p:sp>
      <p:sp>
        <p:nvSpPr>
          <p:cNvPr id="5" name="Text 3"/>
          <p:cNvSpPr txBox="1"/>
          <p:nvPr/>
        </p:nvSpPr>
        <p:spPr>
          <a:xfrm>
            <a:off x="640080" y="1691640"/>
            <a:ext cx="2240280" cy="731520"/>
          </a:xfrm>
          <a:prstGeom prst="rect">
            <a:avLst/>
          </a:prstGeom>
          <a:noFill/>
          <a:ln/>
        </p:spPr>
        <p:txBody>
          <a:bodyPr wrap="square" lIns="0" tIns="0" rIns="0" bIns="0" rtlCol="0" anchor="ctr"/>
          <a:lstStyle/>
          <a:p>
            <a:pPr indent="0" marL="0">
              <a:buNone/>
            </a:pPr>
            <a:r>
              <a:rPr lang="en-US" sz="3600" b="1" dirty="0">
                <a:solidFill>
                  <a:srgbClr val="0B1F33"/>
                </a:solidFill>
                <a:latin typeface="Cambria" pitchFamily="34" charset="0"/>
                <a:ea typeface="Cambria" pitchFamily="34" charset="-122"/>
                <a:cs typeface="Cambria" pitchFamily="34" charset="-120"/>
              </a:rPr>
              <a:t>2,300</a:t>
            </a:r>
            <a:endParaRPr lang="en-US" sz="3600" dirty="0"/>
          </a:p>
        </p:txBody>
      </p:sp>
      <p:sp>
        <p:nvSpPr>
          <p:cNvPr id="6" name="Text 4"/>
          <p:cNvSpPr txBox="1"/>
          <p:nvPr/>
        </p:nvSpPr>
        <p:spPr>
          <a:xfrm>
            <a:off x="640080" y="2423160"/>
            <a:ext cx="2240280" cy="320040"/>
          </a:xfrm>
          <a:prstGeom prst="rect">
            <a:avLst/>
          </a:prstGeom>
          <a:noFill/>
          <a:ln/>
        </p:spPr>
        <p:txBody>
          <a:bodyPr wrap="square" lIns="0" tIns="0" rIns="0" bIns="0" rtlCol="0" anchor="t"/>
          <a:lstStyle/>
          <a:p>
            <a:pPr indent="0" marL="0">
              <a:buNone/>
            </a:pPr>
            <a:r>
              <a:rPr lang="en-US" sz="1400" dirty="0">
                <a:solidFill>
                  <a:srgbClr val="5B7083"/>
                </a:solidFill>
                <a:latin typeface="Calibri" pitchFamily="34" charset="0"/>
                <a:ea typeface="Calibri" pitchFamily="34" charset="-122"/>
                <a:cs typeface="Calibri" pitchFamily="34" charset="-120"/>
              </a:rPr>
              <a:t>transistors</a:t>
            </a:r>
            <a:endParaRPr lang="en-US" sz="1400" dirty="0"/>
          </a:p>
        </p:txBody>
      </p:sp>
      <p:sp>
        <p:nvSpPr>
          <p:cNvPr id="7" name="Text 5"/>
          <p:cNvSpPr txBox="1"/>
          <p:nvPr/>
        </p:nvSpPr>
        <p:spPr>
          <a:xfrm>
            <a:off x="640080" y="2788920"/>
            <a:ext cx="2240280" cy="777240"/>
          </a:xfrm>
          <a:prstGeom prst="rect">
            <a:avLst/>
          </a:prstGeom>
          <a:noFill/>
          <a:ln/>
        </p:spPr>
        <p:txBody>
          <a:bodyPr wrap="square" lIns="0" tIns="0" rIns="0" bIns="0" rtlCol="0" anchor="t"/>
          <a:lstStyle/>
          <a:p>
            <a:pPr indent="0" marL="0">
              <a:buNone/>
            </a:pPr>
            <a:r>
              <a:rPr lang="en-US" sz="1400" dirty="0">
                <a:solidFill>
                  <a:srgbClr val="14202E"/>
                </a:solidFill>
                <a:latin typeface="Calibri" pitchFamily="34" charset="0"/>
                <a:ea typeface="Calibri" pitchFamily="34" charset="-122"/>
                <a:cs typeface="Calibri" pitchFamily="34" charset="-120"/>
              </a:rPr>
              <a:t>Intel 4004, the first chip with a whole processor on it</a:t>
            </a:r>
            <a:endParaRPr lang="en-US" sz="1400" dirty="0"/>
          </a:p>
        </p:txBody>
      </p:sp>
      <p:sp>
        <p:nvSpPr>
          <p:cNvPr id="8" name="Shape 6"/>
          <p:cNvSpPr/>
          <p:nvPr/>
        </p:nvSpPr>
        <p:spPr>
          <a:xfrm>
            <a:off x="3090672" y="2240280"/>
            <a:ext cx="182880" cy="274320"/>
          </a:xfrm>
          <a:prstGeom prst="rightArrow">
            <a:avLst/>
          </a:prstGeom>
          <a:solidFill>
            <a:srgbClr val="C8763A"/>
          </a:solidFill>
          <a:ln w="12700">
            <a:solidFill>
              <a:srgbClr val="C8763A"/>
            </a:solidFill>
            <a:prstDash val="solid"/>
          </a:ln>
        </p:spPr>
      </p:sp>
      <p:sp>
        <p:nvSpPr>
          <p:cNvPr id="9" name="Shape 7"/>
          <p:cNvSpPr/>
          <p:nvPr/>
        </p:nvSpPr>
        <p:spPr>
          <a:xfrm>
            <a:off x="3291840" y="1143000"/>
            <a:ext cx="2606040" cy="2514600"/>
          </a:xfrm>
          <a:prstGeom prst="roundRect">
            <a:avLst>
              <a:gd name="adj" fmla="val 2909"/>
            </a:avLst>
          </a:prstGeom>
          <a:solidFill>
            <a:srgbClr val="EEF2F6"/>
          </a:solidFill>
          <a:ln w="12700">
            <a:solidFill>
              <a:srgbClr val="EEF2F6"/>
            </a:solidFill>
            <a:prstDash val="solid"/>
          </a:ln>
        </p:spPr>
      </p:sp>
      <p:sp>
        <p:nvSpPr>
          <p:cNvPr id="10" name="Text 8"/>
          <p:cNvSpPr txBox="1"/>
          <p:nvPr/>
        </p:nvSpPr>
        <p:spPr>
          <a:xfrm>
            <a:off x="3474720" y="1280160"/>
            <a:ext cx="2240280" cy="365760"/>
          </a:xfrm>
          <a:prstGeom prst="rect">
            <a:avLst/>
          </a:prstGeom>
          <a:noFill/>
          <a:ln/>
        </p:spPr>
        <p:txBody>
          <a:bodyPr wrap="square" lIns="0" tIns="0" rIns="0" bIns="0" rtlCol="0" anchor="t"/>
          <a:lstStyle/>
          <a:p>
            <a:pPr indent="0" marL="0">
              <a:buNone/>
            </a:pPr>
            <a:r>
              <a:rPr lang="en-US" sz="1600" b="1" dirty="0">
                <a:solidFill>
                  <a:srgbClr val="5B7083"/>
                </a:solidFill>
                <a:latin typeface="Calibri" pitchFamily="34" charset="0"/>
                <a:ea typeface="Calibri" pitchFamily="34" charset="-122"/>
                <a:cs typeface="Calibri" pitchFamily="34" charset="-120"/>
              </a:rPr>
              <a:t>2000</a:t>
            </a:r>
            <a:endParaRPr lang="en-US" sz="1600" dirty="0"/>
          </a:p>
        </p:txBody>
      </p:sp>
      <p:sp>
        <p:nvSpPr>
          <p:cNvPr id="11" name="Text 9"/>
          <p:cNvSpPr txBox="1"/>
          <p:nvPr/>
        </p:nvSpPr>
        <p:spPr>
          <a:xfrm>
            <a:off x="3474720" y="1691640"/>
            <a:ext cx="2240280" cy="731520"/>
          </a:xfrm>
          <a:prstGeom prst="rect">
            <a:avLst/>
          </a:prstGeom>
          <a:noFill/>
          <a:ln/>
        </p:spPr>
        <p:txBody>
          <a:bodyPr wrap="square" lIns="0" tIns="0" rIns="0" bIns="0" rtlCol="0" anchor="ctr"/>
          <a:lstStyle/>
          <a:p>
            <a:pPr indent="0" marL="0">
              <a:buNone/>
            </a:pPr>
            <a:r>
              <a:rPr lang="en-US" sz="3600" b="1" dirty="0">
                <a:solidFill>
                  <a:srgbClr val="0B1F33"/>
                </a:solidFill>
                <a:latin typeface="Cambria" pitchFamily="34" charset="0"/>
                <a:ea typeface="Cambria" pitchFamily="34" charset="-122"/>
                <a:cs typeface="Cambria" pitchFamily="34" charset="-120"/>
              </a:rPr>
              <a:t>42 million</a:t>
            </a:r>
            <a:endParaRPr lang="en-US" sz="3600" dirty="0"/>
          </a:p>
        </p:txBody>
      </p:sp>
      <p:sp>
        <p:nvSpPr>
          <p:cNvPr id="12" name="Text 10"/>
          <p:cNvSpPr txBox="1"/>
          <p:nvPr/>
        </p:nvSpPr>
        <p:spPr>
          <a:xfrm>
            <a:off x="3474720" y="2423160"/>
            <a:ext cx="2240280" cy="320040"/>
          </a:xfrm>
          <a:prstGeom prst="rect">
            <a:avLst/>
          </a:prstGeom>
          <a:noFill/>
          <a:ln/>
        </p:spPr>
        <p:txBody>
          <a:bodyPr wrap="square" lIns="0" tIns="0" rIns="0" bIns="0" rtlCol="0" anchor="t"/>
          <a:lstStyle/>
          <a:p>
            <a:pPr indent="0" marL="0">
              <a:buNone/>
            </a:pPr>
            <a:r>
              <a:rPr lang="en-US" sz="1400" dirty="0">
                <a:solidFill>
                  <a:srgbClr val="5B7083"/>
                </a:solidFill>
                <a:latin typeface="Calibri" pitchFamily="34" charset="0"/>
                <a:ea typeface="Calibri" pitchFamily="34" charset="-122"/>
                <a:cs typeface="Calibri" pitchFamily="34" charset="-120"/>
              </a:rPr>
              <a:t>transistors</a:t>
            </a:r>
            <a:endParaRPr lang="en-US" sz="1400" dirty="0"/>
          </a:p>
        </p:txBody>
      </p:sp>
      <p:sp>
        <p:nvSpPr>
          <p:cNvPr id="13" name="Text 11"/>
          <p:cNvSpPr txBox="1"/>
          <p:nvPr/>
        </p:nvSpPr>
        <p:spPr>
          <a:xfrm>
            <a:off x="3474720" y="2788920"/>
            <a:ext cx="2240280" cy="777240"/>
          </a:xfrm>
          <a:prstGeom prst="rect">
            <a:avLst/>
          </a:prstGeom>
          <a:noFill/>
          <a:ln/>
        </p:spPr>
        <p:txBody>
          <a:bodyPr wrap="square" lIns="0" tIns="0" rIns="0" bIns="0" rtlCol="0" anchor="t"/>
          <a:lstStyle/>
          <a:p>
            <a:pPr indent="0" marL="0">
              <a:buNone/>
            </a:pPr>
            <a:r>
              <a:rPr lang="en-US" sz="1400" dirty="0">
                <a:solidFill>
                  <a:srgbClr val="14202E"/>
                </a:solidFill>
                <a:latin typeface="Calibri" pitchFamily="34" charset="0"/>
                <a:ea typeface="Calibri" pitchFamily="34" charset="-122"/>
                <a:cs typeface="Calibri" pitchFamily="34" charset="-120"/>
              </a:rPr>
              <a:t>Intel Pentium 4, a desktop PC chip</a:t>
            </a:r>
            <a:endParaRPr lang="en-US" sz="1400" dirty="0"/>
          </a:p>
        </p:txBody>
      </p:sp>
      <p:sp>
        <p:nvSpPr>
          <p:cNvPr id="14" name="Shape 12"/>
          <p:cNvSpPr/>
          <p:nvPr/>
        </p:nvSpPr>
        <p:spPr>
          <a:xfrm>
            <a:off x="5925312" y="2240280"/>
            <a:ext cx="182880" cy="274320"/>
          </a:xfrm>
          <a:prstGeom prst="rightArrow">
            <a:avLst/>
          </a:prstGeom>
          <a:solidFill>
            <a:srgbClr val="C8763A"/>
          </a:solidFill>
          <a:ln w="12700">
            <a:solidFill>
              <a:srgbClr val="C8763A"/>
            </a:solidFill>
            <a:prstDash val="solid"/>
          </a:ln>
        </p:spPr>
      </p:sp>
      <p:sp>
        <p:nvSpPr>
          <p:cNvPr id="15" name="Shape 13"/>
          <p:cNvSpPr/>
          <p:nvPr/>
        </p:nvSpPr>
        <p:spPr>
          <a:xfrm>
            <a:off x="6126480" y="1143000"/>
            <a:ext cx="2606040" cy="2514600"/>
          </a:xfrm>
          <a:prstGeom prst="roundRect">
            <a:avLst>
              <a:gd name="adj" fmla="val 2909"/>
            </a:avLst>
          </a:prstGeom>
          <a:solidFill>
            <a:srgbClr val="F6E7DA"/>
          </a:solidFill>
          <a:ln w="12700">
            <a:solidFill>
              <a:srgbClr val="F6E7DA"/>
            </a:solidFill>
            <a:prstDash val="solid"/>
          </a:ln>
        </p:spPr>
      </p:sp>
      <p:sp>
        <p:nvSpPr>
          <p:cNvPr id="16" name="Text 14"/>
          <p:cNvSpPr txBox="1"/>
          <p:nvPr/>
        </p:nvSpPr>
        <p:spPr>
          <a:xfrm>
            <a:off x="6309360" y="1280160"/>
            <a:ext cx="2240280" cy="365760"/>
          </a:xfrm>
          <a:prstGeom prst="rect">
            <a:avLst/>
          </a:prstGeom>
          <a:noFill/>
          <a:ln/>
        </p:spPr>
        <p:txBody>
          <a:bodyPr wrap="square" lIns="0" tIns="0" rIns="0" bIns="0" rtlCol="0" anchor="t"/>
          <a:lstStyle/>
          <a:p>
            <a:pPr indent="0" marL="0">
              <a:buNone/>
            </a:pPr>
            <a:r>
              <a:rPr lang="en-US" sz="1600" b="1" dirty="0">
                <a:solidFill>
                  <a:srgbClr val="5B7083"/>
                </a:solidFill>
                <a:latin typeface="Calibri" pitchFamily="34" charset="0"/>
                <a:ea typeface="Calibri" pitchFamily="34" charset="-122"/>
                <a:cs typeface="Calibri" pitchFamily="34" charset="-120"/>
              </a:rPr>
              <a:t>2023</a:t>
            </a:r>
            <a:endParaRPr lang="en-US" sz="1600" dirty="0"/>
          </a:p>
        </p:txBody>
      </p:sp>
      <p:sp>
        <p:nvSpPr>
          <p:cNvPr id="17" name="Text 15"/>
          <p:cNvSpPr txBox="1"/>
          <p:nvPr/>
        </p:nvSpPr>
        <p:spPr>
          <a:xfrm>
            <a:off x="6309360" y="1691640"/>
            <a:ext cx="2240280" cy="731520"/>
          </a:xfrm>
          <a:prstGeom prst="rect">
            <a:avLst/>
          </a:prstGeom>
          <a:noFill/>
          <a:ln/>
        </p:spPr>
        <p:txBody>
          <a:bodyPr wrap="square" lIns="0" tIns="0" rIns="0" bIns="0" rtlCol="0" anchor="ctr"/>
          <a:lstStyle/>
          <a:p>
            <a:pPr indent="0" marL="0">
              <a:buNone/>
            </a:pPr>
            <a:r>
              <a:rPr lang="en-US" sz="3600" b="1" dirty="0">
                <a:solidFill>
                  <a:srgbClr val="C8763A"/>
                </a:solidFill>
                <a:latin typeface="Cambria" pitchFamily="34" charset="0"/>
                <a:ea typeface="Cambria" pitchFamily="34" charset="-122"/>
                <a:cs typeface="Cambria" pitchFamily="34" charset="-120"/>
              </a:rPr>
              <a:t>19 billion</a:t>
            </a:r>
            <a:endParaRPr lang="en-US" sz="3600" dirty="0"/>
          </a:p>
        </p:txBody>
      </p:sp>
      <p:sp>
        <p:nvSpPr>
          <p:cNvPr id="18" name="Text 16"/>
          <p:cNvSpPr txBox="1"/>
          <p:nvPr/>
        </p:nvSpPr>
        <p:spPr>
          <a:xfrm>
            <a:off x="6309360" y="2423160"/>
            <a:ext cx="2240280" cy="320040"/>
          </a:xfrm>
          <a:prstGeom prst="rect">
            <a:avLst/>
          </a:prstGeom>
          <a:noFill/>
          <a:ln/>
        </p:spPr>
        <p:txBody>
          <a:bodyPr wrap="square" lIns="0" tIns="0" rIns="0" bIns="0" rtlCol="0" anchor="t"/>
          <a:lstStyle/>
          <a:p>
            <a:pPr indent="0" marL="0">
              <a:buNone/>
            </a:pPr>
            <a:r>
              <a:rPr lang="en-US" sz="1400" dirty="0">
                <a:solidFill>
                  <a:srgbClr val="5B7083"/>
                </a:solidFill>
                <a:latin typeface="Calibri" pitchFamily="34" charset="0"/>
                <a:ea typeface="Calibri" pitchFamily="34" charset="-122"/>
                <a:cs typeface="Calibri" pitchFamily="34" charset="-120"/>
              </a:rPr>
              <a:t>transistors</a:t>
            </a:r>
            <a:endParaRPr lang="en-US" sz="1400" dirty="0"/>
          </a:p>
        </p:txBody>
      </p:sp>
      <p:sp>
        <p:nvSpPr>
          <p:cNvPr id="19" name="Text 17"/>
          <p:cNvSpPr txBox="1"/>
          <p:nvPr/>
        </p:nvSpPr>
        <p:spPr>
          <a:xfrm>
            <a:off x="6309360" y="2788920"/>
            <a:ext cx="2240280" cy="777240"/>
          </a:xfrm>
          <a:prstGeom prst="rect">
            <a:avLst/>
          </a:prstGeom>
          <a:noFill/>
          <a:ln/>
        </p:spPr>
        <p:txBody>
          <a:bodyPr wrap="square" lIns="0" tIns="0" rIns="0" bIns="0" rtlCol="0" anchor="t"/>
          <a:lstStyle/>
          <a:p>
            <a:pPr indent="0" marL="0">
              <a:buNone/>
            </a:pPr>
            <a:r>
              <a:rPr lang="en-US" sz="1400" dirty="0">
                <a:solidFill>
                  <a:srgbClr val="14202E"/>
                </a:solidFill>
                <a:latin typeface="Calibri" pitchFamily="34" charset="0"/>
                <a:ea typeface="Calibri" pitchFamily="34" charset="-122"/>
                <a:cs typeface="Calibri" pitchFamily="34" charset="-120"/>
              </a:rPr>
              <a:t>Apple A17 Pro, the chip in an iPhone 15 Pro</a:t>
            </a:r>
            <a:endParaRPr lang="en-US" sz="1400" dirty="0"/>
          </a:p>
        </p:txBody>
      </p:sp>
      <p:sp>
        <p:nvSpPr>
          <p:cNvPr id="20" name="Text 18"/>
          <p:cNvSpPr txBox="1"/>
          <p:nvPr/>
        </p:nvSpPr>
        <p:spPr>
          <a:xfrm>
            <a:off x="457200" y="3931920"/>
            <a:ext cx="8229600" cy="685800"/>
          </a:xfrm>
          <a:prstGeom prst="rect">
            <a:avLst/>
          </a:prstGeom>
          <a:noFill/>
          <a:ln/>
        </p:spPr>
        <p:txBody>
          <a:bodyPr wrap="square" lIns="0" tIns="0" rIns="0" bIns="0" rtlCol="0" anchor="t"/>
          <a:lstStyle/>
          <a:p>
            <a:pPr indent="0" marL="0">
              <a:buNone/>
            </a:pPr>
            <a:r>
              <a:rPr lang="en-US" sz="1500" dirty="0">
                <a:solidFill>
                  <a:srgbClr val="14202E"/>
                </a:solidFill>
                <a:latin typeface="Calibri" pitchFamily="34" charset="0"/>
                <a:ea typeface="Calibri" pitchFamily="34" charset="-122"/>
                <a:cs typeface="Calibri" pitchFamily="34" charset="-120"/>
              </a:rPr>
              <a:t>Same fingernail-sized chip, about 8 million times more switches in about 50 years. That's only possible because each switch keeps getting smaller.</a:t>
            </a:r>
            <a:endParaRPr lang="en-US" sz="15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7083"/>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2800" b="1" dirty="0">
                <a:solidFill>
                  <a:srgbClr val="0B1F33"/>
                </a:solidFill>
                <a:latin typeface="Cambria" pitchFamily="34" charset="0"/>
                <a:ea typeface="Cambria" pitchFamily="34" charset="-122"/>
                <a:cs typeface="Cambria" pitchFamily="34" charset="-120"/>
              </a:rPr>
              <a:t>How small is “small”?</a:t>
            </a:r>
            <a:endParaRPr lang="en-US" sz="2800" dirty="0"/>
          </a:p>
        </p:txBody>
      </p:sp>
      <p:pic>
        <p:nvPicPr>
          <p:cNvPr id="3" name="Image 0" descr="How small is “small”?">    </p:cNvPr>
          <p:cNvPicPr>
            <a:picLocks noChangeAspect="1"/>
          </p:cNvPicPr>
          <p:nvPr/>
        </p:nvPicPr>
        <p:blipFill>
          <a:blip r:embed="rId1"/>
          <a:stretch>
            <a:fillRect/>
          </a:stretch>
        </p:blipFill>
        <p:spPr>
          <a:xfrm>
            <a:off x="731520" y="1005840"/>
            <a:ext cx="7680960" cy="3291840"/>
          </a:xfrm>
          <a:prstGeom prst="rect">
            <a:avLst/>
          </a:prstGeom>
        </p:spPr>
      </p:pic>
      <p:sp>
        <p:nvSpPr>
          <p:cNvPr id="4" name="Text 1"/>
          <p:cNvSpPr txBox="1"/>
          <p:nvPr/>
        </p:nvSpPr>
        <p:spPr>
          <a:xfrm>
            <a:off x="457200" y="4370832"/>
            <a:ext cx="8229600" cy="365760"/>
          </a:xfrm>
          <a:prstGeom prst="rect">
            <a:avLst/>
          </a:prstGeom>
          <a:noFill/>
          <a:ln/>
        </p:spPr>
        <p:txBody>
          <a:bodyPr wrap="square" lIns="0" tIns="0" rIns="0" bIns="0" rtlCol="0" anchor="ctr"/>
          <a:lstStyle/>
          <a:p>
            <a:pPr algn="ctr" indent="0" marL="0">
              <a:buNone/>
            </a:pPr>
            <a:r>
              <a:rPr lang="en-US" sz="1500" b="1" dirty="0">
                <a:solidFill>
                  <a:srgbClr val="C8763A"/>
                </a:solidFill>
                <a:latin typeface="Calibri" pitchFamily="34" charset="0"/>
                <a:ea typeface="Calibri" pitchFamily="34" charset="-122"/>
                <a:cs typeface="Calibri" pitchFamily="34" charset="-120"/>
              </a:rPr>
              <a:t>A switch is about 4,000 times thinner than a human hair</a:t>
            </a:r>
            <a:endParaRPr lang="en-US" sz="15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7083"/>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2800" b="1" dirty="0">
                <a:solidFill>
                  <a:srgbClr val="0B1F33"/>
                </a:solidFill>
                <a:latin typeface="Cambria" pitchFamily="34" charset="0"/>
                <a:ea typeface="Cambria" pitchFamily="34" charset="-122"/>
                <a:cs typeface="Cambria" pitchFamily="34" charset="-120"/>
              </a:rPr>
              <a:t>Why do we want smaller switches?</a:t>
            </a:r>
            <a:endParaRPr lang="en-US" sz="2800" dirty="0"/>
          </a:p>
        </p:txBody>
      </p:sp>
      <p:sp>
        <p:nvSpPr>
          <p:cNvPr id="3" name="Shape 1"/>
          <p:cNvSpPr/>
          <p:nvPr/>
        </p:nvSpPr>
        <p:spPr>
          <a:xfrm>
            <a:off x="548640" y="1188720"/>
            <a:ext cx="457200" cy="457200"/>
          </a:xfrm>
          <a:prstGeom prst="ellipse">
            <a:avLst/>
          </a:prstGeom>
          <a:solidFill>
            <a:srgbClr val="C8763A"/>
          </a:solidFill>
          <a:ln w="12700">
            <a:solidFill>
              <a:srgbClr val="C8763A"/>
            </a:solidFill>
            <a:prstDash val="solid"/>
          </a:ln>
        </p:spPr>
      </p:sp>
      <p:sp>
        <p:nvSpPr>
          <p:cNvPr id="4" name="Text 2"/>
          <p:cNvSpPr txBox="1"/>
          <p:nvPr/>
        </p:nvSpPr>
        <p:spPr>
          <a:xfrm>
            <a:off x="548640" y="1188720"/>
            <a:ext cx="457200" cy="457200"/>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1</a:t>
            </a:r>
            <a:endParaRPr lang="en-US" sz="1700" dirty="0"/>
          </a:p>
        </p:txBody>
      </p:sp>
      <p:sp>
        <p:nvSpPr>
          <p:cNvPr id="5" name="Text 3"/>
          <p:cNvSpPr txBox="1"/>
          <p:nvPr/>
        </p:nvSpPr>
        <p:spPr>
          <a:xfrm>
            <a:off x="1234440" y="1097280"/>
            <a:ext cx="2926080" cy="640080"/>
          </a:xfrm>
          <a:prstGeom prst="rect">
            <a:avLst/>
          </a:prstGeom>
          <a:noFill/>
          <a:ln/>
        </p:spPr>
        <p:txBody>
          <a:bodyPr wrap="square" lIns="0" tIns="0" rIns="0" bIns="0" rtlCol="0" anchor="ctr"/>
          <a:lstStyle/>
          <a:p>
            <a:pPr indent="0" marL="0">
              <a:buNone/>
            </a:pPr>
            <a:r>
              <a:rPr lang="en-US" sz="1800" b="1" dirty="0">
                <a:solidFill>
                  <a:srgbClr val="0B1F33"/>
                </a:solidFill>
                <a:latin typeface="Calibri" pitchFamily="34" charset="0"/>
                <a:ea typeface="Calibri" pitchFamily="34" charset="-122"/>
                <a:cs typeface="Calibri" pitchFamily="34" charset="-120"/>
              </a:rPr>
              <a:t>More switches, same space</a:t>
            </a:r>
            <a:endParaRPr lang="en-US" sz="1800" dirty="0"/>
          </a:p>
        </p:txBody>
      </p:sp>
      <p:sp>
        <p:nvSpPr>
          <p:cNvPr id="6" name="Text 4"/>
          <p:cNvSpPr txBox="1"/>
          <p:nvPr/>
        </p:nvSpPr>
        <p:spPr>
          <a:xfrm>
            <a:off x="4206240" y="1097280"/>
            <a:ext cx="4480560" cy="640080"/>
          </a:xfrm>
          <a:prstGeom prst="rect">
            <a:avLst/>
          </a:prstGeom>
          <a:noFill/>
          <a:ln/>
        </p:spPr>
        <p:txBody>
          <a:bodyPr wrap="square" lIns="0" tIns="0" rIns="0" bIns="0" rtlCol="0" anchor="ctr"/>
          <a:lstStyle/>
          <a:p>
            <a:pPr indent="0" marL="0">
              <a:buNone/>
            </a:pPr>
            <a:r>
              <a:rPr lang="en-US" sz="1500" dirty="0">
                <a:solidFill>
                  <a:srgbClr val="14202E"/>
                </a:solidFill>
                <a:latin typeface="Calibri" pitchFamily="34" charset="0"/>
                <a:ea typeface="Calibri" pitchFamily="34" charset="-122"/>
                <a:cs typeface="Calibri" pitchFamily="34" charset="-120"/>
              </a:rPr>
              <a:t>More features in the same chip: better cameras, AI, games.</a:t>
            </a:r>
            <a:endParaRPr lang="en-US" sz="1500" dirty="0"/>
          </a:p>
        </p:txBody>
      </p:sp>
      <p:sp>
        <p:nvSpPr>
          <p:cNvPr id="7" name="Shape 5"/>
          <p:cNvSpPr/>
          <p:nvPr/>
        </p:nvSpPr>
        <p:spPr>
          <a:xfrm>
            <a:off x="548640" y="2057400"/>
            <a:ext cx="457200" cy="457200"/>
          </a:xfrm>
          <a:prstGeom prst="ellipse">
            <a:avLst/>
          </a:prstGeom>
          <a:solidFill>
            <a:srgbClr val="C8763A"/>
          </a:solidFill>
          <a:ln w="12700">
            <a:solidFill>
              <a:srgbClr val="C8763A"/>
            </a:solidFill>
            <a:prstDash val="solid"/>
          </a:ln>
        </p:spPr>
      </p:sp>
      <p:sp>
        <p:nvSpPr>
          <p:cNvPr id="8" name="Text 6"/>
          <p:cNvSpPr txBox="1"/>
          <p:nvPr/>
        </p:nvSpPr>
        <p:spPr>
          <a:xfrm>
            <a:off x="548640" y="2057400"/>
            <a:ext cx="457200" cy="457200"/>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2</a:t>
            </a:r>
            <a:endParaRPr lang="en-US" sz="1700" dirty="0"/>
          </a:p>
        </p:txBody>
      </p:sp>
      <p:sp>
        <p:nvSpPr>
          <p:cNvPr id="9" name="Text 7"/>
          <p:cNvSpPr txBox="1"/>
          <p:nvPr/>
        </p:nvSpPr>
        <p:spPr>
          <a:xfrm>
            <a:off x="1234440" y="1965960"/>
            <a:ext cx="2926080" cy="640080"/>
          </a:xfrm>
          <a:prstGeom prst="rect">
            <a:avLst/>
          </a:prstGeom>
          <a:noFill/>
          <a:ln/>
        </p:spPr>
        <p:txBody>
          <a:bodyPr wrap="square" lIns="0" tIns="0" rIns="0" bIns="0" rtlCol="0" anchor="ctr"/>
          <a:lstStyle/>
          <a:p>
            <a:pPr indent="0" marL="0">
              <a:buNone/>
            </a:pPr>
            <a:r>
              <a:rPr lang="en-US" sz="1800" b="1" dirty="0">
                <a:solidFill>
                  <a:srgbClr val="0B1F33"/>
                </a:solidFill>
                <a:latin typeface="Calibri" pitchFamily="34" charset="0"/>
                <a:ea typeface="Calibri" pitchFamily="34" charset="-122"/>
                <a:cs typeface="Calibri" pitchFamily="34" charset="-120"/>
              </a:rPr>
              <a:t>Faster</a:t>
            </a:r>
            <a:endParaRPr lang="en-US" sz="1800" dirty="0"/>
          </a:p>
        </p:txBody>
      </p:sp>
      <p:sp>
        <p:nvSpPr>
          <p:cNvPr id="10" name="Text 8"/>
          <p:cNvSpPr txBox="1"/>
          <p:nvPr/>
        </p:nvSpPr>
        <p:spPr>
          <a:xfrm>
            <a:off x="4206240" y="1965960"/>
            <a:ext cx="4480560" cy="640080"/>
          </a:xfrm>
          <a:prstGeom prst="rect">
            <a:avLst/>
          </a:prstGeom>
          <a:noFill/>
          <a:ln/>
        </p:spPr>
        <p:txBody>
          <a:bodyPr wrap="square" lIns="0" tIns="0" rIns="0" bIns="0" rtlCol="0" anchor="ctr"/>
          <a:lstStyle/>
          <a:p>
            <a:pPr indent="0" marL="0">
              <a:buNone/>
            </a:pPr>
            <a:r>
              <a:rPr lang="en-US" sz="1500" dirty="0">
                <a:solidFill>
                  <a:srgbClr val="14202E"/>
                </a:solidFill>
                <a:latin typeface="Calibri" pitchFamily="34" charset="0"/>
                <a:ea typeface="Calibri" pitchFamily="34" charset="-122"/>
                <a:cs typeface="Calibri" pitchFamily="34" charset="-120"/>
              </a:rPr>
              <a:t>Signals travel shorter distances, so the chip can work quicker.</a:t>
            </a:r>
            <a:endParaRPr lang="en-US" sz="1500" dirty="0"/>
          </a:p>
        </p:txBody>
      </p:sp>
      <p:sp>
        <p:nvSpPr>
          <p:cNvPr id="11" name="Shape 9"/>
          <p:cNvSpPr/>
          <p:nvPr/>
        </p:nvSpPr>
        <p:spPr>
          <a:xfrm>
            <a:off x="548640" y="2926080"/>
            <a:ext cx="457200" cy="457200"/>
          </a:xfrm>
          <a:prstGeom prst="ellipse">
            <a:avLst/>
          </a:prstGeom>
          <a:solidFill>
            <a:srgbClr val="C8763A"/>
          </a:solidFill>
          <a:ln w="12700">
            <a:solidFill>
              <a:srgbClr val="C8763A"/>
            </a:solidFill>
            <a:prstDash val="solid"/>
          </a:ln>
        </p:spPr>
      </p:sp>
      <p:sp>
        <p:nvSpPr>
          <p:cNvPr id="12" name="Text 10"/>
          <p:cNvSpPr txBox="1"/>
          <p:nvPr/>
        </p:nvSpPr>
        <p:spPr>
          <a:xfrm>
            <a:off x="548640" y="2926080"/>
            <a:ext cx="457200" cy="457200"/>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3</a:t>
            </a:r>
            <a:endParaRPr lang="en-US" sz="1700" dirty="0"/>
          </a:p>
        </p:txBody>
      </p:sp>
      <p:sp>
        <p:nvSpPr>
          <p:cNvPr id="13" name="Text 11"/>
          <p:cNvSpPr txBox="1"/>
          <p:nvPr/>
        </p:nvSpPr>
        <p:spPr>
          <a:xfrm>
            <a:off x="1234440" y="2834640"/>
            <a:ext cx="2926080" cy="640080"/>
          </a:xfrm>
          <a:prstGeom prst="rect">
            <a:avLst/>
          </a:prstGeom>
          <a:noFill/>
          <a:ln/>
        </p:spPr>
        <p:txBody>
          <a:bodyPr wrap="square" lIns="0" tIns="0" rIns="0" bIns="0" rtlCol="0" anchor="ctr"/>
          <a:lstStyle/>
          <a:p>
            <a:pPr indent="0" marL="0">
              <a:buNone/>
            </a:pPr>
            <a:r>
              <a:rPr lang="en-US" sz="1800" b="1" dirty="0">
                <a:solidFill>
                  <a:srgbClr val="0B1F33"/>
                </a:solidFill>
                <a:latin typeface="Calibri" pitchFamily="34" charset="0"/>
                <a:ea typeface="Calibri" pitchFamily="34" charset="-122"/>
                <a:cs typeface="Calibri" pitchFamily="34" charset="-120"/>
              </a:rPr>
              <a:t>Longer battery life</a:t>
            </a:r>
            <a:endParaRPr lang="en-US" sz="1800" dirty="0"/>
          </a:p>
        </p:txBody>
      </p:sp>
      <p:sp>
        <p:nvSpPr>
          <p:cNvPr id="14" name="Text 12"/>
          <p:cNvSpPr txBox="1"/>
          <p:nvPr/>
        </p:nvSpPr>
        <p:spPr>
          <a:xfrm>
            <a:off x="4206240" y="2834640"/>
            <a:ext cx="4480560" cy="640080"/>
          </a:xfrm>
          <a:prstGeom prst="rect">
            <a:avLst/>
          </a:prstGeom>
          <a:noFill/>
          <a:ln/>
        </p:spPr>
        <p:txBody>
          <a:bodyPr wrap="square" lIns="0" tIns="0" rIns="0" bIns="0" rtlCol="0" anchor="ctr"/>
          <a:lstStyle/>
          <a:p>
            <a:pPr indent="0" marL="0">
              <a:buNone/>
            </a:pPr>
            <a:r>
              <a:rPr lang="en-US" sz="1500" dirty="0">
                <a:solidFill>
                  <a:srgbClr val="14202E"/>
                </a:solidFill>
                <a:latin typeface="Calibri" pitchFamily="34" charset="0"/>
                <a:ea typeface="Calibri" pitchFamily="34" charset="-122"/>
                <a:cs typeface="Calibri" pitchFamily="34" charset="-120"/>
              </a:rPr>
              <a:t>Smaller switches need less energy to flip on and off.</a:t>
            </a:r>
            <a:endParaRPr lang="en-US" sz="1500" dirty="0"/>
          </a:p>
        </p:txBody>
      </p:sp>
      <p:sp>
        <p:nvSpPr>
          <p:cNvPr id="15" name="Shape 13"/>
          <p:cNvSpPr/>
          <p:nvPr/>
        </p:nvSpPr>
        <p:spPr>
          <a:xfrm>
            <a:off x="548640" y="3794760"/>
            <a:ext cx="457200" cy="457200"/>
          </a:xfrm>
          <a:prstGeom prst="ellipse">
            <a:avLst/>
          </a:prstGeom>
          <a:solidFill>
            <a:srgbClr val="C8763A"/>
          </a:solidFill>
          <a:ln w="12700">
            <a:solidFill>
              <a:srgbClr val="C8763A"/>
            </a:solidFill>
            <a:prstDash val="solid"/>
          </a:ln>
        </p:spPr>
      </p:sp>
      <p:sp>
        <p:nvSpPr>
          <p:cNvPr id="16" name="Text 14"/>
          <p:cNvSpPr txBox="1"/>
          <p:nvPr/>
        </p:nvSpPr>
        <p:spPr>
          <a:xfrm>
            <a:off x="548640" y="3794760"/>
            <a:ext cx="457200" cy="457200"/>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4</a:t>
            </a:r>
            <a:endParaRPr lang="en-US" sz="1700" dirty="0"/>
          </a:p>
        </p:txBody>
      </p:sp>
      <p:sp>
        <p:nvSpPr>
          <p:cNvPr id="17" name="Text 15"/>
          <p:cNvSpPr txBox="1"/>
          <p:nvPr/>
        </p:nvSpPr>
        <p:spPr>
          <a:xfrm>
            <a:off x="1234440" y="3703320"/>
            <a:ext cx="2926080" cy="640080"/>
          </a:xfrm>
          <a:prstGeom prst="rect">
            <a:avLst/>
          </a:prstGeom>
          <a:noFill/>
          <a:ln/>
        </p:spPr>
        <p:txBody>
          <a:bodyPr wrap="square" lIns="0" tIns="0" rIns="0" bIns="0" rtlCol="0" anchor="ctr"/>
          <a:lstStyle/>
          <a:p>
            <a:pPr indent="0" marL="0">
              <a:buNone/>
            </a:pPr>
            <a:r>
              <a:rPr lang="en-US" sz="1800" b="1" dirty="0">
                <a:solidFill>
                  <a:srgbClr val="0B1F33"/>
                </a:solidFill>
                <a:latin typeface="Calibri" pitchFamily="34" charset="0"/>
                <a:ea typeface="Calibri" pitchFamily="34" charset="-122"/>
                <a:cs typeface="Calibri" pitchFamily="34" charset="-120"/>
              </a:rPr>
              <a:t>Cheaper per switch</a:t>
            </a:r>
            <a:endParaRPr lang="en-US" sz="1800" dirty="0"/>
          </a:p>
        </p:txBody>
      </p:sp>
      <p:sp>
        <p:nvSpPr>
          <p:cNvPr id="18" name="Text 16"/>
          <p:cNvSpPr txBox="1"/>
          <p:nvPr/>
        </p:nvSpPr>
        <p:spPr>
          <a:xfrm>
            <a:off x="4206240" y="3703320"/>
            <a:ext cx="4480560" cy="640080"/>
          </a:xfrm>
          <a:prstGeom prst="rect">
            <a:avLst/>
          </a:prstGeom>
          <a:noFill/>
          <a:ln/>
        </p:spPr>
        <p:txBody>
          <a:bodyPr wrap="square" lIns="0" tIns="0" rIns="0" bIns="0" rtlCol="0" anchor="ctr"/>
          <a:lstStyle/>
          <a:p>
            <a:pPr indent="0" marL="0">
              <a:buNone/>
            </a:pPr>
            <a:r>
              <a:rPr lang="en-US" sz="1500" dirty="0">
                <a:solidFill>
                  <a:srgbClr val="14202E"/>
                </a:solidFill>
                <a:latin typeface="Calibri" pitchFamily="34" charset="0"/>
                <a:ea typeface="Calibri" pitchFamily="34" charset="-122"/>
                <a:cs typeface="Calibri" pitchFamily="34" charset="-120"/>
              </a:rPr>
              <a:t>More chips fit on each silicon wafer, so each one costs less.</a:t>
            </a:r>
            <a:endParaRPr lang="en-US" sz="15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7083"/>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2800" b="1" dirty="0">
                <a:solidFill>
                  <a:srgbClr val="0B1F33"/>
                </a:solidFill>
                <a:latin typeface="Cambria" pitchFamily="34" charset="0"/>
                <a:ea typeface="Cambria" pitchFamily="34" charset="-122"/>
                <a:cs typeface="Cambria" pitchFamily="34" charset="-120"/>
              </a:rPr>
              <a:t>“3nm” is a nickname, not a size</a:t>
            </a:r>
            <a:endParaRPr lang="en-US" sz="2800" dirty="0"/>
          </a:p>
        </p:txBody>
      </p:sp>
      <p:pic>
        <p:nvPicPr>
          <p:cNvPr id="3" name="Image 0" descr="“3nm” is a nickname, not a size">    </p:cNvPr>
          <p:cNvPicPr>
            <a:picLocks noChangeAspect="1"/>
          </p:cNvPicPr>
          <p:nvPr/>
        </p:nvPicPr>
        <p:blipFill>
          <a:blip r:embed="rId1"/>
          <a:stretch>
            <a:fillRect/>
          </a:stretch>
        </p:blipFill>
        <p:spPr>
          <a:xfrm>
            <a:off x="855406" y="1005840"/>
            <a:ext cx="7433187" cy="3291840"/>
          </a:xfrm>
          <a:prstGeom prst="rect">
            <a:avLst/>
          </a:prstGeom>
        </p:spPr>
      </p:pic>
      <p:sp>
        <p:nvSpPr>
          <p:cNvPr id="4" name="Text 1"/>
          <p:cNvSpPr txBox="1"/>
          <p:nvPr/>
        </p:nvSpPr>
        <p:spPr>
          <a:xfrm>
            <a:off x="457200" y="4370832"/>
            <a:ext cx="8229600" cy="365760"/>
          </a:xfrm>
          <a:prstGeom prst="rect">
            <a:avLst/>
          </a:prstGeom>
          <a:noFill/>
          <a:ln/>
        </p:spPr>
        <p:txBody>
          <a:bodyPr wrap="square" lIns="0" tIns="0" rIns="0" bIns="0" rtlCol="0" anchor="ctr"/>
          <a:lstStyle/>
          <a:p>
            <a:pPr algn="ctr" indent="0" marL="0">
              <a:buNone/>
            </a:pPr>
            <a:r>
              <a:rPr lang="en-US" sz="1500" b="1" dirty="0">
                <a:solidFill>
                  <a:srgbClr val="C8763A"/>
                </a:solidFill>
                <a:latin typeface="Calibri" pitchFamily="34" charset="0"/>
                <a:ea typeface="Calibri" pitchFamily="34" charset="-122"/>
                <a:cs typeface="Calibri" pitchFamily="34" charset="-120"/>
              </a:rPr>
              <a:t>Compare chips by what they do (speed, battery, cost), not by the nm in their name</a:t>
            </a:r>
            <a:endParaRPr lang="en-US" sz="15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7083"/>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2800" b="1" dirty="0">
                <a:solidFill>
                  <a:srgbClr val="0B1F33"/>
                </a:solidFill>
                <a:latin typeface="Cambria" pitchFamily="34" charset="0"/>
                <a:ea typeface="Cambria" pitchFamily="34" charset="-122"/>
                <a:cs typeface="Cambria" pitchFamily="34" charset="-120"/>
              </a:rPr>
              <a:t>Problem: tiny switches leak</a:t>
            </a:r>
            <a:endParaRPr lang="en-US" sz="2800" dirty="0"/>
          </a:p>
        </p:txBody>
      </p:sp>
      <p:pic>
        <p:nvPicPr>
          <p:cNvPr id="3" name="Image 0" descr="Problem: tiny switches leak">    </p:cNvPr>
          <p:cNvPicPr>
            <a:picLocks noChangeAspect="1"/>
          </p:cNvPicPr>
          <p:nvPr/>
        </p:nvPicPr>
        <p:blipFill>
          <a:blip r:embed="rId1"/>
          <a:stretch>
            <a:fillRect/>
          </a:stretch>
        </p:blipFill>
        <p:spPr>
          <a:xfrm>
            <a:off x="971550" y="1005840"/>
            <a:ext cx="7200900" cy="3291840"/>
          </a:xfrm>
          <a:prstGeom prst="rect">
            <a:avLst/>
          </a:prstGeom>
        </p:spPr>
      </p:pic>
      <p:sp>
        <p:nvSpPr>
          <p:cNvPr id="4" name="Text 1"/>
          <p:cNvSpPr txBox="1"/>
          <p:nvPr/>
        </p:nvSpPr>
        <p:spPr>
          <a:xfrm>
            <a:off x="457200" y="4370832"/>
            <a:ext cx="8229600" cy="365760"/>
          </a:xfrm>
          <a:prstGeom prst="rect">
            <a:avLst/>
          </a:prstGeom>
          <a:noFill/>
          <a:ln/>
        </p:spPr>
        <p:txBody>
          <a:bodyPr wrap="square" lIns="0" tIns="0" rIns="0" bIns="0" rtlCol="0" anchor="ctr"/>
          <a:lstStyle/>
          <a:p>
            <a:pPr algn="ctr" indent="0" marL="0">
              <a:buNone/>
            </a:pPr>
            <a:r>
              <a:rPr lang="en-US" sz="1500" b="1" dirty="0">
                <a:solidFill>
                  <a:srgbClr val="C8763A"/>
                </a:solidFill>
                <a:latin typeface="Calibri" pitchFamily="34" charset="0"/>
                <a:ea typeface="Calibri" pitchFamily="34" charset="-122"/>
                <a:cs typeface="Calibri" pitchFamily="34" charset="-120"/>
              </a:rPr>
              <a:t>More grip around the channel = less leaking = less wasted battery</a:t>
            </a:r>
            <a:endParaRPr lang="en-US" sz="15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7083"/>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2800" b="1" dirty="0">
                <a:solidFill>
                  <a:srgbClr val="0B1F33"/>
                </a:solidFill>
                <a:latin typeface="Cambria" pitchFamily="34" charset="0"/>
                <a:ea typeface="Cambria" pitchFamily="34" charset="-122"/>
                <a:cs typeface="Cambria" pitchFamily="34" charset="-120"/>
              </a:rPr>
              <a:t>When each switch design arrived</a:t>
            </a:r>
            <a:endParaRPr lang="en-US" sz="2800" dirty="0"/>
          </a:p>
        </p:txBody>
      </p:sp>
      <p:sp>
        <p:nvSpPr>
          <p:cNvPr id="3" name="Shape 1"/>
          <p:cNvSpPr/>
          <p:nvPr/>
        </p:nvSpPr>
        <p:spPr>
          <a:xfrm>
            <a:off x="640080" y="2240280"/>
            <a:ext cx="7863840" cy="0"/>
          </a:xfrm>
          <a:prstGeom prst="line">
            <a:avLst/>
          </a:prstGeom>
          <a:noFill/>
          <a:ln w="38100">
            <a:solidFill>
              <a:srgbClr val="D5DDE5"/>
            </a:solidFill>
            <a:prstDash val="solid"/>
          </a:ln>
        </p:spPr>
      </p:sp>
      <p:sp>
        <p:nvSpPr>
          <p:cNvPr id="4" name="Shape 2"/>
          <p:cNvSpPr/>
          <p:nvPr/>
        </p:nvSpPr>
        <p:spPr>
          <a:xfrm>
            <a:off x="822960" y="2057400"/>
            <a:ext cx="365760" cy="365760"/>
          </a:xfrm>
          <a:prstGeom prst="ellipse">
            <a:avLst/>
          </a:prstGeom>
          <a:solidFill>
            <a:srgbClr val="5B7083"/>
          </a:solidFill>
          <a:ln w="25400">
            <a:solidFill>
              <a:srgbClr val="FFFFFF"/>
            </a:solidFill>
            <a:prstDash val="solid"/>
          </a:ln>
        </p:spPr>
      </p:sp>
      <p:sp>
        <p:nvSpPr>
          <p:cNvPr id="5" name="Text 3"/>
          <p:cNvSpPr txBox="1"/>
          <p:nvPr/>
        </p:nvSpPr>
        <p:spPr>
          <a:xfrm>
            <a:off x="228600" y="1417320"/>
            <a:ext cx="1554480" cy="457200"/>
          </a:xfrm>
          <a:prstGeom prst="rect">
            <a:avLst/>
          </a:prstGeom>
          <a:noFill/>
          <a:ln/>
        </p:spPr>
        <p:txBody>
          <a:bodyPr wrap="square" lIns="0" tIns="0" rIns="0" bIns="0" rtlCol="0" anchor="b"/>
          <a:lstStyle/>
          <a:p>
            <a:pPr algn="ctr" indent="0" marL="0">
              <a:buNone/>
            </a:pPr>
            <a:r>
              <a:rPr lang="en-US" sz="1600" b="1" dirty="0">
                <a:solidFill>
                  <a:srgbClr val="5B7083"/>
                </a:solidFill>
                <a:latin typeface="Calibri" pitchFamily="34" charset="0"/>
                <a:ea typeface="Calibri" pitchFamily="34" charset="-122"/>
                <a:cs typeface="Calibri" pitchFamily="34" charset="-120"/>
              </a:rPr>
              <a:t>Before 2011</a:t>
            </a:r>
            <a:endParaRPr lang="en-US" sz="1600" dirty="0"/>
          </a:p>
        </p:txBody>
      </p:sp>
      <p:sp>
        <p:nvSpPr>
          <p:cNvPr id="6" name="Text 4"/>
          <p:cNvSpPr txBox="1"/>
          <p:nvPr/>
        </p:nvSpPr>
        <p:spPr>
          <a:xfrm>
            <a:off x="228600" y="2606040"/>
            <a:ext cx="1554480" cy="548640"/>
          </a:xfrm>
          <a:prstGeom prst="rect">
            <a:avLst/>
          </a:prstGeom>
          <a:noFill/>
          <a:ln/>
        </p:spPr>
        <p:txBody>
          <a:bodyPr wrap="square" lIns="0" tIns="0" rIns="0" bIns="0" rtlCol="0" anchor="t"/>
          <a:lstStyle/>
          <a:p>
            <a:pPr algn="ctr" indent="0" marL="0">
              <a:buNone/>
            </a:pPr>
            <a:r>
              <a:rPr lang="en-US" sz="1500" b="1" dirty="0">
                <a:solidFill>
                  <a:srgbClr val="0B1F33"/>
                </a:solidFill>
                <a:latin typeface="Calibri" pitchFamily="34" charset="0"/>
                <a:ea typeface="Calibri" pitchFamily="34" charset="-122"/>
                <a:cs typeface="Calibri" pitchFamily="34" charset="-120"/>
              </a:rPr>
              <a:t>Flat switches</a:t>
            </a:r>
            <a:endParaRPr lang="en-US" sz="1500" dirty="0"/>
          </a:p>
        </p:txBody>
      </p:sp>
      <p:sp>
        <p:nvSpPr>
          <p:cNvPr id="7" name="Text 5"/>
          <p:cNvSpPr txBox="1"/>
          <p:nvPr/>
        </p:nvSpPr>
        <p:spPr>
          <a:xfrm>
            <a:off x="228600" y="3154680"/>
            <a:ext cx="1554480" cy="822960"/>
          </a:xfrm>
          <a:prstGeom prst="rect">
            <a:avLst/>
          </a:prstGeom>
          <a:noFill/>
          <a:ln/>
        </p:spPr>
        <p:txBody>
          <a:bodyPr wrap="square" lIns="0" tIns="0" rIns="0" bIns="0" rtlCol="0" anchor="t"/>
          <a:lstStyle/>
          <a:p>
            <a:pPr algn="ctr" indent="0" marL="0">
              <a:buNone/>
            </a:pPr>
            <a:r>
              <a:rPr lang="en-US" sz="1300" dirty="0">
                <a:solidFill>
                  <a:srgbClr val="5B7083"/>
                </a:solidFill>
                <a:latin typeface="Calibri" pitchFamily="34" charset="0"/>
                <a:ea typeface="Calibri" pitchFamily="34" charset="-122"/>
                <a:cs typeface="Calibri" pitchFamily="34" charset="-120"/>
              </a:rPr>
              <a:t>Gate on 1 side</a:t>
            </a:r>
            <a:endParaRPr lang="en-US" sz="1300" dirty="0"/>
          </a:p>
        </p:txBody>
      </p:sp>
      <p:sp>
        <p:nvSpPr>
          <p:cNvPr id="8" name="Shape 6"/>
          <p:cNvSpPr/>
          <p:nvPr/>
        </p:nvSpPr>
        <p:spPr>
          <a:xfrm>
            <a:off x="2606040" y="2057400"/>
            <a:ext cx="365760" cy="365760"/>
          </a:xfrm>
          <a:prstGeom prst="ellipse">
            <a:avLst/>
          </a:prstGeom>
          <a:solidFill>
            <a:srgbClr val="0B1F33"/>
          </a:solidFill>
          <a:ln w="25400">
            <a:solidFill>
              <a:srgbClr val="FFFFFF"/>
            </a:solidFill>
            <a:prstDash val="solid"/>
          </a:ln>
        </p:spPr>
      </p:sp>
      <p:sp>
        <p:nvSpPr>
          <p:cNvPr id="9" name="Text 7"/>
          <p:cNvSpPr txBox="1"/>
          <p:nvPr/>
        </p:nvSpPr>
        <p:spPr>
          <a:xfrm>
            <a:off x="2011680" y="1417320"/>
            <a:ext cx="1554480" cy="457200"/>
          </a:xfrm>
          <a:prstGeom prst="rect">
            <a:avLst/>
          </a:prstGeom>
          <a:noFill/>
          <a:ln/>
        </p:spPr>
        <p:txBody>
          <a:bodyPr wrap="square" lIns="0" tIns="0" rIns="0" bIns="0" rtlCol="0" anchor="b"/>
          <a:lstStyle/>
          <a:p>
            <a:pPr algn="ctr" indent="0" marL="0">
              <a:buNone/>
            </a:pPr>
            <a:r>
              <a:rPr lang="en-US" sz="1600" b="1" dirty="0">
                <a:solidFill>
                  <a:srgbClr val="0B1F33"/>
                </a:solidFill>
                <a:latin typeface="Calibri" pitchFamily="34" charset="0"/>
                <a:ea typeface="Calibri" pitchFamily="34" charset="-122"/>
                <a:cs typeface="Calibri" pitchFamily="34" charset="-120"/>
              </a:rPr>
              <a:t>2011</a:t>
            </a:r>
            <a:endParaRPr lang="en-US" sz="1600" dirty="0"/>
          </a:p>
        </p:txBody>
      </p:sp>
      <p:sp>
        <p:nvSpPr>
          <p:cNvPr id="10" name="Text 8"/>
          <p:cNvSpPr txBox="1"/>
          <p:nvPr/>
        </p:nvSpPr>
        <p:spPr>
          <a:xfrm>
            <a:off x="2011680" y="2606040"/>
            <a:ext cx="1554480" cy="548640"/>
          </a:xfrm>
          <a:prstGeom prst="rect">
            <a:avLst/>
          </a:prstGeom>
          <a:noFill/>
          <a:ln/>
        </p:spPr>
        <p:txBody>
          <a:bodyPr wrap="square" lIns="0" tIns="0" rIns="0" bIns="0" rtlCol="0" anchor="t"/>
          <a:lstStyle/>
          <a:p>
            <a:pPr algn="ctr" indent="0" marL="0">
              <a:buNone/>
            </a:pPr>
            <a:r>
              <a:rPr lang="en-US" sz="1500" b="1" dirty="0">
                <a:solidFill>
                  <a:srgbClr val="0B1F33"/>
                </a:solidFill>
                <a:latin typeface="Calibri" pitchFamily="34" charset="0"/>
                <a:ea typeface="Calibri" pitchFamily="34" charset="-122"/>
                <a:cs typeface="Calibri" pitchFamily="34" charset="-120"/>
              </a:rPr>
              <a:t>FinFET</a:t>
            </a:r>
            <a:endParaRPr lang="en-US" sz="1500" dirty="0"/>
          </a:p>
        </p:txBody>
      </p:sp>
      <p:sp>
        <p:nvSpPr>
          <p:cNvPr id="11" name="Text 9"/>
          <p:cNvSpPr txBox="1"/>
          <p:nvPr/>
        </p:nvSpPr>
        <p:spPr>
          <a:xfrm>
            <a:off x="2011680" y="3154680"/>
            <a:ext cx="1554480" cy="822960"/>
          </a:xfrm>
          <a:prstGeom prst="rect">
            <a:avLst/>
          </a:prstGeom>
          <a:noFill/>
          <a:ln/>
        </p:spPr>
        <p:txBody>
          <a:bodyPr wrap="square" lIns="0" tIns="0" rIns="0" bIns="0" rtlCol="0" anchor="t"/>
          <a:lstStyle/>
          <a:p>
            <a:pPr algn="ctr" indent="0" marL="0">
              <a:buNone/>
            </a:pPr>
            <a:r>
              <a:rPr lang="en-US" sz="1300" dirty="0">
                <a:solidFill>
                  <a:srgbClr val="5B7083"/>
                </a:solidFill>
                <a:latin typeface="Calibri" pitchFamily="34" charset="0"/>
                <a:ea typeface="Calibri" pitchFamily="34" charset="-122"/>
                <a:cs typeface="Calibri" pitchFamily="34" charset="-120"/>
              </a:rPr>
              <a:t>Intel first; gate on 3 sides</a:t>
            </a:r>
            <a:endParaRPr lang="en-US" sz="1300" dirty="0"/>
          </a:p>
        </p:txBody>
      </p:sp>
      <p:sp>
        <p:nvSpPr>
          <p:cNvPr id="12" name="Shape 10"/>
          <p:cNvSpPr/>
          <p:nvPr/>
        </p:nvSpPr>
        <p:spPr>
          <a:xfrm>
            <a:off x="4389120" y="2057400"/>
            <a:ext cx="365760" cy="365760"/>
          </a:xfrm>
          <a:prstGeom prst="ellipse">
            <a:avLst/>
          </a:prstGeom>
          <a:solidFill>
            <a:srgbClr val="2A9D8F"/>
          </a:solidFill>
          <a:ln w="25400">
            <a:solidFill>
              <a:srgbClr val="FFFFFF"/>
            </a:solidFill>
            <a:prstDash val="solid"/>
          </a:ln>
        </p:spPr>
      </p:sp>
      <p:sp>
        <p:nvSpPr>
          <p:cNvPr id="13" name="Text 11"/>
          <p:cNvSpPr txBox="1"/>
          <p:nvPr/>
        </p:nvSpPr>
        <p:spPr>
          <a:xfrm>
            <a:off x="3794760" y="1417320"/>
            <a:ext cx="1554480" cy="457200"/>
          </a:xfrm>
          <a:prstGeom prst="rect">
            <a:avLst/>
          </a:prstGeom>
          <a:noFill/>
          <a:ln/>
        </p:spPr>
        <p:txBody>
          <a:bodyPr wrap="square" lIns="0" tIns="0" rIns="0" bIns="0" rtlCol="0" anchor="b"/>
          <a:lstStyle/>
          <a:p>
            <a:pPr algn="ctr" indent="0" marL="0">
              <a:buNone/>
            </a:pPr>
            <a:r>
              <a:rPr lang="en-US" sz="1600" b="1" dirty="0">
                <a:solidFill>
                  <a:srgbClr val="2A9D8F"/>
                </a:solidFill>
                <a:latin typeface="Calibri" pitchFamily="34" charset="0"/>
                <a:ea typeface="Calibri" pitchFamily="34" charset="-122"/>
                <a:cs typeface="Calibri" pitchFamily="34" charset="-120"/>
              </a:rPr>
              <a:t>2022</a:t>
            </a:r>
            <a:endParaRPr lang="en-US" sz="1600" dirty="0"/>
          </a:p>
        </p:txBody>
      </p:sp>
      <p:sp>
        <p:nvSpPr>
          <p:cNvPr id="14" name="Text 12"/>
          <p:cNvSpPr txBox="1"/>
          <p:nvPr/>
        </p:nvSpPr>
        <p:spPr>
          <a:xfrm>
            <a:off x="3794760" y="2606040"/>
            <a:ext cx="1554480" cy="548640"/>
          </a:xfrm>
          <a:prstGeom prst="rect">
            <a:avLst/>
          </a:prstGeom>
          <a:noFill/>
          <a:ln/>
        </p:spPr>
        <p:txBody>
          <a:bodyPr wrap="square" lIns="0" tIns="0" rIns="0" bIns="0" rtlCol="0" anchor="t"/>
          <a:lstStyle/>
          <a:p>
            <a:pPr algn="ctr" indent="0" marL="0">
              <a:buNone/>
            </a:pPr>
            <a:r>
              <a:rPr lang="en-US" sz="1500" b="1" dirty="0">
                <a:solidFill>
                  <a:srgbClr val="0B1F33"/>
                </a:solidFill>
                <a:latin typeface="Calibri" pitchFamily="34" charset="0"/>
                <a:ea typeface="Calibri" pitchFamily="34" charset="-122"/>
                <a:cs typeface="Calibri" pitchFamily="34" charset="-120"/>
              </a:rPr>
              <a:t>Gate-all-around</a:t>
            </a:r>
            <a:endParaRPr lang="en-US" sz="1500" dirty="0"/>
          </a:p>
        </p:txBody>
      </p:sp>
      <p:sp>
        <p:nvSpPr>
          <p:cNvPr id="15" name="Text 13"/>
          <p:cNvSpPr txBox="1"/>
          <p:nvPr/>
        </p:nvSpPr>
        <p:spPr>
          <a:xfrm>
            <a:off x="3794760" y="3154680"/>
            <a:ext cx="1554480" cy="822960"/>
          </a:xfrm>
          <a:prstGeom prst="rect">
            <a:avLst/>
          </a:prstGeom>
          <a:noFill/>
          <a:ln/>
        </p:spPr>
        <p:txBody>
          <a:bodyPr wrap="square" lIns="0" tIns="0" rIns="0" bIns="0" rtlCol="0" anchor="t"/>
          <a:lstStyle/>
          <a:p>
            <a:pPr algn="ctr" indent="0" marL="0">
              <a:buNone/>
            </a:pPr>
            <a:r>
              <a:rPr lang="en-US" sz="1300" dirty="0">
                <a:solidFill>
                  <a:srgbClr val="5B7083"/>
                </a:solidFill>
                <a:latin typeface="Calibri" pitchFamily="34" charset="0"/>
                <a:ea typeface="Calibri" pitchFamily="34" charset="-122"/>
                <a:cs typeface="Calibri" pitchFamily="34" charset="-120"/>
              </a:rPr>
              <a:t>Samsung first; gate on 4 sides</a:t>
            </a:r>
            <a:endParaRPr lang="en-US" sz="1300" dirty="0"/>
          </a:p>
        </p:txBody>
      </p:sp>
      <p:sp>
        <p:nvSpPr>
          <p:cNvPr id="16" name="Shape 14"/>
          <p:cNvSpPr/>
          <p:nvPr/>
        </p:nvSpPr>
        <p:spPr>
          <a:xfrm>
            <a:off x="6172200" y="2057400"/>
            <a:ext cx="365760" cy="365760"/>
          </a:xfrm>
          <a:prstGeom prst="ellipse">
            <a:avLst/>
          </a:prstGeom>
          <a:solidFill>
            <a:srgbClr val="2A9D8F"/>
          </a:solidFill>
          <a:ln w="25400">
            <a:solidFill>
              <a:srgbClr val="FFFFFF"/>
            </a:solidFill>
            <a:prstDash val="solid"/>
          </a:ln>
        </p:spPr>
      </p:sp>
      <p:sp>
        <p:nvSpPr>
          <p:cNvPr id="17" name="Text 15"/>
          <p:cNvSpPr txBox="1"/>
          <p:nvPr/>
        </p:nvSpPr>
        <p:spPr>
          <a:xfrm>
            <a:off x="5577840" y="1417320"/>
            <a:ext cx="1554480" cy="457200"/>
          </a:xfrm>
          <a:prstGeom prst="rect">
            <a:avLst/>
          </a:prstGeom>
          <a:noFill/>
          <a:ln/>
        </p:spPr>
        <p:txBody>
          <a:bodyPr wrap="square" lIns="0" tIns="0" rIns="0" bIns="0" rtlCol="0" anchor="b"/>
          <a:lstStyle/>
          <a:p>
            <a:pPr algn="ctr" indent="0" marL="0">
              <a:buNone/>
            </a:pPr>
            <a:r>
              <a:rPr lang="en-US" sz="1600" b="1" dirty="0">
                <a:solidFill>
                  <a:srgbClr val="2A9D8F"/>
                </a:solidFill>
                <a:latin typeface="Calibri" pitchFamily="34" charset="0"/>
                <a:ea typeface="Calibri" pitchFamily="34" charset="-122"/>
                <a:cs typeface="Calibri" pitchFamily="34" charset="-120"/>
              </a:rPr>
              <a:t>2025</a:t>
            </a:r>
            <a:endParaRPr lang="en-US" sz="1600" dirty="0"/>
          </a:p>
        </p:txBody>
      </p:sp>
      <p:sp>
        <p:nvSpPr>
          <p:cNvPr id="18" name="Text 16"/>
          <p:cNvSpPr txBox="1"/>
          <p:nvPr/>
        </p:nvSpPr>
        <p:spPr>
          <a:xfrm>
            <a:off x="5577840" y="2606040"/>
            <a:ext cx="1554480" cy="548640"/>
          </a:xfrm>
          <a:prstGeom prst="rect">
            <a:avLst/>
          </a:prstGeom>
          <a:noFill/>
          <a:ln/>
        </p:spPr>
        <p:txBody>
          <a:bodyPr wrap="square" lIns="0" tIns="0" rIns="0" bIns="0" rtlCol="0" anchor="t"/>
          <a:lstStyle/>
          <a:p>
            <a:pPr algn="ctr" indent="0" marL="0">
              <a:buNone/>
            </a:pPr>
            <a:r>
              <a:rPr lang="en-US" sz="1500" b="1" dirty="0">
                <a:solidFill>
                  <a:srgbClr val="0B1F33"/>
                </a:solidFill>
                <a:latin typeface="Calibri" pitchFamily="34" charset="0"/>
                <a:ea typeface="Calibri" pitchFamily="34" charset="-122"/>
                <a:cs typeface="Calibri" pitchFamily="34" charset="-120"/>
              </a:rPr>
              <a:t>TSMC &amp; Intel go GAA</a:t>
            </a:r>
            <a:endParaRPr lang="en-US" sz="1500" dirty="0"/>
          </a:p>
        </p:txBody>
      </p:sp>
      <p:sp>
        <p:nvSpPr>
          <p:cNvPr id="19" name="Text 17"/>
          <p:cNvSpPr txBox="1"/>
          <p:nvPr/>
        </p:nvSpPr>
        <p:spPr>
          <a:xfrm>
            <a:off x="5577840" y="3154680"/>
            <a:ext cx="1554480" cy="822960"/>
          </a:xfrm>
          <a:prstGeom prst="rect">
            <a:avLst/>
          </a:prstGeom>
          <a:noFill/>
          <a:ln/>
        </p:spPr>
        <p:txBody>
          <a:bodyPr wrap="square" lIns="0" tIns="0" rIns="0" bIns="0" rtlCol="0" anchor="t"/>
          <a:lstStyle/>
          <a:p>
            <a:pPr algn="ctr" indent="0" marL="0">
              <a:buNone/>
            </a:pPr>
            <a:r>
              <a:rPr lang="en-US" sz="1300" dirty="0">
                <a:solidFill>
                  <a:srgbClr val="5B7083"/>
                </a:solidFill>
                <a:latin typeface="Calibri" pitchFamily="34" charset="0"/>
                <a:ea typeface="Calibri" pitchFamily="34" charset="-122"/>
                <a:cs typeface="Calibri" pitchFamily="34" charset="-120"/>
              </a:rPr>
              <a:t>Used in the newest phone and AI chips</a:t>
            </a:r>
            <a:endParaRPr lang="en-US" sz="1300" dirty="0"/>
          </a:p>
        </p:txBody>
      </p:sp>
      <p:sp>
        <p:nvSpPr>
          <p:cNvPr id="20" name="Shape 18"/>
          <p:cNvSpPr/>
          <p:nvPr/>
        </p:nvSpPr>
        <p:spPr>
          <a:xfrm>
            <a:off x="7955280" y="2057400"/>
            <a:ext cx="365760" cy="365760"/>
          </a:xfrm>
          <a:prstGeom prst="ellipse">
            <a:avLst/>
          </a:prstGeom>
          <a:solidFill>
            <a:srgbClr val="C8763A"/>
          </a:solidFill>
          <a:ln w="25400">
            <a:solidFill>
              <a:srgbClr val="FFFFFF"/>
            </a:solidFill>
            <a:prstDash val="solid"/>
          </a:ln>
        </p:spPr>
      </p:sp>
      <p:sp>
        <p:nvSpPr>
          <p:cNvPr id="21" name="Text 19"/>
          <p:cNvSpPr txBox="1"/>
          <p:nvPr/>
        </p:nvSpPr>
        <p:spPr>
          <a:xfrm>
            <a:off x="7360920" y="1417320"/>
            <a:ext cx="1554480" cy="457200"/>
          </a:xfrm>
          <a:prstGeom prst="rect">
            <a:avLst/>
          </a:prstGeom>
          <a:noFill/>
          <a:ln/>
        </p:spPr>
        <p:txBody>
          <a:bodyPr wrap="square" lIns="0" tIns="0" rIns="0" bIns="0" rtlCol="0" anchor="b"/>
          <a:lstStyle/>
          <a:p>
            <a:pPr algn="ctr" indent="0" marL="0">
              <a:buNone/>
            </a:pPr>
            <a:r>
              <a:rPr lang="en-US" sz="1600" b="1" dirty="0">
                <a:solidFill>
                  <a:srgbClr val="C8763A"/>
                </a:solidFill>
                <a:latin typeface="Calibri" pitchFamily="34" charset="0"/>
                <a:ea typeface="Calibri" pitchFamily="34" charset="-122"/>
                <a:cs typeface="Calibri" pitchFamily="34" charset="-120"/>
              </a:rPr>
              <a:t>2030s</a:t>
            </a:r>
            <a:endParaRPr lang="en-US" sz="1600" dirty="0"/>
          </a:p>
        </p:txBody>
      </p:sp>
      <p:sp>
        <p:nvSpPr>
          <p:cNvPr id="22" name="Text 20"/>
          <p:cNvSpPr txBox="1"/>
          <p:nvPr/>
        </p:nvSpPr>
        <p:spPr>
          <a:xfrm>
            <a:off x="7360920" y="2606040"/>
            <a:ext cx="1554480" cy="548640"/>
          </a:xfrm>
          <a:prstGeom prst="rect">
            <a:avLst/>
          </a:prstGeom>
          <a:noFill/>
          <a:ln/>
        </p:spPr>
        <p:txBody>
          <a:bodyPr wrap="square" lIns="0" tIns="0" rIns="0" bIns="0" rtlCol="0" anchor="t"/>
          <a:lstStyle/>
          <a:p>
            <a:pPr algn="ctr" indent="0" marL="0">
              <a:buNone/>
            </a:pPr>
            <a:r>
              <a:rPr lang="en-US" sz="1500" b="1" dirty="0">
                <a:solidFill>
                  <a:srgbClr val="0B1F33"/>
                </a:solidFill>
                <a:latin typeface="Calibri" pitchFamily="34" charset="0"/>
                <a:ea typeface="Calibri" pitchFamily="34" charset="-122"/>
                <a:cs typeface="Calibri" pitchFamily="34" charset="-120"/>
              </a:rPr>
              <a:t>Stacked switches</a:t>
            </a:r>
            <a:endParaRPr lang="en-US" sz="1500" dirty="0"/>
          </a:p>
        </p:txBody>
      </p:sp>
      <p:sp>
        <p:nvSpPr>
          <p:cNvPr id="23" name="Text 21"/>
          <p:cNvSpPr txBox="1"/>
          <p:nvPr/>
        </p:nvSpPr>
        <p:spPr>
          <a:xfrm>
            <a:off x="7360920" y="3154680"/>
            <a:ext cx="1554480" cy="822960"/>
          </a:xfrm>
          <a:prstGeom prst="rect">
            <a:avLst/>
          </a:prstGeom>
          <a:noFill/>
          <a:ln/>
        </p:spPr>
        <p:txBody>
          <a:bodyPr wrap="square" lIns="0" tIns="0" rIns="0" bIns="0" rtlCol="0" anchor="t"/>
          <a:lstStyle/>
          <a:p>
            <a:pPr algn="ctr" indent="0" marL="0">
              <a:buNone/>
            </a:pPr>
            <a:r>
              <a:rPr lang="en-US" sz="1300" dirty="0">
                <a:solidFill>
                  <a:srgbClr val="5B7083"/>
                </a:solidFill>
                <a:latin typeface="Calibri" pitchFamily="34" charset="0"/>
                <a:ea typeface="Calibri" pitchFamily="34" charset="-122"/>
                <a:cs typeface="Calibri" pitchFamily="34" charset="-120"/>
              </a:rPr>
              <a:t>Two switches on top of each other</a:t>
            </a:r>
            <a:endParaRPr lang="en-US" sz="1300" dirty="0"/>
          </a:p>
        </p:txBody>
      </p:sp>
      <p:sp>
        <p:nvSpPr>
          <p:cNvPr id="24" name="Text 22"/>
          <p:cNvSpPr txBox="1"/>
          <p:nvPr/>
        </p:nvSpPr>
        <p:spPr>
          <a:xfrm>
            <a:off x="457200" y="4206240"/>
            <a:ext cx="8229600" cy="365760"/>
          </a:xfrm>
          <a:prstGeom prst="rect">
            <a:avLst/>
          </a:prstGeom>
          <a:noFill/>
          <a:ln/>
        </p:spPr>
        <p:txBody>
          <a:bodyPr wrap="square" lIns="0" tIns="0" rIns="0" bIns="0" rtlCol="0" anchor="t"/>
          <a:lstStyle/>
          <a:p>
            <a:pPr algn="ctr" indent="0" marL="0">
              <a:buNone/>
            </a:pPr>
            <a:r>
              <a:rPr lang="en-US" sz="1400" i="1" dirty="0">
                <a:solidFill>
                  <a:srgbClr val="C8763A"/>
                </a:solidFill>
                <a:latin typeface="Calibri" pitchFamily="34" charset="0"/>
                <a:ea typeface="Calibri" pitchFamily="34" charset="-122"/>
                <a:cs typeface="Calibri" pitchFamily="34" charset="-120"/>
              </a:rPr>
              <a:t>Each change took about 10 years of research before reaching your phone.</a:t>
            </a:r>
            <a:endParaRPr lang="en-US" sz="14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7083"/>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2800" b="1" dirty="0">
                <a:solidFill>
                  <a:srgbClr val="0B1F33"/>
                </a:solidFill>
                <a:latin typeface="Cambria" pitchFamily="34" charset="0"/>
                <a:ea typeface="Cambria" pitchFamily="34" charset="-122"/>
                <a:cs typeface="Cambria" pitchFamily="34" charset="-120"/>
              </a:rPr>
              <a:t>How a gate-all-around switch is built</a:t>
            </a:r>
            <a:endParaRPr lang="en-US" sz="2800" dirty="0"/>
          </a:p>
        </p:txBody>
      </p:sp>
      <p:pic>
        <p:nvPicPr>
          <p:cNvPr id="3" name="Image 0" descr="How a gate-all-around switch is built">    </p:cNvPr>
          <p:cNvPicPr>
            <a:picLocks noChangeAspect="1"/>
          </p:cNvPicPr>
          <p:nvPr/>
        </p:nvPicPr>
        <p:blipFill>
          <a:blip r:embed="rId1"/>
          <a:stretch>
            <a:fillRect/>
          </a:stretch>
        </p:blipFill>
        <p:spPr>
          <a:xfrm>
            <a:off x="731520" y="1005840"/>
            <a:ext cx="7680960" cy="3291840"/>
          </a:xfrm>
          <a:prstGeom prst="rect">
            <a:avLst/>
          </a:prstGeom>
        </p:spPr>
      </p:pic>
      <p:sp>
        <p:nvSpPr>
          <p:cNvPr id="4" name="Text 1"/>
          <p:cNvSpPr txBox="1"/>
          <p:nvPr/>
        </p:nvSpPr>
        <p:spPr>
          <a:xfrm>
            <a:off x="457200" y="4370832"/>
            <a:ext cx="8229600" cy="365760"/>
          </a:xfrm>
          <a:prstGeom prst="rect">
            <a:avLst/>
          </a:prstGeom>
          <a:noFill/>
          <a:ln/>
        </p:spPr>
        <p:txBody>
          <a:bodyPr wrap="square" lIns="0" tIns="0" rIns="0" bIns="0" rtlCol="0" anchor="ctr"/>
          <a:lstStyle/>
          <a:p>
            <a:pPr algn="ctr" indent="0" marL="0">
              <a:buNone/>
            </a:pPr>
            <a:r>
              <a:rPr lang="en-US" sz="1500" b="1" dirty="0">
                <a:solidFill>
                  <a:srgbClr val="C8763A"/>
                </a:solidFill>
                <a:latin typeface="Calibri" pitchFamily="34" charset="0"/>
                <a:ea typeface="Calibri" pitchFamily="34" charset="-122"/>
                <a:cs typeface="Calibri" pitchFamily="34" charset="-120"/>
              </a:rPr>
              <a:t>Build a layer cake, remove the jam, pour the gate into the gaps</a:t>
            </a:r>
            <a:endParaRPr lang="en-US" sz="15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7083"/>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2800" b="1" dirty="0">
                <a:solidFill>
                  <a:srgbClr val="0B1F33"/>
                </a:solidFill>
                <a:latin typeface="Cambria" pitchFamily="34" charset="0"/>
                <a:ea typeface="Cambria" pitchFamily="34" charset="-122"/>
                <a:cs typeface="Cambria" pitchFamily="34" charset="-120"/>
              </a:rPr>
              <a:t>Next trick: power from underneath</a:t>
            </a:r>
            <a:endParaRPr lang="en-US" sz="2800" dirty="0"/>
          </a:p>
        </p:txBody>
      </p:sp>
      <p:pic>
        <p:nvPicPr>
          <p:cNvPr id="3" name="Image 0" descr="Next trick: power from underneath">    </p:cNvPr>
          <p:cNvPicPr>
            <a:picLocks noChangeAspect="1"/>
          </p:cNvPicPr>
          <p:nvPr/>
        </p:nvPicPr>
        <p:blipFill>
          <a:blip r:embed="rId1"/>
          <a:stretch>
            <a:fillRect/>
          </a:stretch>
        </p:blipFill>
        <p:spPr>
          <a:xfrm>
            <a:off x="971550" y="1005840"/>
            <a:ext cx="7200900" cy="3291840"/>
          </a:xfrm>
          <a:prstGeom prst="rect">
            <a:avLst/>
          </a:prstGeom>
        </p:spPr>
      </p:pic>
      <p:sp>
        <p:nvSpPr>
          <p:cNvPr id="4" name="Text 1"/>
          <p:cNvSpPr txBox="1"/>
          <p:nvPr/>
        </p:nvSpPr>
        <p:spPr>
          <a:xfrm>
            <a:off x="457200" y="4370832"/>
            <a:ext cx="8229600" cy="365760"/>
          </a:xfrm>
          <a:prstGeom prst="rect">
            <a:avLst/>
          </a:prstGeom>
          <a:noFill/>
          <a:ln/>
        </p:spPr>
        <p:txBody>
          <a:bodyPr wrap="square" lIns="0" tIns="0" rIns="0" bIns="0" rtlCol="0" anchor="ctr"/>
          <a:lstStyle/>
          <a:p>
            <a:pPr algn="ctr" indent="0" marL="0">
              <a:buNone/>
            </a:pPr>
            <a:r>
              <a:rPr lang="en-US" sz="1500" b="1" dirty="0">
                <a:solidFill>
                  <a:srgbClr val="C8763A"/>
                </a:solidFill>
                <a:latin typeface="Calibri" pitchFamily="34" charset="0"/>
                <a:ea typeface="Calibri" pitchFamily="34" charset="-122"/>
                <a:cs typeface="Calibri" pitchFamily="34" charset="-120"/>
              </a:rPr>
              <a:t>Moving power wires below the switches saves space and wastes less electricity</a:t>
            </a:r>
            <a:endParaRPr lang="en-US" sz="15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7083"/>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2800" b="1" dirty="0">
                <a:solidFill>
                  <a:srgbClr val="0B1F33"/>
                </a:solidFill>
                <a:latin typeface="Cambria" pitchFamily="34" charset="0"/>
                <a:ea typeface="Cambria" pitchFamily="34" charset="-122"/>
                <a:cs typeface="Cambria" pitchFamily="34" charset="-120"/>
              </a:rPr>
              <a:t>Only 3 companies make the newest chips</a:t>
            </a:r>
            <a:endParaRPr lang="en-US" sz="2800" dirty="0"/>
          </a:p>
        </p:txBody>
      </p:sp>
      <p:sp>
        <p:nvSpPr>
          <p:cNvPr id="3" name="Shape 1"/>
          <p:cNvSpPr/>
          <p:nvPr/>
        </p:nvSpPr>
        <p:spPr>
          <a:xfrm>
            <a:off x="457200" y="1097280"/>
            <a:ext cx="2606040" cy="3108960"/>
          </a:xfrm>
          <a:prstGeom prst="roundRect">
            <a:avLst>
              <a:gd name="adj" fmla="val 2807"/>
            </a:avLst>
          </a:prstGeom>
          <a:solidFill>
            <a:srgbClr val="DDF1EE"/>
          </a:solidFill>
          <a:ln w="12700">
            <a:solidFill>
              <a:srgbClr val="DDF1EE"/>
            </a:solidFill>
            <a:prstDash val="solid"/>
          </a:ln>
        </p:spPr>
      </p:sp>
      <p:sp>
        <p:nvSpPr>
          <p:cNvPr id="4" name="Text 2"/>
          <p:cNvSpPr txBox="1"/>
          <p:nvPr/>
        </p:nvSpPr>
        <p:spPr>
          <a:xfrm>
            <a:off x="640080" y="1234440"/>
            <a:ext cx="2240280" cy="502920"/>
          </a:xfrm>
          <a:prstGeom prst="rect">
            <a:avLst/>
          </a:prstGeom>
          <a:noFill/>
          <a:ln/>
        </p:spPr>
        <p:txBody>
          <a:bodyPr wrap="square" lIns="0" tIns="0" rIns="0" bIns="0" rtlCol="0" anchor="t"/>
          <a:lstStyle/>
          <a:p>
            <a:pPr indent="0" marL="0">
              <a:buNone/>
            </a:pPr>
            <a:r>
              <a:rPr lang="en-US" sz="2600" b="1" dirty="0">
                <a:solidFill>
                  <a:srgbClr val="0B1F33"/>
                </a:solidFill>
                <a:latin typeface="Cambria" pitchFamily="34" charset="0"/>
                <a:ea typeface="Cambria" pitchFamily="34" charset="-122"/>
                <a:cs typeface="Cambria" pitchFamily="34" charset="-120"/>
              </a:rPr>
              <a:t>TSMC</a:t>
            </a:r>
            <a:endParaRPr lang="en-US" sz="2600" dirty="0"/>
          </a:p>
        </p:txBody>
      </p:sp>
      <p:sp>
        <p:nvSpPr>
          <p:cNvPr id="5" name="Text 3"/>
          <p:cNvSpPr txBox="1"/>
          <p:nvPr/>
        </p:nvSpPr>
        <p:spPr>
          <a:xfrm>
            <a:off x="640080" y="1737360"/>
            <a:ext cx="2240280" cy="320040"/>
          </a:xfrm>
          <a:prstGeom prst="rect">
            <a:avLst/>
          </a:prstGeom>
          <a:noFill/>
          <a:ln/>
        </p:spPr>
        <p:txBody>
          <a:bodyPr wrap="square" lIns="0" tIns="0" rIns="0" bIns="0" rtlCol="0" anchor="t"/>
          <a:lstStyle/>
          <a:p>
            <a:pPr indent="0" marL="0">
              <a:buNone/>
            </a:pPr>
            <a:r>
              <a:rPr lang="en-US" sz="1400" dirty="0">
                <a:solidFill>
                  <a:srgbClr val="5B7083"/>
                </a:solidFill>
                <a:latin typeface="Calibri" pitchFamily="34" charset="0"/>
                <a:ea typeface="Calibri" pitchFamily="34" charset="-122"/>
                <a:cs typeface="Calibri" pitchFamily="34" charset="-120"/>
              </a:rPr>
              <a:t>Taiwan</a:t>
            </a:r>
            <a:endParaRPr lang="en-US" sz="1400" dirty="0"/>
          </a:p>
        </p:txBody>
      </p:sp>
      <p:sp>
        <p:nvSpPr>
          <p:cNvPr id="6" name="Text 4"/>
          <p:cNvSpPr txBox="1"/>
          <p:nvPr/>
        </p:nvSpPr>
        <p:spPr>
          <a:xfrm>
            <a:off x="640080" y="2148840"/>
            <a:ext cx="2240280" cy="1143000"/>
          </a:xfrm>
          <a:prstGeom prst="rect">
            <a:avLst/>
          </a:prstGeom>
          <a:noFill/>
          <a:ln/>
        </p:spPr>
        <p:txBody>
          <a:bodyPr wrap="square" lIns="0" tIns="0" rIns="0" bIns="0" rtlCol="0" anchor="t"/>
          <a:lstStyle/>
          <a:p>
            <a:pPr indent="0" marL="0">
              <a:buNone/>
            </a:pPr>
            <a:r>
              <a:rPr lang="en-US" sz="1400" dirty="0">
                <a:solidFill>
                  <a:srgbClr val="14202E"/>
                </a:solidFill>
                <a:latin typeface="Calibri" pitchFamily="34" charset="0"/>
                <a:ea typeface="Calibri" pitchFamily="34" charset="-122"/>
                <a:cs typeface="Calibri" pitchFamily="34" charset="-120"/>
              </a:rPr>
              <a:t>The world's biggest chip factory company. Makes chips for other companies.</a:t>
            </a:r>
            <a:endParaRPr lang="en-US" sz="1400" dirty="0"/>
          </a:p>
        </p:txBody>
      </p:sp>
      <p:sp>
        <p:nvSpPr>
          <p:cNvPr id="7" name="Text 5"/>
          <p:cNvSpPr txBox="1"/>
          <p:nvPr/>
        </p:nvSpPr>
        <p:spPr>
          <a:xfrm>
            <a:off x="640080" y="3383280"/>
            <a:ext cx="2240280" cy="685800"/>
          </a:xfrm>
          <a:prstGeom prst="rect">
            <a:avLst/>
          </a:prstGeom>
          <a:noFill/>
          <a:ln/>
        </p:spPr>
        <p:txBody>
          <a:bodyPr wrap="square" lIns="0" tIns="0" rIns="0" bIns="0" rtlCol="0" anchor="t"/>
          <a:lstStyle/>
          <a:p>
            <a:pPr indent="0" marL="0">
              <a:buNone/>
            </a:pPr>
            <a:r>
              <a:rPr lang="en-US" sz="1300" b="1" dirty="0">
                <a:solidFill>
                  <a:srgbClr val="C8763A"/>
                </a:solidFill>
                <a:latin typeface="Calibri" pitchFamily="34" charset="0"/>
                <a:ea typeface="Calibri" pitchFamily="34" charset="-122"/>
                <a:cs typeface="Calibri" pitchFamily="34" charset="-120"/>
              </a:rPr>
              <a:t>Customers: Apple, Nvidia, AMD, Qualcomm</a:t>
            </a:r>
            <a:endParaRPr lang="en-US" sz="1300" dirty="0"/>
          </a:p>
        </p:txBody>
      </p:sp>
      <p:sp>
        <p:nvSpPr>
          <p:cNvPr id="8" name="Shape 6"/>
          <p:cNvSpPr/>
          <p:nvPr/>
        </p:nvSpPr>
        <p:spPr>
          <a:xfrm>
            <a:off x="3246120" y="1097280"/>
            <a:ext cx="2606040" cy="3108960"/>
          </a:xfrm>
          <a:prstGeom prst="roundRect">
            <a:avLst>
              <a:gd name="adj" fmla="val 2807"/>
            </a:avLst>
          </a:prstGeom>
          <a:solidFill>
            <a:srgbClr val="EEF2F6"/>
          </a:solidFill>
          <a:ln w="12700">
            <a:solidFill>
              <a:srgbClr val="EEF2F6"/>
            </a:solidFill>
            <a:prstDash val="solid"/>
          </a:ln>
        </p:spPr>
      </p:sp>
      <p:sp>
        <p:nvSpPr>
          <p:cNvPr id="9" name="Text 7"/>
          <p:cNvSpPr txBox="1"/>
          <p:nvPr/>
        </p:nvSpPr>
        <p:spPr>
          <a:xfrm>
            <a:off x="3429000" y="1234440"/>
            <a:ext cx="2240280" cy="502920"/>
          </a:xfrm>
          <a:prstGeom prst="rect">
            <a:avLst/>
          </a:prstGeom>
          <a:noFill/>
          <a:ln/>
        </p:spPr>
        <p:txBody>
          <a:bodyPr wrap="square" lIns="0" tIns="0" rIns="0" bIns="0" rtlCol="0" anchor="t"/>
          <a:lstStyle/>
          <a:p>
            <a:pPr indent="0" marL="0">
              <a:buNone/>
            </a:pPr>
            <a:r>
              <a:rPr lang="en-US" sz="2600" b="1" dirty="0">
                <a:solidFill>
                  <a:srgbClr val="0B1F33"/>
                </a:solidFill>
                <a:latin typeface="Cambria" pitchFamily="34" charset="0"/>
                <a:ea typeface="Cambria" pitchFamily="34" charset="-122"/>
                <a:cs typeface="Cambria" pitchFamily="34" charset="-120"/>
              </a:rPr>
              <a:t>Samsung</a:t>
            </a:r>
            <a:endParaRPr lang="en-US" sz="2600" dirty="0"/>
          </a:p>
        </p:txBody>
      </p:sp>
      <p:sp>
        <p:nvSpPr>
          <p:cNvPr id="10" name="Text 8"/>
          <p:cNvSpPr txBox="1"/>
          <p:nvPr/>
        </p:nvSpPr>
        <p:spPr>
          <a:xfrm>
            <a:off x="3429000" y="1737360"/>
            <a:ext cx="2240280" cy="320040"/>
          </a:xfrm>
          <a:prstGeom prst="rect">
            <a:avLst/>
          </a:prstGeom>
          <a:noFill/>
          <a:ln/>
        </p:spPr>
        <p:txBody>
          <a:bodyPr wrap="square" lIns="0" tIns="0" rIns="0" bIns="0" rtlCol="0" anchor="t"/>
          <a:lstStyle/>
          <a:p>
            <a:pPr indent="0" marL="0">
              <a:buNone/>
            </a:pPr>
            <a:r>
              <a:rPr lang="en-US" sz="1400" dirty="0">
                <a:solidFill>
                  <a:srgbClr val="5B7083"/>
                </a:solidFill>
                <a:latin typeface="Calibri" pitchFamily="34" charset="0"/>
                <a:ea typeface="Calibri" pitchFamily="34" charset="-122"/>
                <a:cs typeface="Calibri" pitchFamily="34" charset="-120"/>
              </a:rPr>
              <a:t>South Korea</a:t>
            </a:r>
            <a:endParaRPr lang="en-US" sz="1400" dirty="0"/>
          </a:p>
        </p:txBody>
      </p:sp>
      <p:sp>
        <p:nvSpPr>
          <p:cNvPr id="11" name="Text 9"/>
          <p:cNvSpPr txBox="1"/>
          <p:nvPr/>
        </p:nvSpPr>
        <p:spPr>
          <a:xfrm>
            <a:off x="3429000" y="2148840"/>
            <a:ext cx="2240280" cy="1143000"/>
          </a:xfrm>
          <a:prstGeom prst="rect">
            <a:avLst/>
          </a:prstGeom>
          <a:noFill/>
          <a:ln/>
        </p:spPr>
        <p:txBody>
          <a:bodyPr wrap="square" lIns="0" tIns="0" rIns="0" bIns="0" rtlCol="0" anchor="t"/>
          <a:lstStyle/>
          <a:p>
            <a:pPr indent="0" marL="0">
              <a:buNone/>
            </a:pPr>
            <a:r>
              <a:rPr lang="en-US" sz="1400" dirty="0">
                <a:solidFill>
                  <a:srgbClr val="14202E"/>
                </a:solidFill>
                <a:latin typeface="Calibri" pitchFamily="34" charset="0"/>
                <a:ea typeface="Calibri" pitchFamily="34" charset="-122"/>
                <a:cs typeface="Calibri" pitchFamily="34" charset="-120"/>
              </a:rPr>
              <a:t>Makes its own chips and some for others. First to gate-all-around (2022).</a:t>
            </a:r>
            <a:endParaRPr lang="en-US" sz="1400" dirty="0"/>
          </a:p>
        </p:txBody>
      </p:sp>
      <p:sp>
        <p:nvSpPr>
          <p:cNvPr id="12" name="Text 10"/>
          <p:cNvSpPr txBox="1"/>
          <p:nvPr/>
        </p:nvSpPr>
        <p:spPr>
          <a:xfrm>
            <a:off x="3429000" y="3383280"/>
            <a:ext cx="2240280" cy="685800"/>
          </a:xfrm>
          <a:prstGeom prst="rect">
            <a:avLst/>
          </a:prstGeom>
          <a:noFill/>
          <a:ln/>
        </p:spPr>
        <p:txBody>
          <a:bodyPr wrap="square" lIns="0" tIns="0" rIns="0" bIns="0" rtlCol="0" anchor="t"/>
          <a:lstStyle/>
          <a:p>
            <a:pPr indent="0" marL="0">
              <a:buNone/>
            </a:pPr>
            <a:r>
              <a:rPr lang="en-US" sz="1300" b="1" dirty="0">
                <a:solidFill>
                  <a:srgbClr val="C8763A"/>
                </a:solidFill>
                <a:latin typeface="Calibri" pitchFamily="34" charset="0"/>
                <a:ea typeface="Calibri" pitchFamily="34" charset="-122"/>
                <a:cs typeface="Calibri" pitchFamily="34" charset="-120"/>
              </a:rPr>
              <a:t>Customers: its own Galaxy phones, others</a:t>
            </a:r>
            <a:endParaRPr lang="en-US" sz="1300" dirty="0"/>
          </a:p>
        </p:txBody>
      </p:sp>
      <p:sp>
        <p:nvSpPr>
          <p:cNvPr id="13" name="Shape 11"/>
          <p:cNvSpPr/>
          <p:nvPr/>
        </p:nvSpPr>
        <p:spPr>
          <a:xfrm>
            <a:off x="6035040" y="1097280"/>
            <a:ext cx="2606040" cy="3108960"/>
          </a:xfrm>
          <a:prstGeom prst="roundRect">
            <a:avLst>
              <a:gd name="adj" fmla="val 2807"/>
            </a:avLst>
          </a:prstGeom>
          <a:solidFill>
            <a:srgbClr val="F6E7DA"/>
          </a:solidFill>
          <a:ln w="12700">
            <a:solidFill>
              <a:srgbClr val="F6E7DA"/>
            </a:solidFill>
            <a:prstDash val="solid"/>
          </a:ln>
        </p:spPr>
      </p:sp>
      <p:sp>
        <p:nvSpPr>
          <p:cNvPr id="14" name="Text 12"/>
          <p:cNvSpPr txBox="1"/>
          <p:nvPr/>
        </p:nvSpPr>
        <p:spPr>
          <a:xfrm>
            <a:off x="6217920" y="1234440"/>
            <a:ext cx="2240280" cy="502920"/>
          </a:xfrm>
          <a:prstGeom prst="rect">
            <a:avLst/>
          </a:prstGeom>
          <a:noFill/>
          <a:ln/>
        </p:spPr>
        <p:txBody>
          <a:bodyPr wrap="square" lIns="0" tIns="0" rIns="0" bIns="0" rtlCol="0" anchor="t"/>
          <a:lstStyle/>
          <a:p>
            <a:pPr indent="0" marL="0">
              <a:buNone/>
            </a:pPr>
            <a:r>
              <a:rPr lang="en-US" sz="2600" b="1" dirty="0">
                <a:solidFill>
                  <a:srgbClr val="0B1F33"/>
                </a:solidFill>
                <a:latin typeface="Cambria" pitchFamily="34" charset="0"/>
                <a:ea typeface="Cambria" pitchFamily="34" charset="-122"/>
                <a:cs typeface="Cambria" pitchFamily="34" charset="-120"/>
              </a:rPr>
              <a:t>Intel</a:t>
            </a:r>
            <a:endParaRPr lang="en-US" sz="2600" dirty="0"/>
          </a:p>
        </p:txBody>
      </p:sp>
      <p:sp>
        <p:nvSpPr>
          <p:cNvPr id="15" name="Text 13"/>
          <p:cNvSpPr txBox="1"/>
          <p:nvPr/>
        </p:nvSpPr>
        <p:spPr>
          <a:xfrm>
            <a:off x="6217920" y="1737360"/>
            <a:ext cx="2240280" cy="320040"/>
          </a:xfrm>
          <a:prstGeom prst="rect">
            <a:avLst/>
          </a:prstGeom>
          <a:noFill/>
          <a:ln/>
        </p:spPr>
        <p:txBody>
          <a:bodyPr wrap="square" lIns="0" tIns="0" rIns="0" bIns="0" rtlCol="0" anchor="t"/>
          <a:lstStyle/>
          <a:p>
            <a:pPr indent="0" marL="0">
              <a:buNone/>
            </a:pPr>
            <a:r>
              <a:rPr lang="en-US" sz="1400" dirty="0">
                <a:solidFill>
                  <a:srgbClr val="5B7083"/>
                </a:solidFill>
                <a:latin typeface="Calibri" pitchFamily="34" charset="0"/>
                <a:ea typeface="Calibri" pitchFamily="34" charset="-122"/>
                <a:cs typeface="Calibri" pitchFamily="34" charset="-120"/>
              </a:rPr>
              <a:t>USA</a:t>
            </a:r>
            <a:endParaRPr lang="en-US" sz="1400" dirty="0"/>
          </a:p>
        </p:txBody>
      </p:sp>
      <p:sp>
        <p:nvSpPr>
          <p:cNvPr id="16" name="Text 14"/>
          <p:cNvSpPr txBox="1"/>
          <p:nvPr/>
        </p:nvSpPr>
        <p:spPr>
          <a:xfrm>
            <a:off x="6217920" y="2148840"/>
            <a:ext cx="2240280" cy="1143000"/>
          </a:xfrm>
          <a:prstGeom prst="rect">
            <a:avLst/>
          </a:prstGeom>
          <a:noFill/>
          <a:ln/>
        </p:spPr>
        <p:txBody>
          <a:bodyPr wrap="square" lIns="0" tIns="0" rIns="0" bIns="0" rtlCol="0" anchor="t"/>
          <a:lstStyle/>
          <a:p>
            <a:pPr indent="0" marL="0">
              <a:buNone/>
            </a:pPr>
            <a:r>
              <a:rPr lang="en-US" sz="1400" dirty="0">
                <a:solidFill>
                  <a:srgbClr val="14202E"/>
                </a:solidFill>
                <a:latin typeface="Calibri" pitchFamily="34" charset="0"/>
                <a:ea typeface="Calibri" pitchFamily="34" charset="-122"/>
                <a:cs typeface="Calibri" pitchFamily="34" charset="-120"/>
              </a:rPr>
              <a:t>Famous for PC chips. Now also wants to make chips for other companies.</a:t>
            </a:r>
            <a:endParaRPr lang="en-US" sz="1400" dirty="0"/>
          </a:p>
        </p:txBody>
      </p:sp>
      <p:sp>
        <p:nvSpPr>
          <p:cNvPr id="17" name="Text 15"/>
          <p:cNvSpPr txBox="1"/>
          <p:nvPr/>
        </p:nvSpPr>
        <p:spPr>
          <a:xfrm>
            <a:off x="6217920" y="3383280"/>
            <a:ext cx="2240280" cy="685800"/>
          </a:xfrm>
          <a:prstGeom prst="rect">
            <a:avLst/>
          </a:prstGeom>
          <a:noFill/>
          <a:ln/>
        </p:spPr>
        <p:txBody>
          <a:bodyPr wrap="square" lIns="0" tIns="0" rIns="0" bIns="0" rtlCol="0" anchor="t"/>
          <a:lstStyle/>
          <a:p>
            <a:pPr indent="0" marL="0">
              <a:buNone/>
            </a:pPr>
            <a:r>
              <a:rPr lang="en-US" sz="1300" b="1" dirty="0">
                <a:solidFill>
                  <a:srgbClr val="C8763A"/>
                </a:solidFill>
                <a:latin typeface="Calibri" pitchFamily="34" charset="0"/>
                <a:ea typeface="Calibri" pitchFamily="34" charset="-122"/>
                <a:cs typeface="Calibri" pitchFamily="34" charset="-120"/>
              </a:rPr>
              <a:t>Customers: its own PC and server chips</a:t>
            </a:r>
            <a:endParaRPr lang="en-US" sz="1300" dirty="0"/>
          </a:p>
        </p:txBody>
      </p:sp>
      <p:sp>
        <p:nvSpPr>
          <p:cNvPr id="18" name="Text 16"/>
          <p:cNvSpPr txBox="1"/>
          <p:nvPr/>
        </p:nvSpPr>
        <p:spPr>
          <a:xfrm>
            <a:off x="457200" y="4297680"/>
            <a:ext cx="8229600" cy="457200"/>
          </a:xfrm>
          <a:prstGeom prst="rect">
            <a:avLst/>
          </a:prstGeom>
          <a:noFill/>
          <a:ln/>
        </p:spPr>
        <p:txBody>
          <a:bodyPr wrap="square" lIns="0" tIns="0" rIns="0" bIns="0" rtlCol="0" anchor="t"/>
          <a:lstStyle/>
          <a:p>
            <a:pPr indent="0" marL="0">
              <a:buNone/>
            </a:pPr>
            <a:r>
              <a:rPr lang="en-US" sz="1300" dirty="0">
                <a:solidFill>
                  <a:srgbClr val="5B7083"/>
                </a:solidFill>
                <a:latin typeface="Calibri" pitchFamily="34" charset="0"/>
                <a:ea typeface="Calibri" pitchFamily="34" charset="-122"/>
                <a:cs typeface="Calibri" pitchFamily="34" charset="-120"/>
              </a:rPr>
              <a:t>A company that makes chips for others is called a foundry. Most chip brands (Apple, Nvidia) design chips but don't make them.</a:t>
            </a:r>
            <a:endParaRPr lang="en-US" sz="13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7083"/>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2800" b="1" dirty="0">
                <a:solidFill>
                  <a:srgbClr val="0B1F33"/>
                </a:solidFill>
                <a:latin typeface="Cambria" pitchFamily="34" charset="0"/>
                <a:ea typeface="Cambria" pitchFamily="34" charset="-122"/>
                <a:cs typeface="Cambria" pitchFamily="34" charset="-120"/>
              </a:rPr>
              <a:t>Why this matters to you</a:t>
            </a:r>
            <a:endParaRPr lang="en-US" sz="2800" dirty="0"/>
          </a:p>
        </p:txBody>
      </p:sp>
      <p:sp>
        <p:nvSpPr>
          <p:cNvPr id="3" name="Shape 1"/>
          <p:cNvSpPr/>
          <p:nvPr/>
        </p:nvSpPr>
        <p:spPr>
          <a:xfrm>
            <a:off x="457200" y="1097280"/>
            <a:ext cx="3977640" cy="3017520"/>
          </a:xfrm>
          <a:prstGeom prst="roundRect">
            <a:avLst>
              <a:gd name="adj" fmla="val 2424"/>
            </a:avLst>
          </a:prstGeom>
          <a:solidFill>
            <a:srgbClr val="DDF1EE"/>
          </a:solidFill>
          <a:ln w="12700">
            <a:solidFill>
              <a:srgbClr val="DDF1EE"/>
            </a:solidFill>
            <a:prstDash val="solid"/>
          </a:ln>
        </p:spPr>
      </p:sp>
      <p:sp>
        <p:nvSpPr>
          <p:cNvPr id="4" name="Text 2"/>
          <p:cNvSpPr txBox="1"/>
          <p:nvPr/>
        </p:nvSpPr>
        <p:spPr>
          <a:xfrm>
            <a:off x="621792" y="1234440"/>
            <a:ext cx="3675888" cy="365760"/>
          </a:xfrm>
          <a:prstGeom prst="rect">
            <a:avLst/>
          </a:prstGeom>
          <a:noFill/>
          <a:ln/>
        </p:spPr>
        <p:txBody>
          <a:bodyPr wrap="square" lIns="0" tIns="0" rIns="0" bIns="0" rtlCol="0" anchor="ctr"/>
          <a:lstStyle/>
          <a:p>
            <a:pPr indent="0" marL="0">
              <a:buNone/>
            </a:pPr>
            <a:r>
              <a:rPr lang="en-US" sz="1700" b="1" dirty="0">
                <a:solidFill>
                  <a:srgbClr val="0B1F33"/>
                </a:solidFill>
                <a:latin typeface="Calibri" pitchFamily="34" charset="0"/>
                <a:ea typeface="Calibri" pitchFamily="34" charset="-122"/>
                <a:cs typeface="Calibri" pitchFamily="34" charset="-120"/>
              </a:rPr>
              <a:t>If you want a job in chips</a:t>
            </a:r>
            <a:endParaRPr lang="en-US" sz="1700" dirty="0"/>
          </a:p>
        </p:txBody>
      </p:sp>
      <p:sp>
        <p:nvSpPr>
          <p:cNvPr id="5" name="Text 3"/>
          <p:cNvSpPr txBox="1"/>
          <p:nvPr/>
        </p:nvSpPr>
        <p:spPr>
          <a:xfrm>
            <a:off x="621792" y="1664208"/>
            <a:ext cx="3648456" cy="2331720"/>
          </a:xfrm>
          <a:prstGeom prst="rect">
            <a:avLst/>
          </a:prstGeom>
          <a:noFill/>
          <a:ln/>
        </p:spPr>
        <p:txBody>
          <a:bodyPr wrap="square" lIns="0" tIns="0" rIns="0" bIns="0" rtlCol="0" anchor="t"/>
          <a:lstStyle/>
          <a:p>
            <a:pPr indent="0" marL="0">
              <a:buNone/>
            </a:pPr>
            <a:r>
              <a:rPr lang="en-US" sz="1400" dirty="0">
                <a:solidFill>
                  <a:srgbClr val="14202E"/>
                </a:solidFill>
                <a:latin typeface="Calibri" pitchFamily="34" charset="0"/>
                <a:ea typeface="Calibri" pitchFamily="34" charset="-122"/>
                <a:cs typeface="Calibri" pitchFamily="34" charset="-120"/>
              </a:rPr>
              <a:t>Every new switch design means new work: designing the circuits, checking they work, and making sure they don't overheat.</a:t>
            </a:r>
            <a:endParaRPr lang="en-US" sz="1400" dirty="0"/>
          </a:p>
          <a:p>
            <a:pPr indent="0" marL="0">
              <a:buNone/>
            </a:pPr>
            <a:endParaRPr lang="en-US" sz="1400" dirty="0"/>
          </a:p>
          <a:p>
            <a:pPr indent="0" marL="0">
              <a:buNone/>
            </a:pPr>
            <a:r>
              <a:rPr lang="en-US" sz="1400" dirty="0">
                <a:solidFill>
                  <a:srgbClr val="14202E"/>
                </a:solidFill>
                <a:latin typeface="Calibri" pitchFamily="34" charset="0"/>
                <a:ea typeface="Calibri" pitchFamily="34" charset="-122"/>
                <a:cs typeface="Calibri" pitchFamily="34" charset="-120"/>
              </a:rPr>
              <a:t>India has large chip design centres for Intel, Qualcomm, Nvidia, AMD, Synopsys and Cadence.</a:t>
            </a:r>
            <a:endParaRPr lang="en-US" sz="1400" dirty="0"/>
          </a:p>
        </p:txBody>
      </p:sp>
      <p:sp>
        <p:nvSpPr>
          <p:cNvPr id="6" name="Shape 4"/>
          <p:cNvSpPr/>
          <p:nvPr/>
        </p:nvSpPr>
        <p:spPr>
          <a:xfrm>
            <a:off x="4709160" y="1097280"/>
            <a:ext cx="3977640" cy="3017520"/>
          </a:xfrm>
          <a:prstGeom prst="roundRect">
            <a:avLst>
              <a:gd name="adj" fmla="val 2424"/>
            </a:avLst>
          </a:prstGeom>
          <a:solidFill>
            <a:srgbClr val="F6E7DA"/>
          </a:solidFill>
          <a:ln w="12700">
            <a:solidFill>
              <a:srgbClr val="F6E7DA"/>
            </a:solidFill>
            <a:prstDash val="solid"/>
          </a:ln>
        </p:spPr>
      </p:sp>
      <p:sp>
        <p:nvSpPr>
          <p:cNvPr id="7" name="Text 5"/>
          <p:cNvSpPr txBox="1"/>
          <p:nvPr/>
        </p:nvSpPr>
        <p:spPr>
          <a:xfrm>
            <a:off x="4873752" y="1234440"/>
            <a:ext cx="3675888" cy="365760"/>
          </a:xfrm>
          <a:prstGeom prst="rect">
            <a:avLst/>
          </a:prstGeom>
          <a:noFill/>
          <a:ln/>
        </p:spPr>
        <p:txBody>
          <a:bodyPr wrap="square" lIns="0" tIns="0" rIns="0" bIns="0" rtlCol="0" anchor="ctr"/>
          <a:lstStyle/>
          <a:p>
            <a:pPr indent="0" marL="0">
              <a:buNone/>
            </a:pPr>
            <a:r>
              <a:rPr lang="en-US" sz="1700" b="1" dirty="0">
                <a:solidFill>
                  <a:srgbClr val="0B1F33"/>
                </a:solidFill>
                <a:latin typeface="Calibri" pitchFamily="34" charset="0"/>
                <a:ea typeface="Calibri" pitchFamily="34" charset="-122"/>
                <a:cs typeface="Calibri" pitchFamily="34" charset="-120"/>
              </a:rPr>
              <a:t>If you follow the stock market</a:t>
            </a:r>
            <a:endParaRPr lang="en-US" sz="1700" dirty="0"/>
          </a:p>
        </p:txBody>
      </p:sp>
      <p:sp>
        <p:nvSpPr>
          <p:cNvPr id="8" name="Text 6"/>
          <p:cNvSpPr txBox="1"/>
          <p:nvPr/>
        </p:nvSpPr>
        <p:spPr>
          <a:xfrm>
            <a:off x="4873752" y="1664208"/>
            <a:ext cx="3648456" cy="2331720"/>
          </a:xfrm>
          <a:prstGeom prst="rect">
            <a:avLst/>
          </a:prstGeom>
          <a:noFill/>
          <a:ln/>
        </p:spPr>
        <p:txBody>
          <a:bodyPr wrap="square" lIns="0" tIns="0" rIns="0" bIns="0" rtlCol="0" anchor="t"/>
          <a:lstStyle/>
          <a:p>
            <a:pPr indent="0" marL="0">
              <a:buNone/>
            </a:pPr>
            <a:r>
              <a:rPr lang="en-US" sz="1400" dirty="0">
                <a:solidFill>
                  <a:srgbClr val="14202E"/>
                </a:solidFill>
                <a:latin typeface="Calibri" pitchFamily="34" charset="0"/>
                <a:ea typeface="Calibri" pitchFamily="34" charset="-122"/>
                <a:cs typeface="Calibri" pitchFamily="34" charset="-120"/>
              </a:rPr>
              <a:t>When chips switch to a new design, these companies tend to benefit:</a:t>
            </a:r>
            <a:endParaRPr lang="en-US" sz="1400" dirty="0"/>
          </a:p>
          <a:p>
            <a:pPr indent="0" marL="0">
              <a:buNone/>
            </a:pPr>
            <a:endParaRPr lang="en-US" sz="1400" dirty="0"/>
          </a:p>
          <a:p>
            <a:pPr indent="0" marL="0">
              <a:buNone/>
            </a:pPr>
            <a:r>
              <a:rPr lang="en-US" sz="1400" dirty="0">
                <a:solidFill>
                  <a:srgbClr val="14202E"/>
                </a:solidFill>
                <a:latin typeface="Calibri" pitchFamily="34" charset="0"/>
                <a:ea typeface="Calibri" pitchFamily="34" charset="-122"/>
                <a:cs typeface="Calibri" pitchFamily="34" charset="-120"/>
              </a:rPr>
              <a:t>• The factory companies (TSMC)</a:t>
            </a:r>
            <a:endParaRPr lang="en-US" sz="1400" dirty="0"/>
          </a:p>
          <a:p>
            <a:pPr indent="0" marL="0">
              <a:buNone/>
            </a:pPr>
            <a:r>
              <a:rPr lang="en-US" sz="1400" dirty="0">
                <a:solidFill>
                  <a:srgbClr val="14202E"/>
                </a:solidFill>
                <a:latin typeface="Calibri" pitchFamily="34" charset="0"/>
                <a:ea typeface="Calibri" pitchFamily="34" charset="-122"/>
                <a:cs typeface="Calibri" pitchFamily="34" charset="-120"/>
              </a:rPr>
              <a:t>• The makers of chip-making machines (ASML, Applied Materials, Lam Research)</a:t>
            </a:r>
            <a:endParaRPr lang="en-US" sz="1400" dirty="0"/>
          </a:p>
          <a:p>
            <a:pPr indent="0" marL="0">
              <a:buNone/>
            </a:pPr>
            <a:r>
              <a:rPr lang="en-US" sz="1400" dirty="0">
                <a:solidFill>
                  <a:srgbClr val="14202E"/>
                </a:solidFill>
                <a:latin typeface="Calibri" pitchFamily="34" charset="0"/>
                <a:ea typeface="Calibri" pitchFamily="34" charset="-122"/>
                <a:cs typeface="Calibri" pitchFamily="34" charset="-120"/>
              </a:rPr>
              <a:t>• The chip-design software makers (Synopsys, Cadence)</a:t>
            </a:r>
            <a:endParaRPr lang="en-US" sz="1400" dirty="0"/>
          </a:p>
        </p:txBody>
      </p:sp>
      <p:sp>
        <p:nvSpPr>
          <p:cNvPr id="9" name="Text 7"/>
          <p:cNvSpPr txBox="1"/>
          <p:nvPr/>
        </p:nvSpPr>
        <p:spPr>
          <a:xfrm>
            <a:off x="457200" y="4251960"/>
            <a:ext cx="8229600" cy="320040"/>
          </a:xfrm>
          <a:prstGeom prst="rect">
            <a:avLst/>
          </a:prstGeom>
          <a:noFill/>
          <a:ln/>
        </p:spPr>
        <p:txBody>
          <a:bodyPr wrap="square" lIns="0" tIns="0" rIns="0" bIns="0" rtlCol="0" anchor="t"/>
          <a:lstStyle/>
          <a:p>
            <a:pPr indent="0" marL="0">
              <a:buNone/>
            </a:pPr>
            <a:r>
              <a:rPr lang="en-US" sz="1200" i="1" dirty="0">
                <a:solidFill>
                  <a:srgbClr val="5B7083"/>
                </a:solidFill>
                <a:latin typeface="Calibri" pitchFamily="34" charset="0"/>
                <a:ea typeface="Calibri" pitchFamily="34" charset="-122"/>
                <a:cs typeface="Calibri" pitchFamily="34" charset="-120"/>
              </a:rPr>
              <a:t>Not investment advice: just who sits where in the industry.</a:t>
            </a:r>
            <a:endParaRPr lang="en-US" sz="12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7083"/>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2800" b="1" dirty="0">
                <a:solidFill>
                  <a:srgbClr val="0B1F33"/>
                </a:solidFill>
                <a:latin typeface="Cambria" pitchFamily="34" charset="0"/>
                <a:ea typeface="Cambria" pitchFamily="34" charset="-122"/>
                <a:cs typeface="Cambria" pitchFamily="34" charset="-120"/>
              </a:rPr>
              <a:t>Words to know, in plain English</a:t>
            </a:r>
            <a:endParaRPr lang="en-US" sz="28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457200" y="1097280"/>
          <a:ext cx="4023360" cy="914400"/>
        </p:xfrm>
        <a:graphic>
          <a:graphicData uri="http://schemas.openxmlformats.org/drawingml/2006/table">
            <a:tbl>
              <a:tblPr/>
              <a:tblGrid>
                <a:gridCol w="1600200"/>
                <a:gridCol w="2423160"/>
              </a:tblGrid>
              <a:tr h="566928">
                <a:tc>
                  <a:txBody>
                    <a:bodyPr/>
                    <a:lstStyle/>
                    <a:p>
                      <a:pPr indent="0" marL="0">
                        <a:buNone/>
                      </a:pPr>
                      <a:r>
                        <a:rPr lang="en-US" sz="1300" b="1" dirty="0">
                          <a:solidFill>
                            <a:srgbClr val="0B1F33"/>
                          </a:solidFill>
                          <a:latin typeface="Calibri" pitchFamily="34" charset="0"/>
                          <a:ea typeface="Calibri" pitchFamily="34" charset="-122"/>
                          <a:cs typeface="Calibri" pitchFamily="34" charset="-120"/>
                        </a:rPr>
                        <a:t>Transistor</a:t>
                      </a:r>
                      <a:endParaRPr lang="en-US" sz="1300" dirty="0">
                        <a:latin typeface="Calibri" charset="0"/>
                        <a:ea typeface="Calibri" charset="0"/>
                        <a:cs typeface="Calibri" charset="0"/>
                      </a:endParaRPr>
                    </a:p>
                  </a:txBody>
                  <a:tcPr marL="73152" marR="73152" marT="73152" marB="73152"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EEF2F6"/>
                    </a:solidFill>
                  </a:tcPr>
                </a:tc>
                <a:tc>
                  <a:txBody>
                    <a:bodyPr/>
                    <a:lstStyle/>
                    <a:p>
                      <a:pPr indent="0" marL="0">
                        <a:buNone/>
                      </a:pPr>
                      <a:r>
                        <a:rPr lang="en-US" sz="1300" dirty="0">
                          <a:solidFill>
                            <a:srgbClr val="14202E"/>
                          </a:solidFill>
                          <a:latin typeface="Calibri" pitchFamily="34" charset="0"/>
                          <a:ea typeface="Calibri" pitchFamily="34" charset="-122"/>
                          <a:cs typeface="Calibri" pitchFamily="34" charset="-120"/>
                        </a:rPr>
                        <a:t>A tiny on/off switch</a:t>
                      </a:r>
                      <a:endParaRPr lang="en-US" sz="1300" dirty="0">
                        <a:latin typeface="Calibri" charset="0"/>
                        <a:ea typeface="Calibri" charset="0"/>
                        <a:cs typeface="Calibri" charset="0"/>
                      </a:endParaRPr>
                    </a:p>
                  </a:txBody>
                  <a:tcPr marL="73152" marR="73152" marT="73152" marB="73152"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EEF2F6"/>
                    </a:solidFill>
                  </a:tcPr>
                </a:tc>
              </a:tr>
              <a:tr h="566928">
                <a:tc>
                  <a:txBody>
                    <a:bodyPr/>
                    <a:lstStyle/>
                    <a:p>
                      <a:pPr indent="0" marL="0">
                        <a:buNone/>
                      </a:pPr>
                      <a:r>
                        <a:rPr lang="en-US" sz="1300" b="1" dirty="0">
                          <a:solidFill>
                            <a:srgbClr val="0B1F33"/>
                          </a:solidFill>
                          <a:latin typeface="Calibri" pitchFamily="34" charset="0"/>
                          <a:ea typeface="Calibri" pitchFamily="34" charset="-122"/>
                          <a:cs typeface="Calibri" pitchFamily="34" charset="-120"/>
                        </a:rPr>
                        <a:t>Gate</a:t>
                      </a:r>
                      <a:endParaRPr lang="en-US" sz="1300" dirty="0">
                        <a:latin typeface="Calibri" charset="0"/>
                        <a:ea typeface="Calibri" charset="0"/>
                        <a:cs typeface="Calibri" charset="0"/>
                      </a:endParaRPr>
                    </a:p>
                  </a:txBody>
                  <a:tcPr marL="73152" marR="73152" marT="73152" marB="73152"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FFFFFF"/>
                    </a:solidFill>
                  </a:tcPr>
                </a:tc>
                <a:tc>
                  <a:txBody>
                    <a:bodyPr/>
                    <a:lstStyle/>
                    <a:p>
                      <a:pPr indent="0" marL="0">
                        <a:buNone/>
                      </a:pPr>
                      <a:r>
                        <a:rPr lang="en-US" sz="1300" dirty="0">
                          <a:solidFill>
                            <a:srgbClr val="14202E"/>
                          </a:solidFill>
                          <a:latin typeface="Calibri" pitchFamily="34" charset="0"/>
                          <a:ea typeface="Calibri" pitchFamily="34" charset="-122"/>
                          <a:cs typeface="Calibri" pitchFamily="34" charset="-120"/>
                        </a:rPr>
                        <a:t>The switch's control, like a tap handle</a:t>
                      </a:r>
                      <a:endParaRPr lang="en-US" sz="1300" dirty="0">
                        <a:latin typeface="Calibri" charset="0"/>
                        <a:ea typeface="Calibri" charset="0"/>
                        <a:cs typeface="Calibri" charset="0"/>
                      </a:endParaRPr>
                    </a:p>
                  </a:txBody>
                  <a:tcPr marL="73152" marR="73152" marT="73152" marB="73152"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FFFFFF"/>
                    </a:solidFill>
                  </a:tcPr>
                </a:tc>
              </a:tr>
              <a:tr h="566928">
                <a:tc>
                  <a:txBody>
                    <a:bodyPr/>
                    <a:lstStyle/>
                    <a:p>
                      <a:pPr indent="0" marL="0">
                        <a:buNone/>
                      </a:pPr>
                      <a:r>
                        <a:rPr lang="en-US" sz="1300" b="1" dirty="0">
                          <a:solidFill>
                            <a:srgbClr val="0B1F33"/>
                          </a:solidFill>
                          <a:latin typeface="Calibri" pitchFamily="34" charset="0"/>
                          <a:ea typeface="Calibri" pitchFamily="34" charset="-122"/>
                          <a:cs typeface="Calibri" pitchFamily="34" charset="-120"/>
                        </a:rPr>
                        <a:t>Channel</a:t>
                      </a:r>
                      <a:endParaRPr lang="en-US" sz="1300" dirty="0">
                        <a:latin typeface="Calibri" charset="0"/>
                        <a:ea typeface="Calibri" charset="0"/>
                        <a:cs typeface="Calibri" charset="0"/>
                      </a:endParaRPr>
                    </a:p>
                  </a:txBody>
                  <a:tcPr marL="73152" marR="73152" marT="73152" marB="73152"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EEF2F6"/>
                    </a:solidFill>
                  </a:tcPr>
                </a:tc>
                <a:tc>
                  <a:txBody>
                    <a:bodyPr/>
                    <a:lstStyle/>
                    <a:p>
                      <a:pPr indent="0" marL="0">
                        <a:buNone/>
                      </a:pPr>
                      <a:r>
                        <a:rPr lang="en-US" sz="1300" dirty="0">
                          <a:solidFill>
                            <a:srgbClr val="14202E"/>
                          </a:solidFill>
                          <a:latin typeface="Calibri" pitchFamily="34" charset="0"/>
                          <a:ea typeface="Calibri" pitchFamily="34" charset="-122"/>
                          <a:cs typeface="Calibri" pitchFamily="34" charset="-120"/>
                        </a:rPr>
                        <a:t>The path current flows through</a:t>
                      </a:r>
                      <a:endParaRPr lang="en-US" sz="1300" dirty="0">
                        <a:latin typeface="Calibri" charset="0"/>
                        <a:ea typeface="Calibri" charset="0"/>
                        <a:cs typeface="Calibri" charset="0"/>
                      </a:endParaRPr>
                    </a:p>
                  </a:txBody>
                  <a:tcPr marL="73152" marR="73152" marT="73152" marB="73152"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EEF2F6"/>
                    </a:solidFill>
                  </a:tcPr>
                </a:tc>
              </a:tr>
              <a:tr h="566928">
                <a:tc>
                  <a:txBody>
                    <a:bodyPr/>
                    <a:lstStyle/>
                    <a:p>
                      <a:pPr indent="0" marL="0">
                        <a:buNone/>
                      </a:pPr>
                      <a:r>
                        <a:rPr lang="en-US" sz="1300" b="1" dirty="0">
                          <a:solidFill>
                            <a:srgbClr val="0B1F33"/>
                          </a:solidFill>
                          <a:latin typeface="Calibri" pitchFamily="34" charset="0"/>
                          <a:ea typeface="Calibri" pitchFamily="34" charset="-122"/>
                          <a:cs typeface="Calibri" pitchFamily="34" charset="-120"/>
                        </a:rPr>
                        <a:t>Nanometre (nm)</a:t>
                      </a:r>
                      <a:endParaRPr lang="en-US" sz="1300" dirty="0">
                        <a:latin typeface="Calibri" charset="0"/>
                        <a:ea typeface="Calibri" charset="0"/>
                        <a:cs typeface="Calibri" charset="0"/>
                      </a:endParaRPr>
                    </a:p>
                  </a:txBody>
                  <a:tcPr marL="73152" marR="73152" marT="73152" marB="73152"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FFFFFF"/>
                    </a:solidFill>
                  </a:tcPr>
                </a:tc>
                <a:tc>
                  <a:txBody>
                    <a:bodyPr/>
                    <a:lstStyle/>
                    <a:p>
                      <a:pPr indent="0" marL="0">
                        <a:buNone/>
                      </a:pPr>
                      <a:r>
                        <a:rPr lang="en-US" sz="1300" dirty="0">
                          <a:solidFill>
                            <a:srgbClr val="14202E"/>
                          </a:solidFill>
                          <a:latin typeface="Calibri" pitchFamily="34" charset="0"/>
                          <a:ea typeface="Calibri" pitchFamily="34" charset="-122"/>
                          <a:cs typeface="Calibri" pitchFamily="34" charset="-120"/>
                        </a:rPr>
                        <a:t>One billionth of a metre</a:t>
                      </a:r>
                      <a:endParaRPr lang="en-US" sz="1300" dirty="0">
                        <a:latin typeface="Calibri" charset="0"/>
                        <a:ea typeface="Calibri" charset="0"/>
                        <a:cs typeface="Calibri" charset="0"/>
                      </a:endParaRPr>
                    </a:p>
                  </a:txBody>
                  <a:tcPr marL="73152" marR="73152" marT="73152" marB="73152"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FFFFFF"/>
                    </a:solidFill>
                  </a:tcPr>
                </a:tc>
              </a:tr>
              <a:tr h="566928">
                <a:tc>
                  <a:txBody>
                    <a:bodyPr/>
                    <a:lstStyle/>
                    <a:p>
                      <a:pPr indent="0" marL="0">
                        <a:buNone/>
                      </a:pPr>
                      <a:r>
                        <a:rPr lang="en-US" sz="1300" b="1" dirty="0">
                          <a:solidFill>
                            <a:srgbClr val="0B1F33"/>
                          </a:solidFill>
                          <a:latin typeface="Calibri" pitchFamily="34" charset="0"/>
                          <a:ea typeface="Calibri" pitchFamily="34" charset="-122"/>
                          <a:cs typeface="Calibri" pitchFamily="34" charset="-120"/>
                        </a:rPr>
                        <a:t>Node (e.g. “3nm”)</a:t>
                      </a:r>
                      <a:endParaRPr lang="en-US" sz="1300" dirty="0">
                        <a:latin typeface="Calibri" charset="0"/>
                        <a:ea typeface="Calibri" charset="0"/>
                        <a:cs typeface="Calibri" charset="0"/>
                      </a:endParaRPr>
                    </a:p>
                  </a:txBody>
                  <a:tcPr marL="73152" marR="73152" marT="73152" marB="73152"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EEF2F6"/>
                    </a:solidFill>
                  </a:tcPr>
                </a:tc>
                <a:tc>
                  <a:txBody>
                    <a:bodyPr/>
                    <a:lstStyle/>
                    <a:p>
                      <a:pPr indent="0" marL="0">
                        <a:buNone/>
                      </a:pPr>
                      <a:r>
                        <a:rPr lang="en-US" sz="1300" dirty="0">
                          <a:solidFill>
                            <a:srgbClr val="14202E"/>
                          </a:solidFill>
                          <a:latin typeface="Calibri" pitchFamily="34" charset="0"/>
                          <a:ea typeface="Calibri" pitchFamily="34" charset="-122"/>
                          <a:cs typeface="Calibri" pitchFamily="34" charset="-120"/>
                        </a:rPr>
                        <a:t>A chip generation's name</a:t>
                      </a:r>
                      <a:endParaRPr lang="en-US" sz="1300" dirty="0">
                        <a:latin typeface="Calibri" charset="0"/>
                        <a:ea typeface="Calibri" charset="0"/>
                        <a:cs typeface="Calibri" charset="0"/>
                      </a:endParaRPr>
                    </a:p>
                  </a:txBody>
                  <a:tcPr marL="73152" marR="73152" marT="73152" marB="73152"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EEF2F6"/>
                    </a:solidFill>
                  </a:tcPr>
                </a:tc>
              </a:tr>
            </a:tbl>
          </a:graphicData>
        </a:graphic>
      </p:graphicFrame>
      <p:graphicFrame>
        <p:nvGraphicFramePr>
          <p:cNvPr id="31" name="Table 1"/>
          <p:cNvGraphicFramePr>
            <a:graphicFrameLocks noGrp="1"/>
          </p:cNvGraphicFramePr>
          <p:nvPr>
            <p:extLst>
              <p:ext uri="{D42A27DB-BD31-4B8C-83A1-F6EECF244321}">
                <p14:modId xmlns:p14="http://schemas.microsoft.com/office/powerpoint/2010/main" val="1579011935"/>
              </p:ext>
            </p:extLst>
          </p:nvPr>
        </p:nvGraphicFramePr>
        <p:xfrm>
          <a:off x="4663440" y="1097280"/>
          <a:ext cx="4023360" cy="914400"/>
        </p:xfrm>
        <a:graphic>
          <a:graphicData uri="http://schemas.openxmlformats.org/drawingml/2006/table">
            <a:tbl>
              <a:tblPr/>
              <a:tblGrid>
                <a:gridCol w="1600200"/>
                <a:gridCol w="2423160"/>
              </a:tblGrid>
              <a:tr h="566928">
                <a:tc>
                  <a:txBody>
                    <a:bodyPr/>
                    <a:lstStyle/>
                    <a:p>
                      <a:pPr indent="0" marL="0">
                        <a:buNone/>
                      </a:pPr>
                      <a:r>
                        <a:rPr lang="en-US" sz="1300" b="1" dirty="0">
                          <a:solidFill>
                            <a:srgbClr val="0B1F33"/>
                          </a:solidFill>
                          <a:latin typeface="Calibri" pitchFamily="34" charset="0"/>
                          <a:ea typeface="Calibri" pitchFamily="34" charset="-122"/>
                          <a:cs typeface="Calibri" pitchFamily="34" charset="-120"/>
                        </a:rPr>
                        <a:t>FinFET</a:t>
                      </a:r>
                      <a:endParaRPr lang="en-US" sz="1300" dirty="0">
                        <a:latin typeface="Calibri" charset="0"/>
                        <a:ea typeface="Calibri" charset="0"/>
                        <a:cs typeface="Calibri" charset="0"/>
                      </a:endParaRPr>
                    </a:p>
                  </a:txBody>
                  <a:tcPr marL="73152" marR="73152" marT="73152" marB="73152"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FFFFFF"/>
                    </a:solidFill>
                  </a:tcPr>
                </a:tc>
                <a:tc>
                  <a:txBody>
                    <a:bodyPr/>
                    <a:lstStyle/>
                    <a:p>
                      <a:pPr indent="0" marL="0">
                        <a:buNone/>
                      </a:pPr>
                      <a:r>
                        <a:rPr lang="en-US" sz="1300" dirty="0">
                          <a:solidFill>
                            <a:srgbClr val="14202E"/>
                          </a:solidFill>
                          <a:latin typeface="Calibri" pitchFamily="34" charset="0"/>
                          <a:ea typeface="Calibri" pitchFamily="34" charset="-122"/>
                          <a:cs typeface="Calibri" pitchFamily="34" charset="-120"/>
                        </a:rPr>
                        <a:t>Switch with the gate on 3 sides</a:t>
                      </a:r>
                      <a:endParaRPr lang="en-US" sz="1300" dirty="0">
                        <a:latin typeface="Calibri" charset="0"/>
                        <a:ea typeface="Calibri" charset="0"/>
                        <a:cs typeface="Calibri" charset="0"/>
                      </a:endParaRPr>
                    </a:p>
                  </a:txBody>
                  <a:tcPr marL="73152" marR="73152" marT="73152" marB="73152"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FFFFFF"/>
                    </a:solidFill>
                  </a:tcPr>
                </a:tc>
              </a:tr>
              <a:tr h="566928">
                <a:tc>
                  <a:txBody>
                    <a:bodyPr/>
                    <a:lstStyle/>
                    <a:p>
                      <a:pPr indent="0" marL="0">
                        <a:buNone/>
                      </a:pPr>
                      <a:r>
                        <a:rPr lang="en-US" sz="1300" b="1" dirty="0">
                          <a:solidFill>
                            <a:srgbClr val="0B1F33"/>
                          </a:solidFill>
                          <a:latin typeface="Calibri" pitchFamily="34" charset="0"/>
                          <a:ea typeface="Calibri" pitchFamily="34" charset="-122"/>
                          <a:cs typeface="Calibri" pitchFamily="34" charset="-120"/>
                        </a:rPr>
                        <a:t>Gate-all-around</a:t>
                      </a:r>
                      <a:endParaRPr lang="en-US" sz="1300" dirty="0">
                        <a:latin typeface="Calibri" charset="0"/>
                        <a:ea typeface="Calibri" charset="0"/>
                        <a:cs typeface="Calibri" charset="0"/>
                      </a:endParaRPr>
                    </a:p>
                  </a:txBody>
                  <a:tcPr marL="73152" marR="73152" marT="73152" marB="73152"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EEF2F6"/>
                    </a:solidFill>
                  </a:tcPr>
                </a:tc>
                <a:tc>
                  <a:txBody>
                    <a:bodyPr/>
                    <a:lstStyle/>
                    <a:p>
                      <a:pPr indent="0" marL="0">
                        <a:buNone/>
                      </a:pPr>
                      <a:r>
                        <a:rPr lang="en-US" sz="1300" dirty="0">
                          <a:solidFill>
                            <a:srgbClr val="14202E"/>
                          </a:solidFill>
                          <a:latin typeface="Calibri" pitchFamily="34" charset="0"/>
                          <a:ea typeface="Calibri" pitchFamily="34" charset="-122"/>
                          <a:cs typeface="Calibri" pitchFamily="34" charset="-120"/>
                        </a:rPr>
                        <a:t>Switch with the gate on all sides</a:t>
                      </a:r>
                      <a:endParaRPr lang="en-US" sz="1300" dirty="0">
                        <a:latin typeface="Calibri" charset="0"/>
                        <a:ea typeface="Calibri" charset="0"/>
                        <a:cs typeface="Calibri" charset="0"/>
                      </a:endParaRPr>
                    </a:p>
                  </a:txBody>
                  <a:tcPr marL="73152" marR="73152" marT="73152" marB="73152"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EEF2F6"/>
                    </a:solidFill>
                  </a:tcPr>
                </a:tc>
              </a:tr>
              <a:tr h="566928">
                <a:tc>
                  <a:txBody>
                    <a:bodyPr/>
                    <a:lstStyle/>
                    <a:p>
                      <a:pPr indent="0" marL="0">
                        <a:buNone/>
                      </a:pPr>
                      <a:r>
                        <a:rPr lang="en-US" sz="1300" b="1" dirty="0">
                          <a:solidFill>
                            <a:srgbClr val="0B1F33"/>
                          </a:solidFill>
                          <a:latin typeface="Calibri" pitchFamily="34" charset="0"/>
                          <a:ea typeface="Calibri" pitchFamily="34" charset="-122"/>
                          <a:cs typeface="Calibri" pitchFamily="34" charset="-120"/>
                        </a:rPr>
                        <a:t>Backside power</a:t>
                      </a:r>
                      <a:endParaRPr lang="en-US" sz="1300" dirty="0">
                        <a:latin typeface="Calibri" charset="0"/>
                        <a:ea typeface="Calibri" charset="0"/>
                        <a:cs typeface="Calibri" charset="0"/>
                      </a:endParaRPr>
                    </a:p>
                  </a:txBody>
                  <a:tcPr marL="73152" marR="73152" marT="73152" marB="73152"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FFFFFF"/>
                    </a:solidFill>
                  </a:tcPr>
                </a:tc>
                <a:tc>
                  <a:txBody>
                    <a:bodyPr/>
                    <a:lstStyle/>
                    <a:p>
                      <a:pPr indent="0" marL="0">
                        <a:buNone/>
                      </a:pPr>
                      <a:r>
                        <a:rPr lang="en-US" sz="1300" dirty="0">
                          <a:solidFill>
                            <a:srgbClr val="14202E"/>
                          </a:solidFill>
                          <a:latin typeface="Calibri" pitchFamily="34" charset="0"/>
                          <a:ea typeface="Calibri" pitchFamily="34" charset="-122"/>
                          <a:cs typeface="Calibri" pitchFamily="34" charset="-120"/>
                        </a:rPr>
                        <a:t>Power wires moved under the switches</a:t>
                      </a:r>
                      <a:endParaRPr lang="en-US" sz="1300" dirty="0">
                        <a:latin typeface="Calibri" charset="0"/>
                        <a:ea typeface="Calibri" charset="0"/>
                        <a:cs typeface="Calibri" charset="0"/>
                      </a:endParaRPr>
                    </a:p>
                  </a:txBody>
                  <a:tcPr marL="73152" marR="73152" marT="73152" marB="73152"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FFFFFF"/>
                    </a:solidFill>
                  </a:tcPr>
                </a:tc>
              </a:tr>
              <a:tr h="566928">
                <a:tc>
                  <a:txBody>
                    <a:bodyPr/>
                    <a:lstStyle/>
                    <a:p>
                      <a:pPr indent="0" marL="0">
                        <a:buNone/>
                      </a:pPr>
                      <a:r>
                        <a:rPr lang="en-US" sz="1300" b="1" dirty="0">
                          <a:solidFill>
                            <a:srgbClr val="0B1F33"/>
                          </a:solidFill>
                          <a:latin typeface="Calibri" pitchFamily="34" charset="0"/>
                          <a:ea typeface="Calibri" pitchFamily="34" charset="-122"/>
                          <a:cs typeface="Calibri" pitchFamily="34" charset="-120"/>
                        </a:rPr>
                        <a:t>Wafer</a:t>
                      </a:r>
                      <a:endParaRPr lang="en-US" sz="1300" dirty="0">
                        <a:latin typeface="Calibri" charset="0"/>
                        <a:ea typeface="Calibri" charset="0"/>
                        <a:cs typeface="Calibri" charset="0"/>
                      </a:endParaRPr>
                    </a:p>
                  </a:txBody>
                  <a:tcPr marL="73152" marR="73152" marT="73152" marB="73152"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EEF2F6"/>
                    </a:solidFill>
                  </a:tcPr>
                </a:tc>
                <a:tc>
                  <a:txBody>
                    <a:bodyPr/>
                    <a:lstStyle/>
                    <a:p>
                      <a:pPr indent="0" marL="0">
                        <a:buNone/>
                      </a:pPr>
                      <a:r>
                        <a:rPr lang="en-US" sz="1300" dirty="0">
                          <a:solidFill>
                            <a:srgbClr val="14202E"/>
                          </a:solidFill>
                          <a:latin typeface="Calibri" pitchFamily="34" charset="0"/>
                          <a:ea typeface="Calibri" pitchFamily="34" charset="-122"/>
                          <a:cs typeface="Calibri" pitchFamily="34" charset="-120"/>
                        </a:rPr>
                        <a:t>Thin silicon disc chips are made on</a:t>
                      </a:r>
                      <a:endParaRPr lang="en-US" sz="1300" dirty="0">
                        <a:latin typeface="Calibri" charset="0"/>
                        <a:ea typeface="Calibri" charset="0"/>
                        <a:cs typeface="Calibri" charset="0"/>
                      </a:endParaRPr>
                    </a:p>
                  </a:txBody>
                  <a:tcPr marL="73152" marR="73152" marT="73152" marB="73152"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EEF2F6"/>
                    </a:solidFill>
                  </a:tcPr>
                </a:tc>
              </a:tr>
              <a:tr h="566928">
                <a:tc>
                  <a:txBody>
                    <a:bodyPr/>
                    <a:lstStyle/>
                    <a:p>
                      <a:pPr indent="0" marL="0">
                        <a:buNone/>
                      </a:pPr>
                      <a:r>
                        <a:rPr lang="en-US" sz="1300" b="1" dirty="0">
                          <a:solidFill>
                            <a:srgbClr val="0B1F33"/>
                          </a:solidFill>
                          <a:latin typeface="Calibri" pitchFamily="34" charset="0"/>
                          <a:ea typeface="Calibri" pitchFamily="34" charset="-122"/>
                          <a:cs typeface="Calibri" pitchFamily="34" charset="-120"/>
                        </a:rPr>
                        <a:t>Foundry</a:t>
                      </a:r>
                      <a:endParaRPr lang="en-US" sz="1300" dirty="0">
                        <a:latin typeface="Calibri" charset="0"/>
                        <a:ea typeface="Calibri" charset="0"/>
                        <a:cs typeface="Calibri" charset="0"/>
                      </a:endParaRPr>
                    </a:p>
                  </a:txBody>
                  <a:tcPr marL="73152" marR="73152" marT="73152" marB="73152"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FFFFFF"/>
                    </a:solidFill>
                  </a:tcPr>
                </a:tc>
                <a:tc>
                  <a:txBody>
                    <a:bodyPr/>
                    <a:lstStyle/>
                    <a:p>
                      <a:pPr indent="0" marL="0">
                        <a:buNone/>
                      </a:pPr>
                      <a:r>
                        <a:rPr lang="en-US" sz="1300" dirty="0">
                          <a:solidFill>
                            <a:srgbClr val="14202E"/>
                          </a:solidFill>
                          <a:latin typeface="Calibri" pitchFamily="34" charset="0"/>
                          <a:ea typeface="Calibri" pitchFamily="34" charset="-122"/>
                          <a:cs typeface="Calibri" pitchFamily="34" charset="-120"/>
                        </a:rPr>
                        <a:t>A company that makes chips for others</a:t>
                      </a:r>
                      <a:endParaRPr lang="en-US" sz="1300" dirty="0">
                        <a:latin typeface="Calibri" charset="0"/>
                        <a:ea typeface="Calibri" charset="0"/>
                        <a:cs typeface="Calibri" charset="0"/>
                      </a:endParaRPr>
                    </a:p>
                  </a:txBody>
                  <a:tcPr marL="73152" marR="73152" marT="73152" marB="73152"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7083"/>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2800" b="1" dirty="0">
                <a:solidFill>
                  <a:srgbClr val="0B1F33"/>
                </a:solidFill>
                <a:latin typeface="Cambria" pitchFamily="34" charset="0"/>
                <a:ea typeface="Cambria" pitchFamily="34" charset="-122"/>
                <a:cs typeface="Cambria" pitchFamily="34" charset="-120"/>
              </a:rPr>
              <a:t>Check yourself</a:t>
            </a:r>
            <a:endParaRPr lang="en-US" sz="2800" dirty="0"/>
          </a:p>
        </p:txBody>
      </p:sp>
      <p:sp>
        <p:nvSpPr>
          <p:cNvPr id="3" name="Shape 1"/>
          <p:cNvSpPr/>
          <p:nvPr/>
        </p:nvSpPr>
        <p:spPr>
          <a:xfrm>
            <a:off x="548640" y="1143000"/>
            <a:ext cx="402336" cy="402336"/>
          </a:xfrm>
          <a:prstGeom prst="ellipse">
            <a:avLst/>
          </a:prstGeom>
          <a:solidFill>
            <a:srgbClr val="2A9D8F"/>
          </a:solidFill>
          <a:ln w="12700">
            <a:solidFill>
              <a:srgbClr val="2A9D8F"/>
            </a:solidFill>
            <a:prstDash val="solid"/>
          </a:ln>
        </p:spPr>
      </p:sp>
      <p:sp>
        <p:nvSpPr>
          <p:cNvPr id="4" name="Text 2"/>
          <p:cNvSpPr txBox="1"/>
          <p:nvPr/>
        </p:nvSpPr>
        <p:spPr>
          <a:xfrm>
            <a:off x="548640" y="114300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1</a:t>
            </a:r>
            <a:endParaRPr lang="en-US" sz="1500" dirty="0"/>
          </a:p>
        </p:txBody>
      </p:sp>
      <p:sp>
        <p:nvSpPr>
          <p:cNvPr id="5" name="Text 3"/>
          <p:cNvSpPr txBox="1"/>
          <p:nvPr/>
        </p:nvSpPr>
        <p:spPr>
          <a:xfrm>
            <a:off x="1188720" y="1097280"/>
            <a:ext cx="7498080" cy="502920"/>
          </a:xfrm>
          <a:prstGeom prst="rect">
            <a:avLst/>
          </a:prstGeom>
          <a:noFill/>
          <a:ln/>
        </p:spPr>
        <p:txBody>
          <a:bodyPr wrap="square" lIns="0" tIns="0" rIns="0" bIns="0" rtlCol="0" anchor="ctr"/>
          <a:lstStyle/>
          <a:p>
            <a:pPr indent="0" marL="0">
              <a:buNone/>
            </a:pPr>
            <a:r>
              <a:rPr lang="en-US" sz="1700" dirty="0">
                <a:solidFill>
                  <a:srgbClr val="14202E"/>
                </a:solidFill>
                <a:latin typeface="Calibri" pitchFamily="34" charset="0"/>
                <a:ea typeface="Calibri" pitchFamily="34" charset="-122"/>
                <a:cs typeface="Calibri" pitchFamily="34" charset="-120"/>
              </a:rPr>
              <a:t>What is a transistor?</a:t>
            </a:r>
            <a:endParaRPr lang="en-US" sz="1700" dirty="0"/>
          </a:p>
        </p:txBody>
      </p:sp>
      <p:sp>
        <p:nvSpPr>
          <p:cNvPr id="6" name="Shape 4"/>
          <p:cNvSpPr/>
          <p:nvPr/>
        </p:nvSpPr>
        <p:spPr>
          <a:xfrm>
            <a:off x="548640" y="1801368"/>
            <a:ext cx="402336" cy="402336"/>
          </a:xfrm>
          <a:prstGeom prst="ellipse">
            <a:avLst/>
          </a:prstGeom>
          <a:solidFill>
            <a:srgbClr val="2A9D8F"/>
          </a:solidFill>
          <a:ln w="12700">
            <a:solidFill>
              <a:srgbClr val="2A9D8F"/>
            </a:solidFill>
            <a:prstDash val="solid"/>
          </a:ln>
        </p:spPr>
      </p:sp>
      <p:sp>
        <p:nvSpPr>
          <p:cNvPr id="7" name="Text 5"/>
          <p:cNvSpPr txBox="1"/>
          <p:nvPr/>
        </p:nvSpPr>
        <p:spPr>
          <a:xfrm>
            <a:off x="548640" y="1801368"/>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2</a:t>
            </a:r>
            <a:endParaRPr lang="en-US" sz="1500" dirty="0"/>
          </a:p>
        </p:txBody>
      </p:sp>
      <p:sp>
        <p:nvSpPr>
          <p:cNvPr id="8" name="Text 6"/>
          <p:cNvSpPr txBox="1"/>
          <p:nvPr/>
        </p:nvSpPr>
        <p:spPr>
          <a:xfrm>
            <a:off x="1188720" y="1755648"/>
            <a:ext cx="7498080" cy="502920"/>
          </a:xfrm>
          <a:prstGeom prst="rect">
            <a:avLst/>
          </a:prstGeom>
          <a:noFill/>
          <a:ln/>
        </p:spPr>
        <p:txBody>
          <a:bodyPr wrap="square" lIns="0" tIns="0" rIns="0" bIns="0" rtlCol="0" anchor="ctr"/>
          <a:lstStyle/>
          <a:p>
            <a:pPr indent="0" marL="0">
              <a:buNone/>
            </a:pPr>
            <a:r>
              <a:rPr lang="en-US" sz="1700" dirty="0">
                <a:solidFill>
                  <a:srgbClr val="14202E"/>
                </a:solidFill>
                <a:latin typeface="Calibri" pitchFamily="34" charset="0"/>
                <a:ea typeface="Calibri" pitchFamily="34" charset="-122"/>
                <a:cs typeface="Calibri" pitchFamily="34" charset="-120"/>
              </a:rPr>
              <a:t>Is anything on a “3nm” chip actually 3 nm?</a:t>
            </a:r>
            <a:endParaRPr lang="en-US" sz="1700" dirty="0"/>
          </a:p>
        </p:txBody>
      </p:sp>
      <p:sp>
        <p:nvSpPr>
          <p:cNvPr id="9" name="Shape 7"/>
          <p:cNvSpPr/>
          <p:nvPr/>
        </p:nvSpPr>
        <p:spPr>
          <a:xfrm>
            <a:off x="548640" y="2459736"/>
            <a:ext cx="402336" cy="402336"/>
          </a:xfrm>
          <a:prstGeom prst="ellipse">
            <a:avLst/>
          </a:prstGeom>
          <a:solidFill>
            <a:srgbClr val="2A9D8F"/>
          </a:solidFill>
          <a:ln w="12700">
            <a:solidFill>
              <a:srgbClr val="2A9D8F"/>
            </a:solidFill>
            <a:prstDash val="solid"/>
          </a:ln>
        </p:spPr>
      </p:sp>
      <p:sp>
        <p:nvSpPr>
          <p:cNvPr id="10" name="Text 8"/>
          <p:cNvSpPr txBox="1"/>
          <p:nvPr/>
        </p:nvSpPr>
        <p:spPr>
          <a:xfrm>
            <a:off x="548640" y="2459736"/>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3</a:t>
            </a:r>
            <a:endParaRPr lang="en-US" sz="1500" dirty="0"/>
          </a:p>
        </p:txBody>
      </p:sp>
      <p:sp>
        <p:nvSpPr>
          <p:cNvPr id="11" name="Text 9"/>
          <p:cNvSpPr txBox="1"/>
          <p:nvPr/>
        </p:nvSpPr>
        <p:spPr>
          <a:xfrm>
            <a:off x="1188720" y="2414016"/>
            <a:ext cx="7498080" cy="502920"/>
          </a:xfrm>
          <a:prstGeom prst="rect">
            <a:avLst/>
          </a:prstGeom>
          <a:noFill/>
          <a:ln/>
        </p:spPr>
        <p:txBody>
          <a:bodyPr wrap="square" lIns="0" tIns="0" rIns="0" bIns="0" rtlCol="0" anchor="ctr"/>
          <a:lstStyle/>
          <a:p>
            <a:pPr indent="0" marL="0">
              <a:buNone/>
            </a:pPr>
            <a:r>
              <a:rPr lang="en-US" sz="1700" dirty="0">
                <a:solidFill>
                  <a:srgbClr val="14202E"/>
                </a:solidFill>
                <a:latin typeface="Calibri" pitchFamily="34" charset="0"/>
                <a:ea typeface="Calibri" pitchFamily="34" charset="-122"/>
                <a:cs typeface="Calibri" pitchFamily="34" charset="-120"/>
              </a:rPr>
              <a:t>Why do tiny switches leak?</a:t>
            </a:r>
            <a:endParaRPr lang="en-US" sz="1700" dirty="0"/>
          </a:p>
        </p:txBody>
      </p:sp>
      <p:sp>
        <p:nvSpPr>
          <p:cNvPr id="12" name="Shape 10"/>
          <p:cNvSpPr/>
          <p:nvPr/>
        </p:nvSpPr>
        <p:spPr>
          <a:xfrm>
            <a:off x="548640" y="3118104"/>
            <a:ext cx="402336" cy="402336"/>
          </a:xfrm>
          <a:prstGeom prst="ellipse">
            <a:avLst/>
          </a:prstGeom>
          <a:solidFill>
            <a:srgbClr val="2A9D8F"/>
          </a:solidFill>
          <a:ln w="12700">
            <a:solidFill>
              <a:srgbClr val="2A9D8F"/>
            </a:solidFill>
            <a:prstDash val="solid"/>
          </a:ln>
        </p:spPr>
      </p:sp>
      <p:sp>
        <p:nvSpPr>
          <p:cNvPr id="13" name="Text 11"/>
          <p:cNvSpPr txBox="1"/>
          <p:nvPr/>
        </p:nvSpPr>
        <p:spPr>
          <a:xfrm>
            <a:off x="548640" y="3118104"/>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4</a:t>
            </a:r>
            <a:endParaRPr lang="en-US" sz="1500" dirty="0"/>
          </a:p>
        </p:txBody>
      </p:sp>
      <p:sp>
        <p:nvSpPr>
          <p:cNvPr id="14" name="Text 12"/>
          <p:cNvSpPr txBox="1"/>
          <p:nvPr/>
        </p:nvSpPr>
        <p:spPr>
          <a:xfrm>
            <a:off x="1188720" y="3072384"/>
            <a:ext cx="7498080" cy="502920"/>
          </a:xfrm>
          <a:prstGeom prst="rect">
            <a:avLst/>
          </a:prstGeom>
          <a:noFill/>
          <a:ln/>
        </p:spPr>
        <p:txBody>
          <a:bodyPr wrap="square" lIns="0" tIns="0" rIns="0" bIns="0" rtlCol="0" anchor="ctr"/>
          <a:lstStyle/>
          <a:p>
            <a:pPr indent="0" marL="0">
              <a:buNone/>
            </a:pPr>
            <a:r>
              <a:rPr lang="en-US" sz="1700" dirty="0">
                <a:solidFill>
                  <a:srgbClr val="14202E"/>
                </a:solidFill>
                <a:latin typeface="Calibri" pitchFamily="34" charset="0"/>
                <a:ea typeface="Calibri" pitchFamily="34" charset="-122"/>
                <a:cs typeface="Calibri" pitchFamily="34" charset="-120"/>
              </a:rPr>
              <a:t>How did engineers fix leaking?</a:t>
            </a:r>
            <a:endParaRPr lang="en-US" sz="1700" dirty="0"/>
          </a:p>
        </p:txBody>
      </p:sp>
      <p:sp>
        <p:nvSpPr>
          <p:cNvPr id="15" name="Shape 13"/>
          <p:cNvSpPr/>
          <p:nvPr/>
        </p:nvSpPr>
        <p:spPr>
          <a:xfrm>
            <a:off x="548640" y="3776472"/>
            <a:ext cx="402336" cy="402336"/>
          </a:xfrm>
          <a:prstGeom prst="ellipse">
            <a:avLst/>
          </a:prstGeom>
          <a:solidFill>
            <a:srgbClr val="2A9D8F"/>
          </a:solidFill>
          <a:ln w="12700">
            <a:solidFill>
              <a:srgbClr val="2A9D8F"/>
            </a:solidFill>
            <a:prstDash val="solid"/>
          </a:ln>
        </p:spPr>
      </p:sp>
      <p:sp>
        <p:nvSpPr>
          <p:cNvPr id="16" name="Text 14"/>
          <p:cNvSpPr txBox="1"/>
          <p:nvPr/>
        </p:nvSpPr>
        <p:spPr>
          <a:xfrm>
            <a:off x="548640" y="3776472"/>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5</a:t>
            </a:r>
            <a:endParaRPr lang="en-US" sz="1500" dirty="0"/>
          </a:p>
        </p:txBody>
      </p:sp>
      <p:sp>
        <p:nvSpPr>
          <p:cNvPr id="17" name="Text 15"/>
          <p:cNvSpPr txBox="1"/>
          <p:nvPr/>
        </p:nvSpPr>
        <p:spPr>
          <a:xfrm>
            <a:off x="1188720" y="3730752"/>
            <a:ext cx="7498080" cy="502920"/>
          </a:xfrm>
          <a:prstGeom prst="rect">
            <a:avLst/>
          </a:prstGeom>
          <a:noFill/>
          <a:ln/>
        </p:spPr>
        <p:txBody>
          <a:bodyPr wrap="square" lIns="0" tIns="0" rIns="0" bIns="0" rtlCol="0" anchor="ctr"/>
          <a:lstStyle/>
          <a:p>
            <a:pPr indent="0" marL="0">
              <a:buNone/>
            </a:pPr>
            <a:r>
              <a:rPr lang="en-US" sz="1700" dirty="0">
                <a:solidFill>
                  <a:srgbClr val="14202E"/>
                </a:solidFill>
                <a:latin typeface="Calibri" pitchFamily="34" charset="0"/>
                <a:ea typeface="Calibri" pitchFamily="34" charset="-122"/>
                <a:cs typeface="Calibri" pitchFamily="34" charset="-120"/>
              </a:rPr>
              <a:t>What does backside power do?</a:t>
            </a:r>
            <a:endParaRPr lang="en-US" sz="1700" dirty="0"/>
          </a:p>
        </p:txBody>
      </p:sp>
      <p:sp>
        <p:nvSpPr>
          <p:cNvPr id="18" name="Text 16"/>
          <p:cNvSpPr txBox="1"/>
          <p:nvPr/>
        </p:nvSpPr>
        <p:spPr>
          <a:xfrm>
            <a:off x="457200" y="4389120"/>
            <a:ext cx="8229600" cy="320040"/>
          </a:xfrm>
          <a:prstGeom prst="rect">
            <a:avLst/>
          </a:prstGeom>
          <a:noFill/>
          <a:ln/>
        </p:spPr>
        <p:txBody>
          <a:bodyPr wrap="square" lIns="0" tIns="0" rIns="0" bIns="0" rtlCol="0" anchor="t"/>
          <a:lstStyle/>
          <a:p>
            <a:pPr indent="0" marL="0">
              <a:buNone/>
            </a:pPr>
            <a:r>
              <a:rPr lang="en-US" sz="1300" i="1" dirty="0">
                <a:solidFill>
                  <a:srgbClr val="5B7083"/>
                </a:solidFill>
                <a:latin typeface="Calibri" pitchFamily="34" charset="0"/>
                <a:ea typeface="Calibri" pitchFamily="34" charset="-122"/>
                <a:cs typeface="Calibri" pitchFamily="34" charset="-120"/>
              </a:rPr>
              <a:t>Say your answers out loud, then check the next slide.</a:t>
            </a:r>
            <a:endParaRPr lang="en-US" sz="13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7083"/>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2800" b="1" dirty="0">
                <a:solidFill>
                  <a:srgbClr val="0B1F33"/>
                </a:solidFill>
                <a:latin typeface="Cambria" pitchFamily="34" charset="0"/>
                <a:ea typeface="Cambria" pitchFamily="34" charset="-122"/>
                <a:cs typeface="Cambria" pitchFamily="34" charset="-120"/>
              </a:rPr>
              <a:t>Answers</a:t>
            </a:r>
            <a:endParaRPr lang="en-US" sz="2800" dirty="0"/>
          </a:p>
        </p:txBody>
      </p:sp>
      <p:sp>
        <p:nvSpPr>
          <p:cNvPr id="3" name="Shape 1"/>
          <p:cNvSpPr/>
          <p:nvPr/>
        </p:nvSpPr>
        <p:spPr>
          <a:xfrm>
            <a:off x="548640" y="1124712"/>
            <a:ext cx="402336" cy="402336"/>
          </a:xfrm>
          <a:prstGeom prst="ellipse">
            <a:avLst/>
          </a:prstGeom>
          <a:solidFill>
            <a:srgbClr val="2A9D8F"/>
          </a:solidFill>
          <a:ln w="12700">
            <a:solidFill>
              <a:srgbClr val="2A9D8F"/>
            </a:solidFill>
            <a:prstDash val="solid"/>
          </a:ln>
        </p:spPr>
      </p:sp>
      <p:sp>
        <p:nvSpPr>
          <p:cNvPr id="4" name="Text 2"/>
          <p:cNvSpPr txBox="1"/>
          <p:nvPr/>
        </p:nvSpPr>
        <p:spPr>
          <a:xfrm>
            <a:off x="548640" y="1124712"/>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1</a:t>
            </a:r>
            <a:endParaRPr lang="en-US" sz="1500" dirty="0"/>
          </a:p>
        </p:txBody>
      </p:sp>
      <p:sp>
        <p:nvSpPr>
          <p:cNvPr id="5" name="Text 3"/>
          <p:cNvSpPr txBox="1"/>
          <p:nvPr/>
        </p:nvSpPr>
        <p:spPr>
          <a:xfrm>
            <a:off x="1188720" y="1051560"/>
            <a:ext cx="7498080" cy="292608"/>
          </a:xfrm>
          <a:prstGeom prst="rect">
            <a:avLst/>
          </a:prstGeom>
          <a:noFill/>
          <a:ln/>
        </p:spPr>
        <p:txBody>
          <a:bodyPr wrap="square" lIns="0" tIns="0" rIns="0" bIns="0" rtlCol="0" anchor="t"/>
          <a:lstStyle/>
          <a:p>
            <a:pPr indent="0" marL="0">
              <a:buNone/>
            </a:pPr>
            <a:r>
              <a:rPr lang="en-US" sz="1300" dirty="0">
                <a:solidFill>
                  <a:srgbClr val="5B7083"/>
                </a:solidFill>
                <a:latin typeface="Calibri" pitchFamily="34" charset="0"/>
                <a:ea typeface="Calibri" pitchFamily="34" charset="-122"/>
                <a:cs typeface="Calibri" pitchFamily="34" charset="-120"/>
              </a:rPr>
              <a:t>What is a transistor?</a:t>
            </a:r>
            <a:endParaRPr lang="en-US" sz="1300" dirty="0"/>
          </a:p>
        </p:txBody>
      </p:sp>
      <p:sp>
        <p:nvSpPr>
          <p:cNvPr id="6" name="Text 4"/>
          <p:cNvSpPr txBox="1"/>
          <p:nvPr/>
        </p:nvSpPr>
        <p:spPr>
          <a:xfrm>
            <a:off x="1188720" y="1325880"/>
            <a:ext cx="7498080" cy="365760"/>
          </a:xfrm>
          <a:prstGeom prst="rect">
            <a:avLst/>
          </a:prstGeom>
          <a:noFill/>
          <a:ln/>
        </p:spPr>
        <p:txBody>
          <a:bodyPr wrap="square" lIns="0" tIns="0" rIns="0" bIns="0" rtlCol="0" anchor="t"/>
          <a:lstStyle/>
          <a:p>
            <a:pPr indent="0" marL="0">
              <a:buNone/>
            </a:pPr>
            <a:r>
              <a:rPr lang="en-US" sz="1500" b="1" dirty="0">
                <a:solidFill>
                  <a:srgbClr val="0B1F33"/>
                </a:solidFill>
                <a:latin typeface="Calibri" pitchFamily="34" charset="0"/>
                <a:ea typeface="Calibri" pitchFamily="34" charset="-122"/>
                <a:cs typeface="Calibri" pitchFamily="34" charset="-120"/>
              </a:rPr>
              <a:t>A tiny on/off switch. A chip has billions of them.</a:t>
            </a:r>
            <a:endParaRPr lang="en-US" sz="1500" dirty="0"/>
          </a:p>
        </p:txBody>
      </p:sp>
      <p:sp>
        <p:nvSpPr>
          <p:cNvPr id="7" name="Shape 5"/>
          <p:cNvSpPr/>
          <p:nvPr/>
        </p:nvSpPr>
        <p:spPr>
          <a:xfrm>
            <a:off x="548640" y="1837944"/>
            <a:ext cx="402336" cy="402336"/>
          </a:xfrm>
          <a:prstGeom prst="ellipse">
            <a:avLst/>
          </a:prstGeom>
          <a:solidFill>
            <a:srgbClr val="2A9D8F"/>
          </a:solidFill>
          <a:ln w="12700">
            <a:solidFill>
              <a:srgbClr val="2A9D8F"/>
            </a:solidFill>
            <a:prstDash val="solid"/>
          </a:ln>
        </p:spPr>
      </p:sp>
      <p:sp>
        <p:nvSpPr>
          <p:cNvPr id="8" name="Text 6"/>
          <p:cNvSpPr txBox="1"/>
          <p:nvPr/>
        </p:nvSpPr>
        <p:spPr>
          <a:xfrm>
            <a:off x="548640" y="1837944"/>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2</a:t>
            </a:r>
            <a:endParaRPr lang="en-US" sz="1500" dirty="0"/>
          </a:p>
        </p:txBody>
      </p:sp>
      <p:sp>
        <p:nvSpPr>
          <p:cNvPr id="9" name="Text 7"/>
          <p:cNvSpPr txBox="1"/>
          <p:nvPr/>
        </p:nvSpPr>
        <p:spPr>
          <a:xfrm>
            <a:off x="1188720" y="1764792"/>
            <a:ext cx="7498080" cy="292608"/>
          </a:xfrm>
          <a:prstGeom prst="rect">
            <a:avLst/>
          </a:prstGeom>
          <a:noFill/>
          <a:ln/>
        </p:spPr>
        <p:txBody>
          <a:bodyPr wrap="square" lIns="0" tIns="0" rIns="0" bIns="0" rtlCol="0" anchor="t"/>
          <a:lstStyle/>
          <a:p>
            <a:pPr indent="0" marL="0">
              <a:buNone/>
            </a:pPr>
            <a:r>
              <a:rPr lang="en-US" sz="1300" dirty="0">
                <a:solidFill>
                  <a:srgbClr val="5B7083"/>
                </a:solidFill>
                <a:latin typeface="Calibri" pitchFamily="34" charset="0"/>
                <a:ea typeface="Calibri" pitchFamily="34" charset="-122"/>
                <a:cs typeface="Calibri" pitchFamily="34" charset="-120"/>
              </a:rPr>
              <a:t>Is anything on a “3nm” chip actually 3 nm?</a:t>
            </a:r>
            <a:endParaRPr lang="en-US" sz="1300" dirty="0"/>
          </a:p>
        </p:txBody>
      </p:sp>
      <p:sp>
        <p:nvSpPr>
          <p:cNvPr id="10" name="Text 8"/>
          <p:cNvSpPr txBox="1"/>
          <p:nvPr/>
        </p:nvSpPr>
        <p:spPr>
          <a:xfrm>
            <a:off x="1188720" y="2039112"/>
            <a:ext cx="7498080" cy="365760"/>
          </a:xfrm>
          <a:prstGeom prst="rect">
            <a:avLst/>
          </a:prstGeom>
          <a:noFill/>
          <a:ln/>
        </p:spPr>
        <p:txBody>
          <a:bodyPr wrap="square" lIns="0" tIns="0" rIns="0" bIns="0" rtlCol="0" anchor="t"/>
          <a:lstStyle/>
          <a:p>
            <a:pPr indent="0" marL="0">
              <a:buNone/>
            </a:pPr>
            <a:r>
              <a:rPr lang="en-US" sz="1500" b="1" dirty="0">
                <a:solidFill>
                  <a:srgbClr val="0B1F33"/>
                </a:solidFill>
                <a:latin typeface="Calibri" pitchFamily="34" charset="0"/>
                <a:ea typeface="Calibri" pitchFamily="34" charset="-122"/>
                <a:cs typeface="Calibri" pitchFamily="34" charset="-120"/>
              </a:rPr>
              <a:t>No. It's a generation name, like “2 × 4” wood or “iPhone 15”.</a:t>
            </a:r>
            <a:endParaRPr lang="en-US" sz="1500" dirty="0"/>
          </a:p>
        </p:txBody>
      </p:sp>
      <p:sp>
        <p:nvSpPr>
          <p:cNvPr id="11" name="Shape 9"/>
          <p:cNvSpPr/>
          <p:nvPr/>
        </p:nvSpPr>
        <p:spPr>
          <a:xfrm>
            <a:off x="548640" y="2551176"/>
            <a:ext cx="402336" cy="402336"/>
          </a:xfrm>
          <a:prstGeom prst="ellipse">
            <a:avLst/>
          </a:prstGeom>
          <a:solidFill>
            <a:srgbClr val="2A9D8F"/>
          </a:solidFill>
          <a:ln w="12700">
            <a:solidFill>
              <a:srgbClr val="2A9D8F"/>
            </a:solidFill>
            <a:prstDash val="solid"/>
          </a:ln>
        </p:spPr>
      </p:sp>
      <p:sp>
        <p:nvSpPr>
          <p:cNvPr id="12" name="Text 10"/>
          <p:cNvSpPr txBox="1"/>
          <p:nvPr/>
        </p:nvSpPr>
        <p:spPr>
          <a:xfrm>
            <a:off x="548640" y="2551176"/>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3</a:t>
            </a:r>
            <a:endParaRPr lang="en-US" sz="1500" dirty="0"/>
          </a:p>
        </p:txBody>
      </p:sp>
      <p:sp>
        <p:nvSpPr>
          <p:cNvPr id="13" name="Text 11"/>
          <p:cNvSpPr txBox="1"/>
          <p:nvPr/>
        </p:nvSpPr>
        <p:spPr>
          <a:xfrm>
            <a:off x="1188720" y="2478024"/>
            <a:ext cx="7498080" cy="292608"/>
          </a:xfrm>
          <a:prstGeom prst="rect">
            <a:avLst/>
          </a:prstGeom>
          <a:noFill/>
          <a:ln/>
        </p:spPr>
        <p:txBody>
          <a:bodyPr wrap="square" lIns="0" tIns="0" rIns="0" bIns="0" rtlCol="0" anchor="t"/>
          <a:lstStyle/>
          <a:p>
            <a:pPr indent="0" marL="0">
              <a:buNone/>
            </a:pPr>
            <a:r>
              <a:rPr lang="en-US" sz="1300" dirty="0">
                <a:solidFill>
                  <a:srgbClr val="5B7083"/>
                </a:solidFill>
                <a:latin typeface="Calibri" pitchFamily="34" charset="0"/>
                <a:ea typeface="Calibri" pitchFamily="34" charset="-122"/>
                <a:cs typeface="Calibri" pitchFamily="34" charset="-120"/>
              </a:rPr>
              <a:t>Why do tiny switches leak?</a:t>
            </a:r>
            <a:endParaRPr lang="en-US" sz="1300" dirty="0"/>
          </a:p>
        </p:txBody>
      </p:sp>
      <p:sp>
        <p:nvSpPr>
          <p:cNvPr id="14" name="Text 12"/>
          <p:cNvSpPr txBox="1"/>
          <p:nvPr/>
        </p:nvSpPr>
        <p:spPr>
          <a:xfrm>
            <a:off x="1188720" y="2752344"/>
            <a:ext cx="7498080" cy="365760"/>
          </a:xfrm>
          <a:prstGeom prst="rect">
            <a:avLst/>
          </a:prstGeom>
          <a:noFill/>
          <a:ln/>
        </p:spPr>
        <p:txBody>
          <a:bodyPr wrap="square" lIns="0" tIns="0" rIns="0" bIns="0" rtlCol="0" anchor="t"/>
          <a:lstStyle/>
          <a:p>
            <a:pPr indent="0" marL="0">
              <a:buNone/>
            </a:pPr>
            <a:r>
              <a:rPr lang="en-US" sz="1500" b="1" dirty="0">
                <a:solidFill>
                  <a:srgbClr val="0B1F33"/>
                </a:solidFill>
                <a:latin typeface="Calibri" pitchFamily="34" charset="0"/>
                <a:ea typeface="Calibri" pitchFamily="34" charset="-122"/>
                <a:cs typeface="Calibri" pitchFamily="34" charset="-120"/>
              </a:rPr>
              <a:t>The gate loses control of the channel, so current slips through even when it's off.</a:t>
            </a:r>
            <a:endParaRPr lang="en-US" sz="1500" dirty="0"/>
          </a:p>
        </p:txBody>
      </p:sp>
      <p:sp>
        <p:nvSpPr>
          <p:cNvPr id="15" name="Shape 13"/>
          <p:cNvSpPr/>
          <p:nvPr/>
        </p:nvSpPr>
        <p:spPr>
          <a:xfrm>
            <a:off x="548640" y="3264408"/>
            <a:ext cx="402336" cy="402336"/>
          </a:xfrm>
          <a:prstGeom prst="ellipse">
            <a:avLst/>
          </a:prstGeom>
          <a:solidFill>
            <a:srgbClr val="2A9D8F"/>
          </a:solidFill>
          <a:ln w="12700">
            <a:solidFill>
              <a:srgbClr val="2A9D8F"/>
            </a:solidFill>
            <a:prstDash val="solid"/>
          </a:ln>
        </p:spPr>
      </p:sp>
      <p:sp>
        <p:nvSpPr>
          <p:cNvPr id="16" name="Text 14"/>
          <p:cNvSpPr txBox="1"/>
          <p:nvPr/>
        </p:nvSpPr>
        <p:spPr>
          <a:xfrm>
            <a:off x="548640" y="3264408"/>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4</a:t>
            </a:r>
            <a:endParaRPr lang="en-US" sz="1500" dirty="0"/>
          </a:p>
        </p:txBody>
      </p:sp>
      <p:sp>
        <p:nvSpPr>
          <p:cNvPr id="17" name="Text 15"/>
          <p:cNvSpPr txBox="1"/>
          <p:nvPr/>
        </p:nvSpPr>
        <p:spPr>
          <a:xfrm>
            <a:off x="1188720" y="3191256"/>
            <a:ext cx="7498080" cy="292608"/>
          </a:xfrm>
          <a:prstGeom prst="rect">
            <a:avLst/>
          </a:prstGeom>
          <a:noFill/>
          <a:ln/>
        </p:spPr>
        <p:txBody>
          <a:bodyPr wrap="square" lIns="0" tIns="0" rIns="0" bIns="0" rtlCol="0" anchor="t"/>
          <a:lstStyle/>
          <a:p>
            <a:pPr indent="0" marL="0">
              <a:buNone/>
            </a:pPr>
            <a:r>
              <a:rPr lang="en-US" sz="1300" dirty="0">
                <a:solidFill>
                  <a:srgbClr val="5B7083"/>
                </a:solidFill>
                <a:latin typeface="Calibri" pitchFamily="34" charset="0"/>
                <a:ea typeface="Calibri" pitchFamily="34" charset="-122"/>
                <a:cs typeface="Calibri" pitchFamily="34" charset="-120"/>
              </a:rPr>
              <a:t>How did engineers fix leaking?</a:t>
            </a:r>
            <a:endParaRPr lang="en-US" sz="1300" dirty="0"/>
          </a:p>
        </p:txBody>
      </p:sp>
      <p:sp>
        <p:nvSpPr>
          <p:cNvPr id="18" name="Text 16"/>
          <p:cNvSpPr txBox="1"/>
          <p:nvPr/>
        </p:nvSpPr>
        <p:spPr>
          <a:xfrm>
            <a:off x="1188720" y="3465576"/>
            <a:ext cx="7498080" cy="365760"/>
          </a:xfrm>
          <a:prstGeom prst="rect">
            <a:avLst/>
          </a:prstGeom>
          <a:noFill/>
          <a:ln/>
        </p:spPr>
        <p:txBody>
          <a:bodyPr wrap="square" lIns="0" tIns="0" rIns="0" bIns="0" rtlCol="0" anchor="t"/>
          <a:lstStyle/>
          <a:p>
            <a:pPr indent="0" marL="0">
              <a:buNone/>
            </a:pPr>
            <a:r>
              <a:rPr lang="en-US" sz="1500" b="1" dirty="0">
                <a:solidFill>
                  <a:srgbClr val="0B1F33"/>
                </a:solidFill>
                <a:latin typeface="Calibri" pitchFamily="34" charset="0"/>
                <a:ea typeface="Calibri" pitchFamily="34" charset="-122"/>
                <a:cs typeface="Calibri" pitchFamily="34" charset="-120"/>
              </a:rPr>
              <a:t>By wrapping the gate around more sides: 1 → 3 (FinFET) → all sides (gate-all-around).</a:t>
            </a:r>
            <a:endParaRPr lang="en-US" sz="1500" dirty="0"/>
          </a:p>
        </p:txBody>
      </p:sp>
      <p:sp>
        <p:nvSpPr>
          <p:cNvPr id="19" name="Shape 17"/>
          <p:cNvSpPr/>
          <p:nvPr/>
        </p:nvSpPr>
        <p:spPr>
          <a:xfrm>
            <a:off x="548640" y="3977640"/>
            <a:ext cx="402336" cy="402336"/>
          </a:xfrm>
          <a:prstGeom prst="ellipse">
            <a:avLst/>
          </a:prstGeom>
          <a:solidFill>
            <a:srgbClr val="2A9D8F"/>
          </a:solidFill>
          <a:ln w="12700">
            <a:solidFill>
              <a:srgbClr val="2A9D8F"/>
            </a:solidFill>
            <a:prstDash val="solid"/>
          </a:ln>
        </p:spPr>
      </p:sp>
      <p:sp>
        <p:nvSpPr>
          <p:cNvPr id="20" name="Text 18"/>
          <p:cNvSpPr txBox="1"/>
          <p:nvPr/>
        </p:nvSpPr>
        <p:spPr>
          <a:xfrm>
            <a:off x="548640" y="397764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5</a:t>
            </a:r>
            <a:endParaRPr lang="en-US" sz="1500" dirty="0"/>
          </a:p>
        </p:txBody>
      </p:sp>
      <p:sp>
        <p:nvSpPr>
          <p:cNvPr id="21" name="Text 19"/>
          <p:cNvSpPr txBox="1"/>
          <p:nvPr/>
        </p:nvSpPr>
        <p:spPr>
          <a:xfrm>
            <a:off x="1188720" y="3904488"/>
            <a:ext cx="7498080" cy="292608"/>
          </a:xfrm>
          <a:prstGeom prst="rect">
            <a:avLst/>
          </a:prstGeom>
          <a:noFill/>
          <a:ln/>
        </p:spPr>
        <p:txBody>
          <a:bodyPr wrap="square" lIns="0" tIns="0" rIns="0" bIns="0" rtlCol="0" anchor="t"/>
          <a:lstStyle/>
          <a:p>
            <a:pPr indent="0" marL="0">
              <a:buNone/>
            </a:pPr>
            <a:r>
              <a:rPr lang="en-US" sz="1300" dirty="0">
                <a:solidFill>
                  <a:srgbClr val="5B7083"/>
                </a:solidFill>
                <a:latin typeface="Calibri" pitchFamily="34" charset="0"/>
                <a:ea typeface="Calibri" pitchFamily="34" charset="-122"/>
                <a:cs typeface="Calibri" pitchFamily="34" charset="-120"/>
              </a:rPr>
              <a:t>What does backside power do?</a:t>
            </a:r>
            <a:endParaRPr lang="en-US" sz="1300" dirty="0"/>
          </a:p>
        </p:txBody>
      </p:sp>
      <p:sp>
        <p:nvSpPr>
          <p:cNvPr id="22" name="Text 20"/>
          <p:cNvSpPr txBox="1"/>
          <p:nvPr/>
        </p:nvSpPr>
        <p:spPr>
          <a:xfrm>
            <a:off x="1188720" y="4178808"/>
            <a:ext cx="7498080" cy="365760"/>
          </a:xfrm>
          <a:prstGeom prst="rect">
            <a:avLst/>
          </a:prstGeom>
          <a:noFill/>
          <a:ln/>
        </p:spPr>
        <p:txBody>
          <a:bodyPr wrap="square" lIns="0" tIns="0" rIns="0" bIns="0" rtlCol="0" anchor="t"/>
          <a:lstStyle/>
          <a:p>
            <a:pPr indent="0" marL="0">
              <a:buNone/>
            </a:pPr>
            <a:r>
              <a:rPr lang="en-US" sz="1500" b="1" dirty="0">
                <a:solidFill>
                  <a:srgbClr val="0B1F33"/>
                </a:solidFill>
                <a:latin typeface="Calibri" pitchFamily="34" charset="0"/>
                <a:ea typeface="Calibri" pitchFamily="34" charset="-122"/>
                <a:cs typeface="Calibri" pitchFamily="34" charset="-120"/>
              </a:rPr>
              <a:t>Moves the power wires under the switches, freeing space on top and wasting less power.</a:t>
            </a:r>
            <a:endParaRPr lang="en-US" sz="15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7083"/>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8046720" cy="731520"/>
          </a:xfrm>
          <a:prstGeom prst="rect">
            <a:avLst/>
          </a:prstGeom>
          <a:noFill/>
          <a:ln/>
        </p:spPr>
        <p:txBody>
          <a:bodyPr wrap="square" lIns="0" tIns="0" rIns="0" bIns="0" rtlCol="0" anchor="ctr"/>
          <a:lstStyle/>
          <a:p>
            <a:pPr algn="l" indent="0" marL="0">
              <a:buNone/>
            </a:pPr>
            <a:r>
              <a:rPr lang="en-US" sz="3200" b="1" dirty="0">
                <a:solidFill>
                  <a:srgbClr val="FFFFFF"/>
                </a:solidFill>
                <a:latin typeface="Cambria" pitchFamily="34" charset="0"/>
                <a:ea typeface="Cambria" pitchFamily="34" charset="-122"/>
                <a:cs typeface="Cambria" pitchFamily="34" charset="-120"/>
              </a:rPr>
              <a:t>Five things to remember</a:t>
            </a:r>
            <a:endParaRPr lang="en-US" sz="3200" dirty="0"/>
          </a:p>
        </p:txBody>
      </p:sp>
      <p:sp>
        <p:nvSpPr>
          <p:cNvPr id="3" name="Shape 1"/>
          <p:cNvSpPr/>
          <p:nvPr/>
        </p:nvSpPr>
        <p:spPr>
          <a:xfrm>
            <a:off x="548640" y="1325880"/>
            <a:ext cx="384048" cy="384048"/>
          </a:xfrm>
          <a:prstGeom prst="ellipse">
            <a:avLst/>
          </a:prstGeom>
          <a:solidFill>
            <a:srgbClr val="C8763A"/>
          </a:solidFill>
          <a:ln w="12700">
            <a:solidFill>
              <a:srgbClr val="C8763A"/>
            </a:solidFill>
            <a:prstDash val="solid"/>
          </a:ln>
        </p:spPr>
      </p:sp>
      <p:sp>
        <p:nvSpPr>
          <p:cNvPr id="4" name="Text 2"/>
          <p:cNvSpPr txBox="1"/>
          <p:nvPr/>
        </p:nvSpPr>
        <p:spPr>
          <a:xfrm>
            <a:off x="548640" y="132588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5" name="Text 3"/>
          <p:cNvSpPr txBox="1"/>
          <p:nvPr/>
        </p:nvSpPr>
        <p:spPr>
          <a:xfrm>
            <a:off x="1097280" y="1325880"/>
            <a:ext cx="7589520" cy="384048"/>
          </a:xfrm>
          <a:prstGeom prst="rect">
            <a:avLst/>
          </a:prstGeom>
          <a:noFill/>
          <a:ln/>
        </p:spPr>
        <p:txBody>
          <a:bodyPr wrap="square" lIns="0" tIns="0" rIns="0" bIns="0" rtlCol="0" anchor="ctr"/>
          <a:lstStyle/>
          <a:p>
            <a:pPr indent="0" marL="0">
              <a:buNone/>
            </a:pPr>
            <a:r>
              <a:rPr lang="en-US" sz="1700" dirty="0">
                <a:solidFill>
                  <a:srgbClr val="FFFFFF"/>
                </a:solidFill>
                <a:latin typeface="Calibri" pitchFamily="34" charset="0"/>
                <a:ea typeface="Calibri" pitchFamily="34" charset="-122"/>
                <a:cs typeface="Calibri" pitchFamily="34" charset="-120"/>
              </a:rPr>
              <a:t>A chip is billions of tiny on/off switches called transistors</a:t>
            </a:r>
            <a:endParaRPr lang="en-US" sz="1700" dirty="0"/>
          </a:p>
        </p:txBody>
      </p:sp>
      <p:sp>
        <p:nvSpPr>
          <p:cNvPr id="6" name="Shape 4"/>
          <p:cNvSpPr/>
          <p:nvPr/>
        </p:nvSpPr>
        <p:spPr>
          <a:xfrm>
            <a:off x="548640" y="1892808"/>
            <a:ext cx="384048" cy="384048"/>
          </a:xfrm>
          <a:prstGeom prst="ellipse">
            <a:avLst/>
          </a:prstGeom>
          <a:solidFill>
            <a:srgbClr val="C8763A"/>
          </a:solidFill>
          <a:ln w="12700">
            <a:solidFill>
              <a:srgbClr val="C8763A"/>
            </a:solidFill>
            <a:prstDash val="solid"/>
          </a:ln>
        </p:spPr>
      </p:sp>
      <p:sp>
        <p:nvSpPr>
          <p:cNvPr id="7" name="Text 5"/>
          <p:cNvSpPr txBox="1"/>
          <p:nvPr/>
        </p:nvSpPr>
        <p:spPr>
          <a:xfrm>
            <a:off x="548640" y="189280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8" name="Text 6"/>
          <p:cNvSpPr txBox="1"/>
          <p:nvPr/>
        </p:nvSpPr>
        <p:spPr>
          <a:xfrm>
            <a:off x="1097280" y="1892808"/>
            <a:ext cx="7589520" cy="384048"/>
          </a:xfrm>
          <a:prstGeom prst="rect">
            <a:avLst/>
          </a:prstGeom>
          <a:noFill/>
          <a:ln/>
        </p:spPr>
        <p:txBody>
          <a:bodyPr wrap="square" lIns="0" tIns="0" rIns="0" bIns="0" rtlCol="0" anchor="ctr"/>
          <a:lstStyle/>
          <a:p>
            <a:pPr indent="0" marL="0">
              <a:buNone/>
            </a:pPr>
            <a:r>
              <a:rPr lang="en-US" sz="1700" dirty="0">
                <a:solidFill>
                  <a:srgbClr val="FFFFFF"/>
                </a:solidFill>
                <a:latin typeface="Calibri" pitchFamily="34" charset="0"/>
                <a:ea typeface="Calibri" pitchFamily="34" charset="-122"/>
                <a:cs typeface="Calibri" pitchFamily="34" charset="-120"/>
              </a:rPr>
              <a:t>Smaller switches = more features, faster, longer battery, cheaper</a:t>
            </a:r>
            <a:endParaRPr lang="en-US" sz="1700" dirty="0"/>
          </a:p>
        </p:txBody>
      </p:sp>
      <p:sp>
        <p:nvSpPr>
          <p:cNvPr id="9" name="Shape 7"/>
          <p:cNvSpPr/>
          <p:nvPr/>
        </p:nvSpPr>
        <p:spPr>
          <a:xfrm>
            <a:off x="548640" y="2459736"/>
            <a:ext cx="384048" cy="384048"/>
          </a:xfrm>
          <a:prstGeom prst="ellipse">
            <a:avLst/>
          </a:prstGeom>
          <a:solidFill>
            <a:srgbClr val="C8763A"/>
          </a:solidFill>
          <a:ln w="12700">
            <a:solidFill>
              <a:srgbClr val="C8763A"/>
            </a:solidFill>
            <a:prstDash val="solid"/>
          </a:ln>
        </p:spPr>
      </p:sp>
      <p:sp>
        <p:nvSpPr>
          <p:cNvPr id="10" name="Text 8"/>
          <p:cNvSpPr txBox="1"/>
          <p:nvPr/>
        </p:nvSpPr>
        <p:spPr>
          <a:xfrm>
            <a:off x="548640" y="2459736"/>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1" name="Text 9"/>
          <p:cNvSpPr txBox="1"/>
          <p:nvPr/>
        </p:nvSpPr>
        <p:spPr>
          <a:xfrm>
            <a:off x="1097280" y="2459736"/>
            <a:ext cx="7589520" cy="384048"/>
          </a:xfrm>
          <a:prstGeom prst="rect">
            <a:avLst/>
          </a:prstGeom>
          <a:noFill/>
          <a:ln/>
        </p:spPr>
        <p:txBody>
          <a:bodyPr wrap="square" lIns="0" tIns="0" rIns="0" bIns="0" rtlCol="0" anchor="ctr"/>
          <a:lstStyle/>
          <a:p>
            <a:pPr indent="0" marL="0">
              <a:buNone/>
            </a:pPr>
            <a:r>
              <a:rPr lang="en-US" sz="1700" dirty="0">
                <a:solidFill>
                  <a:srgbClr val="FFFFFF"/>
                </a:solidFill>
                <a:latin typeface="Calibri" pitchFamily="34" charset="0"/>
                <a:ea typeface="Calibri" pitchFamily="34" charset="-122"/>
                <a:cs typeface="Calibri" pitchFamily="34" charset="-120"/>
              </a:rPr>
              <a:t>“3nm” is a generation name, not a real measurement</a:t>
            </a:r>
            <a:endParaRPr lang="en-US" sz="1700" dirty="0"/>
          </a:p>
        </p:txBody>
      </p:sp>
      <p:sp>
        <p:nvSpPr>
          <p:cNvPr id="12" name="Shape 10"/>
          <p:cNvSpPr/>
          <p:nvPr/>
        </p:nvSpPr>
        <p:spPr>
          <a:xfrm>
            <a:off x="548640" y="3026664"/>
            <a:ext cx="384048" cy="384048"/>
          </a:xfrm>
          <a:prstGeom prst="ellipse">
            <a:avLst/>
          </a:prstGeom>
          <a:solidFill>
            <a:srgbClr val="C8763A"/>
          </a:solidFill>
          <a:ln w="12700">
            <a:solidFill>
              <a:srgbClr val="C8763A"/>
            </a:solidFill>
            <a:prstDash val="solid"/>
          </a:ln>
        </p:spPr>
      </p:sp>
      <p:sp>
        <p:nvSpPr>
          <p:cNvPr id="13" name="Text 11"/>
          <p:cNvSpPr txBox="1"/>
          <p:nvPr/>
        </p:nvSpPr>
        <p:spPr>
          <a:xfrm>
            <a:off x="548640" y="302666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4" name="Text 12"/>
          <p:cNvSpPr txBox="1"/>
          <p:nvPr/>
        </p:nvSpPr>
        <p:spPr>
          <a:xfrm>
            <a:off x="1097280" y="3026664"/>
            <a:ext cx="7589520" cy="384048"/>
          </a:xfrm>
          <a:prstGeom prst="rect">
            <a:avLst/>
          </a:prstGeom>
          <a:noFill/>
          <a:ln/>
        </p:spPr>
        <p:txBody>
          <a:bodyPr wrap="square" lIns="0" tIns="0" rIns="0" bIns="0" rtlCol="0" anchor="ctr"/>
          <a:lstStyle/>
          <a:p>
            <a:pPr indent="0" marL="0">
              <a:buNone/>
            </a:pPr>
            <a:r>
              <a:rPr lang="en-US" sz="1700" dirty="0">
                <a:solidFill>
                  <a:srgbClr val="FFFFFF"/>
                </a:solidFill>
                <a:latin typeface="Calibri" pitchFamily="34" charset="0"/>
                <a:ea typeface="Calibri" pitchFamily="34" charset="-122"/>
                <a:cs typeface="Calibri" pitchFamily="34" charset="-120"/>
              </a:rPr>
              <a:t>Tiny switches leak, so the gate now wraps all the way around</a:t>
            </a:r>
            <a:endParaRPr lang="en-US" sz="1700" dirty="0"/>
          </a:p>
        </p:txBody>
      </p:sp>
      <p:sp>
        <p:nvSpPr>
          <p:cNvPr id="15" name="Shape 13"/>
          <p:cNvSpPr/>
          <p:nvPr/>
        </p:nvSpPr>
        <p:spPr>
          <a:xfrm>
            <a:off x="548640" y="3593592"/>
            <a:ext cx="384048" cy="384048"/>
          </a:xfrm>
          <a:prstGeom prst="ellipse">
            <a:avLst/>
          </a:prstGeom>
          <a:solidFill>
            <a:srgbClr val="C8763A"/>
          </a:solidFill>
          <a:ln w="12700">
            <a:solidFill>
              <a:srgbClr val="C8763A"/>
            </a:solidFill>
            <a:prstDash val="solid"/>
          </a:ln>
        </p:spPr>
      </p:sp>
      <p:sp>
        <p:nvSpPr>
          <p:cNvPr id="16" name="Text 14"/>
          <p:cNvSpPr txBox="1"/>
          <p:nvPr/>
        </p:nvSpPr>
        <p:spPr>
          <a:xfrm>
            <a:off x="548640" y="359359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5</a:t>
            </a:r>
            <a:endParaRPr lang="en-US" sz="1400" dirty="0"/>
          </a:p>
        </p:txBody>
      </p:sp>
      <p:sp>
        <p:nvSpPr>
          <p:cNvPr id="17" name="Text 15"/>
          <p:cNvSpPr txBox="1"/>
          <p:nvPr/>
        </p:nvSpPr>
        <p:spPr>
          <a:xfrm>
            <a:off x="1097280" y="3593592"/>
            <a:ext cx="7589520" cy="384048"/>
          </a:xfrm>
          <a:prstGeom prst="rect">
            <a:avLst/>
          </a:prstGeom>
          <a:noFill/>
          <a:ln/>
        </p:spPr>
        <p:txBody>
          <a:bodyPr wrap="square" lIns="0" tIns="0" rIns="0" bIns="0" rtlCol="0" anchor="ctr"/>
          <a:lstStyle/>
          <a:p>
            <a:pPr indent="0" marL="0">
              <a:buNone/>
            </a:pPr>
            <a:r>
              <a:rPr lang="en-US" sz="1700" dirty="0">
                <a:solidFill>
                  <a:srgbClr val="FFFFFF"/>
                </a:solidFill>
                <a:latin typeface="Calibri" pitchFamily="34" charset="0"/>
                <a:ea typeface="Calibri" pitchFamily="34" charset="-122"/>
                <a:cs typeface="Calibri" pitchFamily="34" charset="-120"/>
              </a:rPr>
              <a:t>Power wiring is moving underneath the switches</a:t>
            </a:r>
            <a:endParaRPr lang="en-US" sz="1700" dirty="0"/>
          </a:p>
        </p:txBody>
      </p:sp>
      <p:sp>
        <p:nvSpPr>
          <p:cNvPr id="18" name="Text 16"/>
          <p:cNvSpPr txBox="1"/>
          <p:nvPr/>
        </p:nvSpPr>
        <p:spPr>
          <a:xfrm>
            <a:off x="548640" y="4343400"/>
            <a:ext cx="8046720" cy="320040"/>
          </a:xfrm>
          <a:prstGeom prst="rect">
            <a:avLst/>
          </a:prstGeom>
          <a:noFill/>
          <a:ln/>
        </p:spPr>
        <p:txBody>
          <a:bodyPr wrap="square" lIns="0" tIns="0" rIns="0" bIns="0" rtlCol="0" anchor="t"/>
          <a:lstStyle/>
          <a:p>
            <a:pPr indent="0" marL="0">
              <a:buNone/>
            </a:pPr>
            <a:r>
              <a:rPr lang="en-US" sz="1300" dirty="0">
                <a:solidFill>
                  <a:srgbClr val="8FB8DE"/>
                </a:solidFill>
                <a:latin typeface="Calibri" pitchFamily="34" charset="0"/>
                <a:ea typeface="Calibri" pitchFamily="34" charset="-122"/>
                <a:cs typeface="Calibri" pitchFamily="34" charset="-120"/>
              </a:rPr>
              <a:t>Next: listen to the Week 1 podcast  ·  Next week: how chips are printed with light</a:t>
            </a:r>
            <a:endParaRPr lang="en-US" sz="1300" dirty="0"/>
          </a:p>
        </p:txBody>
      </p:sp>
    </p:spTree>
  </p:cSld>
  <p:clrMapOvr>
    <a:masterClrMapping/>
  </p:clrMapOvr>
</p:sld>
</file>

<file path=ppt/theme/theme1.xml><?xml version="1.0" encoding="utf-8"?>
<a:theme xmlns:a="http://schemas.openxmlformats.org/drawingml/2006/main" name="Silicon and Copper">
  <a:themeElements>
    <a:clrScheme name="Silicon and Copper">
      <a:dk1>
        <a:srgbClr val="14202E"/>
      </a:dk1>
      <a:lt1>
        <a:srgbClr val="FFFFFF"/>
      </a:lt1>
      <a:dk2>
        <a:srgbClr val="0B1F33"/>
      </a:dk2>
      <a:lt2>
        <a:srgbClr val="EEF2F6"/>
      </a:lt2>
      <a:accent1>
        <a:srgbClr val="C8763A"/>
      </a:accent1>
      <a:accent2>
        <a:srgbClr val="2A9D8F"/>
      </a:accent2>
      <a:accent3>
        <a:srgbClr val="E9C46A"/>
      </a:accent3>
      <a:accent4>
        <a:srgbClr val="5B7083"/>
      </a:accent4>
      <a:accent5>
        <a:srgbClr val="8FB8DE"/>
      </a:accent5>
      <a:accent6>
        <a:srgbClr val="B23A48"/>
      </a:accent6>
      <a:hlink>
        <a:srgbClr val="2A9D8F"/>
      </a:hlink>
      <a:folHlink>
        <a:srgbClr val="5B7083"/>
      </a:folHlink>
    </a:clrScheme>
    <a:fontScheme name="Silicon and Copper">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Week 1 — How computer chips work</dc:title>
  <dc:subject>PptxGenJS Presentation</dc:subject>
  <dc:creator>Semiconductor learning track</dc:creator>
  <cp:lastModifiedBy>Semiconductor learning track</cp:lastModifiedBy>
  <cp:revision>1</cp:revision>
  <dcterms:created xsi:type="dcterms:W3CDTF">2026-10-28T17:27:47Z</dcterms:created>
  <dcterms:modified xsi:type="dcterms:W3CDTF">2026-10-28T17:27:47Z</dcterms:modified>
</cp:coreProperties>
</file>