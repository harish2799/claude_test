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Gate pitch (CPP, nm)</c:v>
                </c:pt>
              </c:strCache>
            </c:strRef>
          </c:tx>
          <c:spPr>
            <a:solidFill>
              <a:srgbClr val="0B1F33"/>
            </a:solidFill>
            <a:effectLst/>
          </c:spPr>
          <c:invertIfNegative val="0"/>
          <c:dLbls>
            <c:numFmt formatCode="#,##0" sourceLinked="0"/>
            <c:txPr>
              <a:bodyPr/>
              <a:lstStyle/>
              <a:p>
                <a:pPr>
                  <a:defRPr b="0" i="0" strike="noStrike" sz="1000" u="none">
                    <a:solidFill>
                      <a:srgbClr val="14202E"/>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Intel 22nm</c:v>
                  </c:pt>
                  <c:pt idx="1">
                    <c:v>Intel 14nm</c:v>
                  </c:pt>
                  <c:pt idx="2">
                    <c:v>TSMC N7</c:v>
                  </c:pt>
                  <c:pt idx="3">
                    <c:v>TSMC N5</c:v>
                  </c:pt>
                  <c:pt idx="4">
                    <c:v>TSMC N3E</c:v>
                  </c:pt>
                  <c:pt idx="5">
                    <c:v>TSMC N2 (est.)</c:v>
                  </c:pt>
                </c:lvl>
              </c:multiLvlStrCache>
            </c:multiLvlStrRef>
          </c:cat>
          <c:val>
            <c:numRef>
              <c:f>Sheet1!$B$2:$B$7</c:f>
              <c:numCache>
                <c:formatCode>General</c:formatCode>
                <c:ptCount val="6"/>
                <c:pt idx="0">
                  <c:v>90</c:v>
                </c:pt>
                <c:pt idx="1">
                  <c:v>70</c:v>
                </c:pt>
                <c:pt idx="2">
                  <c:v>57</c:v>
                </c:pt>
                <c:pt idx="3">
                  <c:v>51</c:v>
                </c:pt>
                <c:pt idx="4">
                  <c:v>48</c:v>
                </c:pt>
                <c:pt idx="5">
                  <c:v>45</c:v>
                </c:pt>
              </c:numCache>
            </c:numRef>
          </c:val>
        </c:ser>
        <c:ser>
          <c:idx val="1"/>
          <c:order val="1"/>
          <c:tx>
            <c:strRef>
              <c:f>Sheet1!$C$1</c:f>
              <c:strCache>
                <c:ptCount val="1"/>
                <c:pt idx="0">
                  <c:v>Min metal pitch (MMP, nm)</c:v>
                </c:pt>
              </c:strCache>
            </c:strRef>
          </c:tx>
          <c:spPr>
            <a:solidFill>
              <a:srgbClr val="C8763A"/>
            </a:solidFill>
            <a:effectLst/>
          </c:spPr>
          <c:invertIfNegative val="0"/>
          <c:dLbls>
            <c:numFmt formatCode="#,##0" sourceLinked="0"/>
            <c:txPr>
              <a:bodyPr/>
              <a:lstStyle/>
              <a:p>
                <a:pPr>
                  <a:defRPr b="0" i="0" strike="noStrike" sz="1000" u="none">
                    <a:solidFill>
                      <a:srgbClr val="14202E"/>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Intel 22nm</c:v>
                  </c:pt>
                  <c:pt idx="1">
                    <c:v>Intel 14nm</c:v>
                  </c:pt>
                  <c:pt idx="2">
                    <c:v>TSMC N7</c:v>
                  </c:pt>
                  <c:pt idx="3">
                    <c:v>TSMC N5</c:v>
                  </c:pt>
                  <c:pt idx="4">
                    <c:v>TSMC N3E</c:v>
                  </c:pt>
                  <c:pt idx="5">
                    <c:v>TSMC N2 (est.)</c:v>
                  </c:pt>
                </c:lvl>
              </c:multiLvlStrCache>
            </c:multiLvlStrRef>
          </c:cat>
          <c:val>
            <c:numRef>
              <c:f>Sheet1!$C$2:$C$7</c:f>
              <c:numCache>
                <c:formatCode>General</c:formatCode>
                <c:ptCount val="6"/>
                <c:pt idx="0">
                  <c:v>80</c:v>
                </c:pt>
                <c:pt idx="1">
                  <c:v>52</c:v>
                </c:pt>
                <c:pt idx="2">
                  <c:v>40</c:v>
                </c:pt>
                <c:pt idx="3">
                  <c:v>28</c:v>
                </c:pt>
                <c:pt idx="4">
                  <c:v>23</c:v>
                </c:pt>
                <c:pt idx="5">
                  <c:v>21</c:v>
                </c:pt>
              </c:numCache>
            </c:numRef>
          </c:val>
        </c:ser>
        <c:dLbls>
          <c:numFmt formatCode="#,##0" sourceLinked="0"/>
          <c:txPr>
            <a:bodyPr/>
            <a:lstStyle/>
            <a:p>
              <a:pPr>
                <a:defRPr b="0" i="0" strike="noStrike" sz="1000" u="none">
                  <a:solidFill>
                    <a:srgbClr val="1420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08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D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08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4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 Three ideas: node names are marketing, gate control drives transistor shape, and backside power is the next big structural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the week. Each item maps to a section of the written lesson and the podcast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length stopped tracking node names in the late 1990s. Names kept the 0.7x cadence for marketing. Intel renamed its nodes in 2021 to line up with the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nodes on pitches, density, SRAM cell area, performance per watt, yield and wafer cost, never on the name. SRAM scaling slowing down matters a lot for caches and AI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rounded, approximate, and vary by source. The point is the trend: pitch scaling has slowed sharply, so density comes from design-technology co-optimisation.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height equals tracks times metal pitch. Cutting tracks shrinks area even at constant pitch. Moving power rails to the back frees tracks in every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electrostatics.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DIBL and Vt roll-off happen when the drain controls the channel. Swing worse than 60 mV per decade means more leakage or higher VDD. The levers are body thickness, dielectric, and number of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Cross-sections looking down the channel. Copper is the gate, teal is the silicon channel, grey is the substrate. Each step wraps more gate around the channel. CFET stacks the p-type device over the n-type.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exercise from the lesson. Raw width is similar. The real wins are better electrostatics and continuous sizing, which brings back analog-style transistor sizing for library designers.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process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superlattice as grown. Right: after channel release and replacement metal gate. The inner spacers isolate the gate from source and drain between the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GAA adds many epitaxy, selective etch, ALD and metrology steps. That is why equipment makers such as Applied Materials, Lam, Tokyo Electron, ASM International and KLA call GAA a growth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 PowerVia ships with 18A using nano-TSVs. TSMC Super Power Rail arrives with A16 using direct backside contacts. For physical designers: new power-grid design, IR and EM sign-off, and thermal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TSMC N2 ramps 2025-2026 with A16 adding backside power. Intel 18A combines RibbonFET and PowerVia. Samsung was first to GAA but has struggled on yield and customer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technology to roles and to where value flows. Not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do the exercises and quiz, and listen to the podcast episode for the same ideas in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46304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971800"/>
            <a:ext cx="4937760" cy="1097280"/>
          </a:xfrm>
          <a:prstGeom prst="rect">
            <a:avLst/>
          </a:prstGeom>
          <a:noFill/>
          <a:ln/>
        </p:spPr>
        <p:txBody>
          <a:bodyPr wrap="square" rtlCol="0"/>
          <a:lstStyle>
            <a:lvl1pPr algn="l" indent="0" marL="0">
              <a:buNone/>
              <a:defRPr lang="en-US" sz="1600" dirty="0">
                <a:solidFill>
                  <a:srgbClr val="8FB8DE"/>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algn="l" indent="0" marL="0">
              <a:buNone/>
              <a:defRPr lang="en-US" sz="1600" dirty="0">
                <a:solidFill>
                  <a:srgbClr val="8FB8DE"/>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CAP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rgbClr val="0B1F33"/>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rgbClr val="5B7083"/>
                </a:solidFill>
                <a:latin typeface="Calibri" pitchFamily="34" charset="0"/>
                <a:ea typeface="Calibri" pitchFamily="34" charset="-122"/>
                <a:cs typeface="Calibri" pitchFamily="34" charset="-120"/>
              </a:rPr>
              <a:t>Semiconductor Track  ·  Week 1</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46304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Node names,</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FinFET → GAA</a:t>
            </a:r>
            <a:endParaRPr lang="en-US" sz="3600" dirty="0"/>
          </a:p>
        </p:txBody>
      </p:sp>
      <p:sp>
        <p:nvSpPr>
          <p:cNvPr id="3" name="Text 0"/>
          <p:cNvSpPr/>
          <p:nvPr>
            <p:ph idx="101" type="body" hasCustomPrompt="1"/>
          </p:nvPr>
        </p:nvSpPr>
        <p:spPr>
          <a:xfrm>
            <a:off x="548640" y="2971800"/>
            <a:ext cx="4937760" cy="1097280"/>
          </a:xfrm>
          <a:prstGeom prst="rect">
            <a:avLst/>
          </a:prstGeom>
          <a:noFill/>
          <a:ln/>
        </p:spPr>
        <p:txBody>
          <a:bodyPr wrap="square" lIns="0" tIns="0" rIns="0" bIns="0" rtlCol="0" anchor="t"/>
          <a:lstStyle/>
          <a:p>
            <a:pPr algn="l" indent="0" marL="0">
              <a:buNone/>
            </a:pPr>
            <a:r>
              <a:rPr lang="en-US" sz="1600" dirty="0">
                <a:solidFill>
                  <a:srgbClr val="8FB8DE"/>
                </a:solidFill>
                <a:latin typeface="Calibri" pitchFamily="34" charset="0"/>
                <a:ea typeface="Calibri" pitchFamily="34" charset="-122"/>
                <a:cs typeface="Calibri" pitchFamily="34" charset="-120"/>
              </a:rPr>
              <a:t>Week 1  ·  Why “3nm” isn’t 3 nm, how transistors wrapped the gate around the channel, and why power is moving to the back of the wafer</a:t>
            </a:r>
            <a:endParaRPr lang="en-US" sz="1600" dirty="0"/>
          </a:p>
        </p:txBody>
      </p:sp>
      <p:sp>
        <p:nvSpPr>
          <p:cNvPr id="4" name="Shape 2"/>
          <p:cNvSpPr/>
          <p:nvPr/>
        </p:nvSpPr>
        <p:spPr>
          <a:xfrm>
            <a:off x="5486400" y="960120"/>
            <a:ext cx="3200400" cy="3200400"/>
          </a:xfrm>
          <a:prstGeom prst="ellipse">
            <a:avLst/>
          </a:prstGeom>
          <a:solidFill>
            <a:srgbClr val="1A3350"/>
          </a:solidFill>
          <a:ln w="12700">
            <a:solidFill>
              <a:srgbClr val="5B7083"/>
            </a:solidFill>
            <a:prstDash val="solid"/>
          </a:ln>
        </p:spPr>
      </p:sp>
      <p:sp>
        <p:nvSpPr>
          <p:cNvPr id="5" name="Shape 3"/>
          <p:cNvSpPr/>
          <p:nvPr/>
        </p:nvSpPr>
        <p:spPr>
          <a:xfrm>
            <a:off x="5760720" y="2057400"/>
            <a:ext cx="237744" cy="237744"/>
          </a:xfrm>
          <a:prstGeom prst="rect">
            <a:avLst/>
          </a:prstGeom>
          <a:solidFill>
            <a:srgbClr val="5B7083">
              <a:alpha val="65000"/>
            </a:srgbClr>
          </a:solidFill>
          <a:ln w="6350">
            <a:solidFill>
              <a:srgbClr val="0B1F33"/>
            </a:solidFill>
            <a:prstDash val="solid"/>
          </a:ln>
        </p:spPr>
      </p:sp>
      <p:sp>
        <p:nvSpPr>
          <p:cNvPr id="6" name="Shape 4"/>
          <p:cNvSpPr/>
          <p:nvPr/>
        </p:nvSpPr>
        <p:spPr>
          <a:xfrm>
            <a:off x="5760720" y="2331720"/>
            <a:ext cx="237744" cy="237744"/>
          </a:xfrm>
          <a:prstGeom prst="rect">
            <a:avLst/>
          </a:prstGeom>
          <a:solidFill>
            <a:srgbClr val="5B7083">
              <a:alpha val="65000"/>
            </a:srgbClr>
          </a:solidFill>
          <a:ln w="6350">
            <a:solidFill>
              <a:srgbClr val="0B1F33"/>
            </a:solidFill>
            <a:prstDash val="solid"/>
          </a:ln>
        </p:spPr>
      </p:sp>
      <p:sp>
        <p:nvSpPr>
          <p:cNvPr id="7" name="Shape 5"/>
          <p:cNvSpPr/>
          <p:nvPr/>
        </p:nvSpPr>
        <p:spPr>
          <a:xfrm>
            <a:off x="5760720" y="2606040"/>
            <a:ext cx="237744" cy="237744"/>
          </a:xfrm>
          <a:prstGeom prst="rect">
            <a:avLst/>
          </a:prstGeom>
          <a:solidFill>
            <a:srgbClr val="5B7083">
              <a:alpha val="65000"/>
            </a:srgbClr>
          </a:solidFill>
          <a:ln w="6350">
            <a:solidFill>
              <a:srgbClr val="0B1F33"/>
            </a:solidFill>
            <a:prstDash val="solid"/>
          </a:ln>
        </p:spPr>
      </p:sp>
      <p:sp>
        <p:nvSpPr>
          <p:cNvPr id="8" name="Shape 6"/>
          <p:cNvSpPr/>
          <p:nvPr/>
        </p:nvSpPr>
        <p:spPr>
          <a:xfrm>
            <a:off x="5760720" y="2880360"/>
            <a:ext cx="237744" cy="237744"/>
          </a:xfrm>
          <a:prstGeom prst="rect">
            <a:avLst/>
          </a:prstGeom>
          <a:solidFill>
            <a:srgbClr val="5B7083">
              <a:alpha val="65000"/>
            </a:srgbClr>
          </a:solidFill>
          <a:ln w="6350">
            <a:solidFill>
              <a:srgbClr val="0B1F33"/>
            </a:solidFill>
            <a:prstDash val="solid"/>
          </a:ln>
        </p:spPr>
      </p:sp>
      <p:sp>
        <p:nvSpPr>
          <p:cNvPr id="9" name="Shape 7"/>
          <p:cNvSpPr/>
          <p:nvPr/>
        </p:nvSpPr>
        <p:spPr>
          <a:xfrm>
            <a:off x="6035040" y="1508760"/>
            <a:ext cx="237744" cy="237744"/>
          </a:xfrm>
          <a:prstGeom prst="rect">
            <a:avLst/>
          </a:prstGeom>
          <a:solidFill>
            <a:srgbClr val="5B7083">
              <a:alpha val="65000"/>
            </a:srgbClr>
          </a:solidFill>
          <a:ln w="6350">
            <a:solidFill>
              <a:srgbClr val="0B1F33"/>
            </a:solidFill>
            <a:prstDash val="solid"/>
          </a:ln>
        </p:spPr>
      </p:sp>
      <p:sp>
        <p:nvSpPr>
          <p:cNvPr id="10" name="Shape 8"/>
          <p:cNvSpPr/>
          <p:nvPr/>
        </p:nvSpPr>
        <p:spPr>
          <a:xfrm>
            <a:off x="6035040" y="1783080"/>
            <a:ext cx="237744" cy="237744"/>
          </a:xfrm>
          <a:prstGeom prst="rect">
            <a:avLst/>
          </a:prstGeom>
          <a:solidFill>
            <a:srgbClr val="5B7083">
              <a:alpha val="65000"/>
            </a:srgbClr>
          </a:solidFill>
          <a:ln w="6350">
            <a:solidFill>
              <a:srgbClr val="0B1F33"/>
            </a:solidFill>
            <a:prstDash val="solid"/>
          </a:ln>
        </p:spPr>
      </p:sp>
      <p:sp>
        <p:nvSpPr>
          <p:cNvPr id="11" name="Shape 9"/>
          <p:cNvSpPr/>
          <p:nvPr/>
        </p:nvSpPr>
        <p:spPr>
          <a:xfrm>
            <a:off x="6035040" y="2057400"/>
            <a:ext cx="237744" cy="237744"/>
          </a:xfrm>
          <a:prstGeom prst="rect">
            <a:avLst/>
          </a:prstGeom>
          <a:solidFill>
            <a:srgbClr val="5B7083">
              <a:alpha val="65000"/>
            </a:srgbClr>
          </a:solidFill>
          <a:ln w="6350">
            <a:solidFill>
              <a:srgbClr val="0B1F33"/>
            </a:solidFill>
            <a:prstDash val="solid"/>
          </a:ln>
        </p:spPr>
      </p:sp>
      <p:sp>
        <p:nvSpPr>
          <p:cNvPr id="12" name="Shape 10"/>
          <p:cNvSpPr/>
          <p:nvPr/>
        </p:nvSpPr>
        <p:spPr>
          <a:xfrm>
            <a:off x="6035040" y="2331720"/>
            <a:ext cx="237744" cy="237744"/>
          </a:xfrm>
          <a:prstGeom prst="rect">
            <a:avLst/>
          </a:prstGeom>
          <a:solidFill>
            <a:srgbClr val="5B7083">
              <a:alpha val="65000"/>
            </a:srgbClr>
          </a:solidFill>
          <a:ln w="6350">
            <a:solidFill>
              <a:srgbClr val="0B1F33"/>
            </a:solidFill>
            <a:prstDash val="solid"/>
          </a:ln>
        </p:spPr>
      </p:sp>
      <p:sp>
        <p:nvSpPr>
          <p:cNvPr id="13" name="Shape 11"/>
          <p:cNvSpPr/>
          <p:nvPr/>
        </p:nvSpPr>
        <p:spPr>
          <a:xfrm>
            <a:off x="6035040" y="2606040"/>
            <a:ext cx="237744" cy="237744"/>
          </a:xfrm>
          <a:prstGeom prst="rect">
            <a:avLst/>
          </a:prstGeom>
          <a:solidFill>
            <a:srgbClr val="5B7083">
              <a:alpha val="65000"/>
            </a:srgbClr>
          </a:solidFill>
          <a:ln w="6350">
            <a:solidFill>
              <a:srgbClr val="0B1F33"/>
            </a:solidFill>
            <a:prstDash val="solid"/>
          </a:ln>
        </p:spPr>
      </p:sp>
      <p:sp>
        <p:nvSpPr>
          <p:cNvPr id="14" name="Shape 12"/>
          <p:cNvSpPr/>
          <p:nvPr/>
        </p:nvSpPr>
        <p:spPr>
          <a:xfrm>
            <a:off x="6035040" y="2880360"/>
            <a:ext cx="237744" cy="237744"/>
          </a:xfrm>
          <a:prstGeom prst="rect">
            <a:avLst/>
          </a:prstGeom>
          <a:solidFill>
            <a:srgbClr val="5B7083">
              <a:alpha val="65000"/>
            </a:srgbClr>
          </a:solidFill>
          <a:ln w="6350">
            <a:solidFill>
              <a:srgbClr val="0B1F33"/>
            </a:solidFill>
            <a:prstDash val="solid"/>
          </a:ln>
        </p:spPr>
      </p:sp>
      <p:sp>
        <p:nvSpPr>
          <p:cNvPr id="15" name="Shape 13"/>
          <p:cNvSpPr/>
          <p:nvPr/>
        </p:nvSpPr>
        <p:spPr>
          <a:xfrm>
            <a:off x="6035040" y="3154680"/>
            <a:ext cx="237744" cy="237744"/>
          </a:xfrm>
          <a:prstGeom prst="rect">
            <a:avLst/>
          </a:prstGeom>
          <a:solidFill>
            <a:srgbClr val="5B7083">
              <a:alpha val="65000"/>
            </a:srgbClr>
          </a:solidFill>
          <a:ln w="6350">
            <a:solidFill>
              <a:srgbClr val="0B1F33"/>
            </a:solidFill>
            <a:prstDash val="solid"/>
          </a:ln>
        </p:spPr>
      </p:sp>
      <p:sp>
        <p:nvSpPr>
          <p:cNvPr id="16" name="Shape 14"/>
          <p:cNvSpPr/>
          <p:nvPr/>
        </p:nvSpPr>
        <p:spPr>
          <a:xfrm>
            <a:off x="6035040" y="3429000"/>
            <a:ext cx="237744" cy="237744"/>
          </a:xfrm>
          <a:prstGeom prst="rect">
            <a:avLst/>
          </a:prstGeom>
          <a:solidFill>
            <a:srgbClr val="5B7083">
              <a:alpha val="65000"/>
            </a:srgbClr>
          </a:solidFill>
          <a:ln w="6350">
            <a:solidFill>
              <a:srgbClr val="0B1F33"/>
            </a:solidFill>
            <a:prstDash val="solid"/>
          </a:ln>
        </p:spPr>
      </p:sp>
      <p:sp>
        <p:nvSpPr>
          <p:cNvPr id="17" name="Shape 15"/>
          <p:cNvSpPr/>
          <p:nvPr/>
        </p:nvSpPr>
        <p:spPr>
          <a:xfrm>
            <a:off x="6309360" y="1508760"/>
            <a:ext cx="237744" cy="237744"/>
          </a:xfrm>
          <a:prstGeom prst="rect">
            <a:avLst/>
          </a:prstGeom>
          <a:solidFill>
            <a:srgbClr val="5B7083">
              <a:alpha val="65000"/>
            </a:srgbClr>
          </a:solidFill>
          <a:ln w="6350">
            <a:solidFill>
              <a:srgbClr val="0B1F33"/>
            </a:solidFill>
            <a:prstDash val="solid"/>
          </a:ln>
        </p:spPr>
      </p:sp>
      <p:sp>
        <p:nvSpPr>
          <p:cNvPr id="18" name="Shape 16"/>
          <p:cNvSpPr/>
          <p:nvPr/>
        </p:nvSpPr>
        <p:spPr>
          <a:xfrm>
            <a:off x="6309360" y="1783080"/>
            <a:ext cx="237744" cy="237744"/>
          </a:xfrm>
          <a:prstGeom prst="rect">
            <a:avLst/>
          </a:prstGeom>
          <a:solidFill>
            <a:srgbClr val="5B7083">
              <a:alpha val="65000"/>
            </a:srgbClr>
          </a:solidFill>
          <a:ln w="6350">
            <a:solidFill>
              <a:srgbClr val="0B1F33"/>
            </a:solidFill>
            <a:prstDash val="solid"/>
          </a:ln>
        </p:spPr>
      </p:sp>
      <p:sp>
        <p:nvSpPr>
          <p:cNvPr id="19" name="Shape 17"/>
          <p:cNvSpPr/>
          <p:nvPr/>
        </p:nvSpPr>
        <p:spPr>
          <a:xfrm>
            <a:off x="6309360" y="2057400"/>
            <a:ext cx="237744" cy="237744"/>
          </a:xfrm>
          <a:prstGeom prst="rect">
            <a:avLst/>
          </a:prstGeom>
          <a:solidFill>
            <a:srgbClr val="5B7083">
              <a:alpha val="65000"/>
            </a:srgbClr>
          </a:solidFill>
          <a:ln w="6350">
            <a:solidFill>
              <a:srgbClr val="0B1F33"/>
            </a:solidFill>
            <a:prstDash val="solid"/>
          </a:ln>
        </p:spPr>
      </p:sp>
      <p:sp>
        <p:nvSpPr>
          <p:cNvPr id="20" name="Shape 18"/>
          <p:cNvSpPr/>
          <p:nvPr/>
        </p:nvSpPr>
        <p:spPr>
          <a:xfrm>
            <a:off x="6309360" y="2331720"/>
            <a:ext cx="237744" cy="237744"/>
          </a:xfrm>
          <a:prstGeom prst="rect">
            <a:avLst/>
          </a:prstGeom>
          <a:solidFill>
            <a:srgbClr val="5B7083">
              <a:alpha val="65000"/>
            </a:srgbClr>
          </a:solidFill>
          <a:ln w="6350">
            <a:solidFill>
              <a:srgbClr val="0B1F33"/>
            </a:solidFill>
            <a:prstDash val="solid"/>
          </a:ln>
        </p:spPr>
      </p:sp>
      <p:sp>
        <p:nvSpPr>
          <p:cNvPr id="21" name="Shape 19"/>
          <p:cNvSpPr/>
          <p:nvPr/>
        </p:nvSpPr>
        <p:spPr>
          <a:xfrm>
            <a:off x="6309360" y="2606040"/>
            <a:ext cx="237744" cy="237744"/>
          </a:xfrm>
          <a:prstGeom prst="rect">
            <a:avLst/>
          </a:prstGeom>
          <a:solidFill>
            <a:srgbClr val="5B7083">
              <a:alpha val="65000"/>
            </a:srgbClr>
          </a:solidFill>
          <a:ln w="6350">
            <a:solidFill>
              <a:srgbClr val="0B1F33"/>
            </a:solidFill>
            <a:prstDash val="solid"/>
          </a:ln>
        </p:spPr>
      </p:sp>
      <p:sp>
        <p:nvSpPr>
          <p:cNvPr id="22" name="Shape 20"/>
          <p:cNvSpPr/>
          <p:nvPr/>
        </p:nvSpPr>
        <p:spPr>
          <a:xfrm>
            <a:off x="6309360" y="2880360"/>
            <a:ext cx="237744" cy="237744"/>
          </a:xfrm>
          <a:prstGeom prst="rect">
            <a:avLst/>
          </a:prstGeom>
          <a:solidFill>
            <a:srgbClr val="5B7083">
              <a:alpha val="65000"/>
            </a:srgbClr>
          </a:solidFill>
          <a:ln w="6350">
            <a:solidFill>
              <a:srgbClr val="0B1F33"/>
            </a:solidFill>
            <a:prstDash val="solid"/>
          </a:ln>
        </p:spPr>
      </p:sp>
      <p:sp>
        <p:nvSpPr>
          <p:cNvPr id="23" name="Shape 21"/>
          <p:cNvSpPr/>
          <p:nvPr/>
        </p:nvSpPr>
        <p:spPr>
          <a:xfrm>
            <a:off x="6309360" y="3154680"/>
            <a:ext cx="237744" cy="237744"/>
          </a:xfrm>
          <a:prstGeom prst="rect">
            <a:avLst/>
          </a:prstGeom>
          <a:solidFill>
            <a:srgbClr val="5B7083">
              <a:alpha val="65000"/>
            </a:srgbClr>
          </a:solidFill>
          <a:ln w="6350">
            <a:solidFill>
              <a:srgbClr val="0B1F33"/>
            </a:solidFill>
            <a:prstDash val="solid"/>
          </a:ln>
        </p:spPr>
      </p:sp>
      <p:sp>
        <p:nvSpPr>
          <p:cNvPr id="24" name="Shape 22"/>
          <p:cNvSpPr/>
          <p:nvPr/>
        </p:nvSpPr>
        <p:spPr>
          <a:xfrm>
            <a:off x="6309360" y="3429000"/>
            <a:ext cx="237744" cy="237744"/>
          </a:xfrm>
          <a:prstGeom prst="rect">
            <a:avLst/>
          </a:prstGeom>
          <a:solidFill>
            <a:srgbClr val="5B7083">
              <a:alpha val="65000"/>
            </a:srgbClr>
          </a:solidFill>
          <a:ln w="6350">
            <a:solidFill>
              <a:srgbClr val="0B1F33"/>
            </a:solidFill>
            <a:prstDash val="solid"/>
          </a:ln>
        </p:spPr>
      </p:sp>
      <p:sp>
        <p:nvSpPr>
          <p:cNvPr id="25" name="Shape 23"/>
          <p:cNvSpPr/>
          <p:nvPr/>
        </p:nvSpPr>
        <p:spPr>
          <a:xfrm>
            <a:off x="6583680" y="1234440"/>
            <a:ext cx="237744" cy="237744"/>
          </a:xfrm>
          <a:prstGeom prst="rect">
            <a:avLst/>
          </a:prstGeom>
          <a:solidFill>
            <a:srgbClr val="5B7083">
              <a:alpha val="65000"/>
            </a:srgbClr>
          </a:solidFill>
          <a:ln w="6350">
            <a:solidFill>
              <a:srgbClr val="0B1F33"/>
            </a:solidFill>
            <a:prstDash val="solid"/>
          </a:ln>
        </p:spPr>
      </p:sp>
      <p:sp>
        <p:nvSpPr>
          <p:cNvPr id="26" name="Shape 24"/>
          <p:cNvSpPr/>
          <p:nvPr/>
        </p:nvSpPr>
        <p:spPr>
          <a:xfrm>
            <a:off x="6583680" y="1508760"/>
            <a:ext cx="237744" cy="237744"/>
          </a:xfrm>
          <a:prstGeom prst="rect">
            <a:avLst/>
          </a:prstGeom>
          <a:solidFill>
            <a:srgbClr val="5B7083">
              <a:alpha val="65000"/>
            </a:srgbClr>
          </a:solidFill>
          <a:ln w="6350">
            <a:solidFill>
              <a:srgbClr val="0B1F33"/>
            </a:solidFill>
            <a:prstDash val="solid"/>
          </a:ln>
        </p:spPr>
      </p:sp>
      <p:sp>
        <p:nvSpPr>
          <p:cNvPr id="27" name="Shape 25"/>
          <p:cNvSpPr/>
          <p:nvPr/>
        </p:nvSpPr>
        <p:spPr>
          <a:xfrm>
            <a:off x="6583680" y="1783080"/>
            <a:ext cx="237744" cy="237744"/>
          </a:xfrm>
          <a:prstGeom prst="rect">
            <a:avLst/>
          </a:prstGeom>
          <a:solidFill>
            <a:srgbClr val="5B7083">
              <a:alpha val="65000"/>
            </a:srgbClr>
          </a:solidFill>
          <a:ln w="6350">
            <a:solidFill>
              <a:srgbClr val="0B1F33"/>
            </a:solidFill>
            <a:prstDash val="solid"/>
          </a:ln>
        </p:spPr>
      </p:sp>
      <p:sp>
        <p:nvSpPr>
          <p:cNvPr id="28" name="Shape 26"/>
          <p:cNvSpPr/>
          <p:nvPr/>
        </p:nvSpPr>
        <p:spPr>
          <a:xfrm>
            <a:off x="6583680" y="2057400"/>
            <a:ext cx="237744" cy="237744"/>
          </a:xfrm>
          <a:prstGeom prst="rect">
            <a:avLst/>
          </a:prstGeom>
          <a:solidFill>
            <a:srgbClr val="5B7083">
              <a:alpha val="65000"/>
            </a:srgbClr>
          </a:solidFill>
          <a:ln w="6350">
            <a:solidFill>
              <a:srgbClr val="0B1F33"/>
            </a:solidFill>
            <a:prstDash val="solid"/>
          </a:ln>
        </p:spPr>
      </p:sp>
      <p:sp>
        <p:nvSpPr>
          <p:cNvPr id="29" name="Shape 27"/>
          <p:cNvSpPr/>
          <p:nvPr/>
        </p:nvSpPr>
        <p:spPr>
          <a:xfrm>
            <a:off x="6583680" y="2331720"/>
            <a:ext cx="237744" cy="237744"/>
          </a:xfrm>
          <a:prstGeom prst="rect">
            <a:avLst/>
          </a:prstGeom>
          <a:solidFill>
            <a:srgbClr val="5B7083">
              <a:alpha val="65000"/>
            </a:srgbClr>
          </a:solidFill>
          <a:ln w="6350">
            <a:solidFill>
              <a:srgbClr val="0B1F33"/>
            </a:solidFill>
            <a:prstDash val="solid"/>
          </a:ln>
        </p:spPr>
      </p:sp>
      <p:sp>
        <p:nvSpPr>
          <p:cNvPr id="30" name="Shape 28"/>
          <p:cNvSpPr/>
          <p:nvPr/>
        </p:nvSpPr>
        <p:spPr>
          <a:xfrm>
            <a:off x="6583680" y="2606040"/>
            <a:ext cx="237744" cy="237744"/>
          </a:xfrm>
          <a:prstGeom prst="rect">
            <a:avLst/>
          </a:prstGeom>
          <a:solidFill>
            <a:srgbClr val="5B7083">
              <a:alpha val="65000"/>
            </a:srgbClr>
          </a:solidFill>
          <a:ln w="6350">
            <a:solidFill>
              <a:srgbClr val="0B1F33"/>
            </a:solidFill>
            <a:prstDash val="solid"/>
          </a:ln>
        </p:spPr>
      </p:sp>
      <p:sp>
        <p:nvSpPr>
          <p:cNvPr id="31" name="Shape 29"/>
          <p:cNvSpPr/>
          <p:nvPr/>
        </p:nvSpPr>
        <p:spPr>
          <a:xfrm>
            <a:off x="6583680" y="2880360"/>
            <a:ext cx="237744" cy="237744"/>
          </a:xfrm>
          <a:prstGeom prst="rect">
            <a:avLst/>
          </a:prstGeom>
          <a:solidFill>
            <a:srgbClr val="5B7083">
              <a:alpha val="65000"/>
            </a:srgbClr>
          </a:solidFill>
          <a:ln w="6350">
            <a:solidFill>
              <a:srgbClr val="0B1F33"/>
            </a:solidFill>
            <a:prstDash val="solid"/>
          </a:ln>
        </p:spPr>
      </p:sp>
      <p:sp>
        <p:nvSpPr>
          <p:cNvPr id="32" name="Shape 30"/>
          <p:cNvSpPr/>
          <p:nvPr/>
        </p:nvSpPr>
        <p:spPr>
          <a:xfrm>
            <a:off x="6583680" y="3154680"/>
            <a:ext cx="237744" cy="237744"/>
          </a:xfrm>
          <a:prstGeom prst="rect">
            <a:avLst/>
          </a:prstGeom>
          <a:solidFill>
            <a:srgbClr val="5B7083">
              <a:alpha val="65000"/>
            </a:srgbClr>
          </a:solidFill>
          <a:ln w="6350">
            <a:solidFill>
              <a:srgbClr val="0B1F33"/>
            </a:solidFill>
            <a:prstDash val="solid"/>
          </a:ln>
        </p:spPr>
      </p:sp>
      <p:sp>
        <p:nvSpPr>
          <p:cNvPr id="33" name="Shape 31"/>
          <p:cNvSpPr/>
          <p:nvPr/>
        </p:nvSpPr>
        <p:spPr>
          <a:xfrm>
            <a:off x="6583680" y="3429000"/>
            <a:ext cx="237744" cy="237744"/>
          </a:xfrm>
          <a:prstGeom prst="rect">
            <a:avLst/>
          </a:prstGeom>
          <a:solidFill>
            <a:srgbClr val="5B7083">
              <a:alpha val="65000"/>
            </a:srgbClr>
          </a:solidFill>
          <a:ln w="6350">
            <a:solidFill>
              <a:srgbClr val="0B1F33"/>
            </a:solidFill>
            <a:prstDash val="solid"/>
          </a:ln>
        </p:spPr>
      </p:sp>
      <p:sp>
        <p:nvSpPr>
          <p:cNvPr id="34" name="Shape 32"/>
          <p:cNvSpPr/>
          <p:nvPr/>
        </p:nvSpPr>
        <p:spPr>
          <a:xfrm>
            <a:off x="6583680" y="3703320"/>
            <a:ext cx="237744" cy="237744"/>
          </a:xfrm>
          <a:prstGeom prst="rect">
            <a:avLst/>
          </a:prstGeom>
          <a:solidFill>
            <a:srgbClr val="5B7083">
              <a:alpha val="65000"/>
            </a:srgbClr>
          </a:solidFill>
          <a:ln w="6350">
            <a:solidFill>
              <a:srgbClr val="0B1F33"/>
            </a:solidFill>
            <a:prstDash val="solid"/>
          </a:ln>
        </p:spPr>
      </p:sp>
      <p:sp>
        <p:nvSpPr>
          <p:cNvPr id="35" name="Shape 33"/>
          <p:cNvSpPr/>
          <p:nvPr/>
        </p:nvSpPr>
        <p:spPr>
          <a:xfrm>
            <a:off x="6858000" y="1234440"/>
            <a:ext cx="237744" cy="237744"/>
          </a:xfrm>
          <a:prstGeom prst="rect">
            <a:avLst/>
          </a:prstGeom>
          <a:solidFill>
            <a:srgbClr val="5B7083">
              <a:alpha val="65000"/>
            </a:srgbClr>
          </a:solidFill>
          <a:ln w="6350">
            <a:solidFill>
              <a:srgbClr val="0B1F33"/>
            </a:solidFill>
            <a:prstDash val="solid"/>
          </a:ln>
        </p:spPr>
      </p:sp>
      <p:sp>
        <p:nvSpPr>
          <p:cNvPr id="36" name="Shape 34"/>
          <p:cNvSpPr/>
          <p:nvPr/>
        </p:nvSpPr>
        <p:spPr>
          <a:xfrm>
            <a:off x="6858000" y="1508760"/>
            <a:ext cx="237744" cy="237744"/>
          </a:xfrm>
          <a:prstGeom prst="rect">
            <a:avLst/>
          </a:prstGeom>
          <a:solidFill>
            <a:srgbClr val="5B7083">
              <a:alpha val="65000"/>
            </a:srgbClr>
          </a:solidFill>
          <a:ln w="6350">
            <a:solidFill>
              <a:srgbClr val="0B1F33"/>
            </a:solidFill>
            <a:prstDash val="solid"/>
          </a:ln>
        </p:spPr>
      </p:sp>
      <p:sp>
        <p:nvSpPr>
          <p:cNvPr id="37" name="Shape 35"/>
          <p:cNvSpPr/>
          <p:nvPr/>
        </p:nvSpPr>
        <p:spPr>
          <a:xfrm>
            <a:off x="6858000" y="1783080"/>
            <a:ext cx="237744" cy="237744"/>
          </a:xfrm>
          <a:prstGeom prst="rect">
            <a:avLst/>
          </a:prstGeom>
          <a:solidFill>
            <a:srgbClr val="5B7083">
              <a:alpha val="65000"/>
            </a:srgbClr>
          </a:solidFill>
          <a:ln w="6350">
            <a:solidFill>
              <a:srgbClr val="0B1F33"/>
            </a:solidFill>
            <a:prstDash val="solid"/>
          </a:ln>
        </p:spPr>
      </p:sp>
      <p:sp>
        <p:nvSpPr>
          <p:cNvPr id="38" name="Shape 36"/>
          <p:cNvSpPr/>
          <p:nvPr/>
        </p:nvSpPr>
        <p:spPr>
          <a:xfrm>
            <a:off x="6858000" y="2057400"/>
            <a:ext cx="237744" cy="237744"/>
          </a:xfrm>
          <a:prstGeom prst="rect">
            <a:avLst/>
          </a:prstGeom>
          <a:solidFill>
            <a:srgbClr val="5B7083">
              <a:alpha val="65000"/>
            </a:srgbClr>
          </a:solidFill>
          <a:ln w="6350">
            <a:solidFill>
              <a:srgbClr val="0B1F33"/>
            </a:solidFill>
            <a:prstDash val="solid"/>
          </a:ln>
        </p:spPr>
      </p:sp>
      <p:sp>
        <p:nvSpPr>
          <p:cNvPr id="39" name="Shape 37"/>
          <p:cNvSpPr/>
          <p:nvPr/>
        </p:nvSpPr>
        <p:spPr>
          <a:xfrm>
            <a:off x="6858000" y="2331720"/>
            <a:ext cx="237744" cy="237744"/>
          </a:xfrm>
          <a:prstGeom prst="rect">
            <a:avLst/>
          </a:prstGeom>
          <a:solidFill>
            <a:srgbClr val="C8763A"/>
          </a:solidFill>
          <a:ln w="6350">
            <a:solidFill>
              <a:srgbClr val="0B1F33"/>
            </a:solidFill>
            <a:prstDash val="solid"/>
          </a:ln>
        </p:spPr>
      </p:sp>
      <p:sp>
        <p:nvSpPr>
          <p:cNvPr id="40" name="Shape 38"/>
          <p:cNvSpPr/>
          <p:nvPr/>
        </p:nvSpPr>
        <p:spPr>
          <a:xfrm>
            <a:off x="6858000" y="2606040"/>
            <a:ext cx="237744" cy="237744"/>
          </a:xfrm>
          <a:prstGeom prst="rect">
            <a:avLst/>
          </a:prstGeom>
          <a:solidFill>
            <a:srgbClr val="C8763A"/>
          </a:solidFill>
          <a:ln w="6350">
            <a:solidFill>
              <a:srgbClr val="0B1F33"/>
            </a:solidFill>
            <a:prstDash val="solid"/>
          </a:ln>
        </p:spPr>
      </p:sp>
      <p:sp>
        <p:nvSpPr>
          <p:cNvPr id="41" name="Shape 39"/>
          <p:cNvSpPr/>
          <p:nvPr/>
        </p:nvSpPr>
        <p:spPr>
          <a:xfrm>
            <a:off x="6858000" y="2880360"/>
            <a:ext cx="237744" cy="237744"/>
          </a:xfrm>
          <a:prstGeom prst="rect">
            <a:avLst/>
          </a:prstGeom>
          <a:solidFill>
            <a:srgbClr val="C8763A"/>
          </a:solidFill>
          <a:ln w="6350">
            <a:solidFill>
              <a:srgbClr val="0B1F33"/>
            </a:solidFill>
            <a:prstDash val="solid"/>
          </a:ln>
        </p:spPr>
      </p:sp>
      <p:sp>
        <p:nvSpPr>
          <p:cNvPr id="42" name="Shape 40"/>
          <p:cNvSpPr/>
          <p:nvPr/>
        </p:nvSpPr>
        <p:spPr>
          <a:xfrm>
            <a:off x="6858000" y="3154680"/>
            <a:ext cx="237744" cy="237744"/>
          </a:xfrm>
          <a:prstGeom prst="rect">
            <a:avLst/>
          </a:prstGeom>
          <a:solidFill>
            <a:srgbClr val="5B7083">
              <a:alpha val="65000"/>
            </a:srgbClr>
          </a:solidFill>
          <a:ln w="6350">
            <a:solidFill>
              <a:srgbClr val="0B1F33"/>
            </a:solidFill>
            <a:prstDash val="solid"/>
          </a:ln>
        </p:spPr>
      </p:sp>
      <p:sp>
        <p:nvSpPr>
          <p:cNvPr id="43" name="Shape 41"/>
          <p:cNvSpPr/>
          <p:nvPr/>
        </p:nvSpPr>
        <p:spPr>
          <a:xfrm>
            <a:off x="6858000" y="3429000"/>
            <a:ext cx="237744" cy="237744"/>
          </a:xfrm>
          <a:prstGeom prst="rect">
            <a:avLst/>
          </a:prstGeom>
          <a:solidFill>
            <a:srgbClr val="5B7083">
              <a:alpha val="65000"/>
            </a:srgbClr>
          </a:solidFill>
          <a:ln w="6350">
            <a:solidFill>
              <a:srgbClr val="0B1F33"/>
            </a:solidFill>
            <a:prstDash val="solid"/>
          </a:ln>
        </p:spPr>
      </p:sp>
      <p:sp>
        <p:nvSpPr>
          <p:cNvPr id="44" name="Shape 42"/>
          <p:cNvSpPr/>
          <p:nvPr/>
        </p:nvSpPr>
        <p:spPr>
          <a:xfrm>
            <a:off x="6858000" y="3703320"/>
            <a:ext cx="237744" cy="237744"/>
          </a:xfrm>
          <a:prstGeom prst="rect">
            <a:avLst/>
          </a:prstGeom>
          <a:solidFill>
            <a:srgbClr val="5B7083">
              <a:alpha val="65000"/>
            </a:srgbClr>
          </a:solidFill>
          <a:ln w="6350">
            <a:solidFill>
              <a:srgbClr val="0B1F33"/>
            </a:solidFill>
            <a:prstDash val="solid"/>
          </a:ln>
        </p:spPr>
      </p:sp>
      <p:sp>
        <p:nvSpPr>
          <p:cNvPr id="45" name="Shape 43"/>
          <p:cNvSpPr/>
          <p:nvPr/>
        </p:nvSpPr>
        <p:spPr>
          <a:xfrm>
            <a:off x="7132320" y="1234440"/>
            <a:ext cx="237744" cy="237744"/>
          </a:xfrm>
          <a:prstGeom prst="rect">
            <a:avLst/>
          </a:prstGeom>
          <a:solidFill>
            <a:srgbClr val="5B7083">
              <a:alpha val="65000"/>
            </a:srgbClr>
          </a:solidFill>
          <a:ln w="6350">
            <a:solidFill>
              <a:srgbClr val="0B1F33"/>
            </a:solidFill>
            <a:prstDash val="solid"/>
          </a:ln>
        </p:spPr>
      </p:sp>
      <p:sp>
        <p:nvSpPr>
          <p:cNvPr id="46" name="Shape 44"/>
          <p:cNvSpPr/>
          <p:nvPr/>
        </p:nvSpPr>
        <p:spPr>
          <a:xfrm>
            <a:off x="7132320" y="1508760"/>
            <a:ext cx="237744" cy="237744"/>
          </a:xfrm>
          <a:prstGeom prst="rect">
            <a:avLst/>
          </a:prstGeom>
          <a:solidFill>
            <a:srgbClr val="5B7083">
              <a:alpha val="65000"/>
            </a:srgbClr>
          </a:solidFill>
          <a:ln w="6350">
            <a:solidFill>
              <a:srgbClr val="0B1F33"/>
            </a:solidFill>
            <a:prstDash val="solid"/>
          </a:ln>
        </p:spPr>
      </p:sp>
      <p:sp>
        <p:nvSpPr>
          <p:cNvPr id="47" name="Shape 45"/>
          <p:cNvSpPr/>
          <p:nvPr/>
        </p:nvSpPr>
        <p:spPr>
          <a:xfrm>
            <a:off x="7132320" y="1783080"/>
            <a:ext cx="237744" cy="237744"/>
          </a:xfrm>
          <a:prstGeom prst="rect">
            <a:avLst/>
          </a:prstGeom>
          <a:solidFill>
            <a:srgbClr val="5B7083">
              <a:alpha val="65000"/>
            </a:srgbClr>
          </a:solidFill>
          <a:ln w="6350">
            <a:solidFill>
              <a:srgbClr val="0B1F33"/>
            </a:solidFill>
            <a:prstDash val="solid"/>
          </a:ln>
        </p:spPr>
      </p:sp>
      <p:sp>
        <p:nvSpPr>
          <p:cNvPr id="48" name="Shape 46"/>
          <p:cNvSpPr/>
          <p:nvPr/>
        </p:nvSpPr>
        <p:spPr>
          <a:xfrm>
            <a:off x="7132320" y="2057400"/>
            <a:ext cx="237744" cy="237744"/>
          </a:xfrm>
          <a:prstGeom prst="rect">
            <a:avLst/>
          </a:prstGeom>
          <a:solidFill>
            <a:srgbClr val="5B7083">
              <a:alpha val="65000"/>
            </a:srgbClr>
          </a:solidFill>
          <a:ln w="6350">
            <a:solidFill>
              <a:srgbClr val="0B1F33"/>
            </a:solidFill>
            <a:prstDash val="solid"/>
          </a:ln>
        </p:spPr>
      </p:sp>
      <p:sp>
        <p:nvSpPr>
          <p:cNvPr id="49" name="Shape 47"/>
          <p:cNvSpPr/>
          <p:nvPr/>
        </p:nvSpPr>
        <p:spPr>
          <a:xfrm>
            <a:off x="7132320" y="2331720"/>
            <a:ext cx="237744" cy="237744"/>
          </a:xfrm>
          <a:prstGeom prst="rect">
            <a:avLst/>
          </a:prstGeom>
          <a:solidFill>
            <a:srgbClr val="C8763A"/>
          </a:solidFill>
          <a:ln w="6350">
            <a:solidFill>
              <a:srgbClr val="0B1F33"/>
            </a:solidFill>
            <a:prstDash val="solid"/>
          </a:ln>
        </p:spPr>
      </p:sp>
      <p:sp>
        <p:nvSpPr>
          <p:cNvPr id="50" name="Shape 48"/>
          <p:cNvSpPr/>
          <p:nvPr/>
        </p:nvSpPr>
        <p:spPr>
          <a:xfrm>
            <a:off x="7132320" y="2606040"/>
            <a:ext cx="237744" cy="237744"/>
          </a:xfrm>
          <a:prstGeom prst="rect">
            <a:avLst/>
          </a:prstGeom>
          <a:solidFill>
            <a:srgbClr val="C8763A"/>
          </a:solidFill>
          <a:ln w="6350">
            <a:solidFill>
              <a:srgbClr val="0B1F33"/>
            </a:solidFill>
            <a:prstDash val="solid"/>
          </a:ln>
        </p:spPr>
      </p:sp>
      <p:sp>
        <p:nvSpPr>
          <p:cNvPr id="51" name="Shape 49"/>
          <p:cNvSpPr/>
          <p:nvPr/>
        </p:nvSpPr>
        <p:spPr>
          <a:xfrm>
            <a:off x="7132320" y="2880360"/>
            <a:ext cx="237744" cy="237744"/>
          </a:xfrm>
          <a:prstGeom prst="rect">
            <a:avLst/>
          </a:prstGeom>
          <a:solidFill>
            <a:srgbClr val="C8763A"/>
          </a:solidFill>
          <a:ln w="6350">
            <a:solidFill>
              <a:srgbClr val="0B1F33"/>
            </a:solidFill>
            <a:prstDash val="solid"/>
          </a:ln>
        </p:spPr>
      </p:sp>
      <p:sp>
        <p:nvSpPr>
          <p:cNvPr id="52" name="Shape 50"/>
          <p:cNvSpPr/>
          <p:nvPr/>
        </p:nvSpPr>
        <p:spPr>
          <a:xfrm>
            <a:off x="7132320" y="3154680"/>
            <a:ext cx="237744" cy="237744"/>
          </a:xfrm>
          <a:prstGeom prst="rect">
            <a:avLst/>
          </a:prstGeom>
          <a:solidFill>
            <a:srgbClr val="5B7083">
              <a:alpha val="65000"/>
            </a:srgbClr>
          </a:solidFill>
          <a:ln w="6350">
            <a:solidFill>
              <a:srgbClr val="0B1F33"/>
            </a:solidFill>
            <a:prstDash val="solid"/>
          </a:ln>
        </p:spPr>
      </p:sp>
      <p:sp>
        <p:nvSpPr>
          <p:cNvPr id="53" name="Shape 51"/>
          <p:cNvSpPr/>
          <p:nvPr/>
        </p:nvSpPr>
        <p:spPr>
          <a:xfrm>
            <a:off x="7132320" y="3429000"/>
            <a:ext cx="237744" cy="237744"/>
          </a:xfrm>
          <a:prstGeom prst="rect">
            <a:avLst/>
          </a:prstGeom>
          <a:solidFill>
            <a:srgbClr val="5B7083">
              <a:alpha val="65000"/>
            </a:srgbClr>
          </a:solidFill>
          <a:ln w="6350">
            <a:solidFill>
              <a:srgbClr val="0B1F33"/>
            </a:solidFill>
            <a:prstDash val="solid"/>
          </a:ln>
        </p:spPr>
      </p:sp>
      <p:sp>
        <p:nvSpPr>
          <p:cNvPr id="54" name="Shape 52"/>
          <p:cNvSpPr/>
          <p:nvPr/>
        </p:nvSpPr>
        <p:spPr>
          <a:xfrm>
            <a:off x="7132320" y="3703320"/>
            <a:ext cx="237744" cy="237744"/>
          </a:xfrm>
          <a:prstGeom prst="rect">
            <a:avLst/>
          </a:prstGeom>
          <a:solidFill>
            <a:srgbClr val="5B7083">
              <a:alpha val="65000"/>
            </a:srgbClr>
          </a:solidFill>
          <a:ln w="6350">
            <a:solidFill>
              <a:srgbClr val="0B1F33"/>
            </a:solidFill>
            <a:prstDash val="solid"/>
          </a:ln>
        </p:spPr>
      </p:sp>
      <p:sp>
        <p:nvSpPr>
          <p:cNvPr id="55" name="Shape 53"/>
          <p:cNvSpPr/>
          <p:nvPr/>
        </p:nvSpPr>
        <p:spPr>
          <a:xfrm>
            <a:off x="7406640" y="1234440"/>
            <a:ext cx="237744" cy="237744"/>
          </a:xfrm>
          <a:prstGeom prst="rect">
            <a:avLst/>
          </a:prstGeom>
          <a:solidFill>
            <a:srgbClr val="5B7083">
              <a:alpha val="65000"/>
            </a:srgbClr>
          </a:solidFill>
          <a:ln w="6350">
            <a:solidFill>
              <a:srgbClr val="0B1F33"/>
            </a:solidFill>
            <a:prstDash val="solid"/>
          </a:ln>
        </p:spPr>
      </p:sp>
      <p:sp>
        <p:nvSpPr>
          <p:cNvPr id="56" name="Shape 54"/>
          <p:cNvSpPr/>
          <p:nvPr/>
        </p:nvSpPr>
        <p:spPr>
          <a:xfrm>
            <a:off x="7406640" y="1508760"/>
            <a:ext cx="237744" cy="237744"/>
          </a:xfrm>
          <a:prstGeom prst="rect">
            <a:avLst/>
          </a:prstGeom>
          <a:solidFill>
            <a:srgbClr val="5B7083">
              <a:alpha val="65000"/>
            </a:srgbClr>
          </a:solidFill>
          <a:ln w="6350">
            <a:solidFill>
              <a:srgbClr val="0B1F33"/>
            </a:solidFill>
            <a:prstDash val="solid"/>
          </a:ln>
        </p:spPr>
      </p:sp>
      <p:sp>
        <p:nvSpPr>
          <p:cNvPr id="57" name="Shape 55"/>
          <p:cNvSpPr/>
          <p:nvPr/>
        </p:nvSpPr>
        <p:spPr>
          <a:xfrm>
            <a:off x="7406640" y="1783080"/>
            <a:ext cx="237744" cy="237744"/>
          </a:xfrm>
          <a:prstGeom prst="rect">
            <a:avLst/>
          </a:prstGeom>
          <a:solidFill>
            <a:srgbClr val="5B7083">
              <a:alpha val="65000"/>
            </a:srgbClr>
          </a:solidFill>
          <a:ln w="6350">
            <a:solidFill>
              <a:srgbClr val="0B1F33"/>
            </a:solidFill>
            <a:prstDash val="solid"/>
          </a:ln>
        </p:spPr>
      </p:sp>
      <p:sp>
        <p:nvSpPr>
          <p:cNvPr id="58" name="Shape 56"/>
          <p:cNvSpPr/>
          <p:nvPr/>
        </p:nvSpPr>
        <p:spPr>
          <a:xfrm>
            <a:off x="7406640" y="2057400"/>
            <a:ext cx="237744" cy="237744"/>
          </a:xfrm>
          <a:prstGeom prst="rect">
            <a:avLst/>
          </a:prstGeom>
          <a:solidFill>
            <a:srgbClr val="5B7083">
              <a:alpha val="65000"/>
            </a:srgbClr>
          </a:solidFill>
          <a:ln w="6350">
            <a:solidFill>
              <a:srgbClr val="0B1F33"/>
            </a:solidFill>
            <a:prstDash val="solid"/>
          </a:ln>
        </p:spPr>
      </p:sp>
      <p:sp>
        <p:nvSpPr>
          <p:cNvPr id="59" name="Shape 57"/>
          <p:cNvSpPr/>
          <p:nvPr/>
        </p:nvSpPr>
        <p:spPr>
          <a:xfrm>
            <a:off x="7406640" y="2331720"/>
            <a:ext cx="237744" cy="237744"/>
          </a:xfrm>
          <a:prstGeom prst="rect">
            <a:avLst/>
          </a:prstGeom>
          <a:solidFill>
            <a:srgbClr val="C8763A"/>
          </a:solidFill>
          <a:ln w="6350">
            <a:solidFill>
              <a:srgbClr val="0B1F33"/>
            </a:solidFill>
            <a:prstDash val="solid"/>
          </a:ln>
        </p:spPr>
      </p:sp>
      <p:sp>
        <p:nvSpPr>
          <p:cNvPr id="60" name="Shape 58"/>
          <p:cNvSpPr/>
          <p:nvPr/>
        </p:nvSpPr>
        <p:spPr>
          <a:xfrm>
            <a:off x="7406640" y="2606040"/>
            <a:ext cx="237744" cy="237744"/>
          </a:xfrm>
          <a:prstGeom prst="rect">
            <a:avLst/>
          </a:prstGeom>
          <a:solidFill>
            <a:srgbClr val="C8763A"/>
          </a:solidFill>
          <a:ln w="6350">
            <a:solidFill>
              <a:srgbClr val="0B1F33"/>
            </a:solidFill>
            <a:prstDash val="solid"/>
          </a:ln>
        </p:spPr>
      </p:sp>
      <p:sp>
        <p:nvSpPr>
          <p:cNvPr id="61" name="Shape 59"/>
          <p:cNvSpPr/>
          <p:nvPr/>
        </p:nvSpPr>
        <p:spPr>
          <a:xfrm>
            <a:off x="7406640" y="2880360"/>
            <a:ext cx="237744" cy="237744"/>
          </a:xfrm>
          <a:prstGeom prst="rect">
            <a:avLst/>
          </a:prstGeom>
          <a:solidFill>
            <a:srgbClr val="C8763A"/>
          </a:solidFill>
          <a:ln w="6350">
            <a:solidFill>
              <a:srgbClr val="0B1F33"/>
            </a:solidFill>
            <a:prstDash val="solid"/>
          </a:ln>
        </p:spPr>
      </p:sp>
      <p:sp>
        <p:nvSpPr>
          <p:cNvPr id="62" name="Shape 60"/>
          <p:cNvSpPr/>
          <p:nvPr/>
        </p:nvSpPr>
        <p:spPr>
          <a:xfrm>
            <a:off x="7406640" y="3154680"/>
            <a:ext cx="237744" cy="237744"/>
          </a:xfrm>
          <a:prstGeom prst="rect">
            <a:avLst/>
          </a:prstGeom>
          <a:solidFill>
            <a:srgbClr val="5B7083">
              <a:alpha val="65000"/>
            </a:srgbClr>
          </a:solidFill>
          <a:ln w="6350">
            <a:solidFill>
              <a:srgbClr val="0B1F33"/>
            </a:solidFill>
            <a:prstDash val="solid"/>
          </a:ln>
        </p:spPr>
      </p:sp>
      <p:sp>
        <p:nvSpPr>
          <p:cNvPr id="63" name="Shape 61"/>
          <p:cNvSpPr/>
          <p:nvPr/>
        </p:nvSpPr>
        <p:spPr>
          <a:xfrm>
            <a:off x="7406640" y="3429000"/>
            <a:ext cx="237744" cy="237744"/>
          </a:xfrm>
          <a:prstGeom prst="rect">
            <a:avLst/>
          </a:prstGeom>
          <a:solidFill>
            <a:srgbClr val="5B7083">
              <a:alpha val="65000"/>
            </a:srgbClr>
          </a:solidFill>
          <a:ln w="6350">
            <a:solidFill>
              <a:srgbClr val="0B1F33"/>
            </a:solidFill>
            <a:prstDash val="solid"/>
          </a:ln>
        </p:spPr>
      </p:sp>
      <p:sp>
        <p:nvSpPr>
          <p:cNvPr id="64" name="Shape 62"/>
          <p:cNvSpPr/>
          <p:nvPr/>
        </p:nvSpPr>
        <p:spPr>
          <a:xfrm>
            <a:off x="7406640" y="3703320"/>
            <a:ext cx="237744" cy="237744"/>
          </a:xfrm>
          <a:prstGeom prst="rect">
            <a:avLst/>
          </a:prstGeom>
          <a:solidFill>
            <a:srgbClr val="5B7083">
              <a:alpha val="65000"/>
            </a:srgbClr>
          </a:solidFill>
          <a:ln w="6350">
            <a:solidFill>
              <a:srgbClr val="0B1F33"/>
            </a:solidFill>
            <a:prstDash val="solid"/>
          </a:ln>
        </p:spPr>
      </p:sp>
      <p:sp>
        <p:nvSpPr>
          <p:cNvPr id="65" name="Shape 63"/>
          <p:cNvSpPr/>
          <p:nvPr/>
        </p:nvSpPr>
        <p:spPr>
          <a:xfrm>
            <a:off x="7680960" y="1508760"/>
            <a:ext cx="237744" cy="237744"/>
          </a:xfrm>
          <a:prstGeom prst="rect">
            <a:avLst/>
          </a:prstGeom>
          <a:solidFill>
            <a:srgbClr val="5B7083">
              <a:alpha val="65000"/>
            </a:srgbClr>
          </a:solidFill>
          <a:ln w="6350">
            <a:solidFill>
              <a:srgbClr val="0B1F33"/>
            </a:solidFill>
            <a:prstDash val="solid"/>
          </a:ln>
        </p:spPr>
      </p:sp>
      <p:sp>
        <p:nvSpPr>
          <p:cNvPr id="66" name="Shape 64"/>
          <p:cNvSpPr/>
          <p:nvPr/>
        </p:nvSpPr>
        <p:spPr>
          <a:xfrm>
            <a:off x="7680960" y="1783080"/>
            <a:ext cx="237744" cy="237744"/>
          </a:xfrm>
          <a:prstGeom prst="rect">
            <a:avLst/>
          </a:prstGeom>
          <a:solidFill>
            <a:srgbClr val="5B7083">
              <a:alpha val="65000"/>
            </a:srgbClr>
          </a:solidFill>
          <a:ln w="6350">
            <a:solidFill>
              <a:srgbClr val="0B1F33"/>
            </a:solidFill>
            <a:prstDash val="solid"/>
          </a:ln>
        </p:spPr>
      </p:sp>
      <p:sp>
        <p:nvSpPr>
          <p:cNvPr id="67" name="Shape 65"/>
          <p:cNvSpPr/>
          <p:nvPr/>
        </p:nvSpPr>
        <p:spPr>
          <a:xfrm>
            <a:off x="7680960" y="2057400"/>
            <a:ext cx="237744" cy="237744"/>
          </a:xfrm>
          <a:prstGeom prst="rect">
            <a:avLst/>
          </a:prstGeom>
          <a:solidFill>
            <a:srgbClr val="5B7083">
              <a:alpha val="65000"/>
            </a:srgbClr>
          </a:solidFill>
          <a:ln w="6350">
            <a:solidFill>
              <a:srgbClr val="0B1F33"/>
            </a:solidFill>
            <a:prstDash val="solid"/>
          </a:ln>
        </p:spPr>
      </p:sp>
      <p:sp>
        <p:nvSpPr>
          <p:cNvPr id="68" name="Shape 66"/>
          <p:cNvSpPr/>
          <p:nvPr/>
        </p:nvSpPr>
        <p:spPr>
          <a:xfrm>
            <a:off x="7680960" y="2331720"/>
            <a:ext cx="237744" cy="237744"/>
          </a:xfrm>
          <a:prstGeom prst="rect">
            <a:avLst/>
          </a:prstGeom>
          <a:solidFill>
            <a:srgbClr val="5B7083">
              <a:alpha val="65000"/>
            </a:srgbClr>
          </a:solidFill>
          <a:ln w="6350">
            <a:solidFill>
              <a:srgbClr val="0B1F33"/>
            </a:solidFill>
            <a:prstDash val="solid"/>
          </a:ln>
        </p:spPr>
      </p:sp>
      <p:sp>
        <p:nvSpPr>
          <p:cNvPr id="69" name="Shape 67"/>
          <p:cNvSpPr/>
          <p:nvPr/>
        </p:nvSpPr>
        <p:spPr>
          <a:xfrm>
            <a:off x="7680960" y="2606040"/>
            <a:ext cx="237744" cy="237744"/>
          </a:xfrm>
          <a:prstGeom prst="rect">
            <a:avLst/>
          </a:prstGeom>
          <a:solidFill>
            <a:srgbClr val="5B7083">
              <a:alpha val="65000"/>
            </a:srgbClr>
          </a:solidFill>
          <a:ln w="6350">
            <a:solidFill>
              <a:srgbClr val="0B1F33"/>
            </a:solidFill>
            <a:prstDash val="solid"/>
          </a:ln>
        </p:spPr>
      </p:sp>
      <p:sp>
        <p:nvSpPr>
          <p:cNvPr id="70" name="Shape 68"/>
          <p:cNvSpPr/>
          <p:nvPr/>
        </p:nvSpPr>
        <p:spPr>
          <a:xfrm>
            <a:off x="7680960" y="2880360"/>
            <a:ext cx="237744" cy="237744"/>
          </a:xfrm>
          <a:prstGeom prst="rect">
            <a:avLst/>
          </a:prstGeom>
          <a:solidFill>
            <a:srgbClr val="5B7083">
              <a:alpha val="65000"/>
            </a:srgbClr>
          </a:solidFill>
          <a:ln w="6350">
            <a:solidFill>
              <a:srgbClr val="0B1F33"/>
            </a:solidFill>
            <a:prstDash val="solid"/>
          </a:ln>
        </p:spPr>
      </p:sp>
      <p:sp>
        <p:nvSpPr>
          <p:cNvPr id="71" name="Shape 69"/>
          <p:cNvSpPr/>
          <p:nvPr/>
        </p:nvSpPr>
        <p:spPr>
          <a:xfrm>
            <a:off x="7680960" y="3154680"/>
            <a:ext cx="237744" cy="237744"/>
          </a:xfrm>
          <a:prstGeom prst="rect">
            <a:avLst/>
          </a:prstGeom>
          <a:solidFill>
            <a:srgbClr val="5B7083">
              <a:alpha val="65000"/>
            </a:srgbClr>
          </a:solidFill>
          <a:ln w="6350">
            <a:solidFill>
              <a:srgbClr val="0B1F33"/>
            </a:solidFill>
            <a:prstDash val="solid"/>
          </a:ln>
        </p:spPr>
      </p:sp>
      <p:sp>
        <p:nvSpPr>
          <p:cNvPr id="72" name="Shape 70"/>
          <p:cNvSpPr/>
          <p:nvPr/>
        </p:nvSpPr>
        <p:spPr>
          <a:xfrm>
            <a:off x="7680960" y="3429000"/>
            <a:ext cx="237744" cy="237744"/>
          </a:xfrm>
          <a:prstGeom prst="rect">
            <a:avLst/>
          </a:prstGeom>
          <a:solidFill>
            <a:srgbClr val="5B7083">
              <a:alpha val="65000"/>
            </a:srgbClr>
          </a:solidFill>
          <a:ln w="6350">
            <a:solidFill>
              <a:srgbClr val="0B1F33"/>
            </a:solidFill>
            <a:prstDash val="solid"/>
          </a:ln>
        </p:spPr>
      </p:sp>
      <p:sp>
        <p:nvSpPr>
          <p:cNvPr id="73" name="Shape 71"/>
          <p:cNvSpPr/>
          <p:nvPr/>
        </p:nvSpPr>
        <p:spPr>
          <a:xfrm>
            <a:off x="7955280" y="1508760"/>
            <a:ext cx="237744" cy="237744"/>
          </a:xfrm>
          <a:prstGeom prst="rect">
            <a:avLst/>
          </a:prstGeom>
          <a:solidFill>
            <a:srgbClr val="5B7083">
              <a:alpha val="65000"/>
            </a:srgbClr>
          </a:solidFill>
          <a:ln w="6350">
            <a:solidFill>
              <a:srgbClr val="0B1F33"/>
            </a:solidFill>
            <a:prstDash val="solid"/>
          </a:ln>
        </p:spPr>
      </p:sp>
      <p:sp>
        <p:nvSpPr>
          <p:cNvPr id="74" name="Shape 72"/>
          <p:cNvSpPr/>
          <p:nvPr/>
        </p:nvSpPr>
        <p:spPr>
          <a:xfrm>
            <a:off x="7955280" y="1783080"/>
            <a:ext cx="237744" cy="237744"/>
          </a:xfrm>
          <a:prstGeom prst="rect">
            <a:avLst/>
          </a:prstGeom>
          <a:solidFill>
            <a:srgbClr val="5B7083">
              <a:alpha val="65000"/>
            </a:srgbClr>
          </a:solidFill>
          <a:ln w="6350">
            <a:solidFill>
              <a:srgbClr val="0B1F33"/>
            </a:solidFill>
            <a:prstDash val="solid"/>
          </a:ln>
        </p:spPr>
      </p:sp>
      <p:sp>
        <p:nvSpPr>
          <p:cNvPr id="75" name="Shape 73"/>
          <p:cNvSpPr/>
          <p:nvPr/>
        </p:nvSpPr>
        <p:spPr>
          <a:xfrm>
            <a:off x="7955280" y="2057400"/>
            <a:ext cx="237744" cy="237744"/>
          </a:xfrm>
          <a:prstGeom prst="rect">
            <a:avLst/>
          </a:prstGeom>
          <a:solidFill>
            <a:srgbClr val="5B7083">
              <a:alpha val="65000"/>
            </a:srgbClr>
          </a:solidFill>
          <a:ln w="6350">
            <a:solidFill>
              <a:srgbClr val="0B1F33"/>
            </a:solidFill>
            <a:prstDash val="solid"/>
          </a:ln>
        </p:spPr>
      </p:sp>
      <p:sp>
        <p:nvSpPr>
          <p:cNvPr id="76" name="Shape 74"/>
          <p:cNvSpPr/>
          <p:nvPr/>
        </p:nvSpPr>
        <p:spPr>
          <a:xfrm>
            <a:off x="7955280" y="2331720"/>
            <a:ext cx="237744" cy="237744"/>
          </a:xfrm>
          <a:prstGeom prst="rect">
            <a:avLst/>
          </a:prstGeom>
          <a:solidFill>
            <a:srgbClr val="5B7083">
              <a:alpha val="65000"/>
            </a:srgbClr>
          </a:solidFill>
          <a:ln w="6350">
            <a:solidFill>
              <a:srgbClr val="0B1F33"/>
            </a:solidFill>
            <a:prstDash val="solid"/>
          </a:ln>
        </p:spPr>
      </p:sp>
      <p:sp>
        <p:nvSpPr>
          <p:cNvPr id="77" name="Shape 75"/>
          <p:cNvSpPr/>
          <p:nvPr/>
        </p:nvSpPr>
        <p:spPr>
          <a:xfrm>
            <a:off x="7955280" y="2606040"/>
            <a:ext cx="237744" cy="237744"/>
          </a:xfrm>
          <a:prstGeom prst="rect">
            <a:avLst/>
          </a:prstGeom>
          <a:solidFill>
            <a:srgbClr val="5B7083">
              <a:alpha val="65000"/>
            </a:srgbClr>
          </a:solidFill>
          <a:ln w="6350">
            <a:solidFill>
              <a:srgbClr val="0B1F33"/>
            </a:solidFill>
            <a:prstDash val="solid"/>
          </a:ln>
        </p:spPr>
      </p:sp>
      <p:sp>
        <p:nvSpPr>
          <p:cNvPr id="78" name="Shape 76"/>
          <p:cNvSpPr/>
          <p:nvPr/>
        </p:nvSpPr>
        <p:spPr>
          <a:xfrm>
            <a:off x="7955280" y="2880360"/>
            <a:ext cx="237744" cy="237744"/>
          </a:xfrm>
          <a:prstGeom prst="rect">
            <a:avLst/>
          </a:prstGeom>
          <a:solidFill>
            <a:srgbClr val="5B7083">
              <a:alpha val="65000"/>
            </a:srgbClr>
          </a:solidFill>
          <a:ln w="6350">
            <a:solidFill>
              <a:srgbClr val="0B1F33"/>
            </a:solidFill>
            <a:prstDash val="solid"/>
          </a:ln>
        </p:spPr>
      </p:sp>
      <p:sp>
        <p:nvSpPr>
          <p:cNvPr id="79" name="Shape 77"/>
          <p:cNvSpPr/>
          <p:nvPr/>
        </p:nvSpPr>
        <p:spPr>
          <a:xfrm>
            <a:off x="7955280" y="3154680"/>
            <a:ext cx="237744" cy="237744"/>
          </a:xfrm>
          <a:prstGeom prst="rect">
            <a:avLst/>
          </a:prstGeom>
          <a:solidFill>
            <a:srgbClr val="5B7083">
              <a:alpha val="65000"/>
            </a:srgbClr>
          </a:solidFill>
          <a:ln w="6350">
            <a:solidFill>
              <a:srgbClr val="0B1F33"/>
            </a:solidFill>
            <a:prstDash val="solid"/>
          </a:ln>
        </p:spPr>
      </p:sp>
      <p:sp>
        <p:nvSpPr>
          <p:cNvPr id="80" name="Shape 78"/>
          <p:cNvSpPr/>
          <p:nvPr/>
        </p:nvSpPr>
        <p:spPr>
          <a:xfrm>
            <a:off x="8229600" y="2057400"/>
            <a:ext cx="237744" cy="237744"/>
          </a:xfrm>
          <a:prstGeom prst="rect">
            <a:avLst/>
          </a:prstGeom>
          <a:solidFill>
            <a:srgbClr val="5B7083">
              <a:alpha val="65000"/>
            </a:srgbClr>
          </a:solidFill>
          <a:ln w="6350">
            <a:solidFill>
              <a:srgbClr val="0B1F33"/>
            </a:solidFill>
            <a:prstDash val="solid"/>
          </a:ln>
        </p:spPr>
      </p:sp>
      <p:sp>
        <p:nvSpPr>
          <p:cNvPr id="81" name="Shape 79"/>
          <p:cNvSpPr/>
          <p:nvPr/>
        </p:nvSpPr>
        <p:spPr>
          <a:xfrm>
            <a:off x="8229600" y="2331720"/>
            <a:ext cx="237744" cy="237744"/>
          </a:xfrm>
          <a:prstGeom prst="rect">
            <a:avLst/>
          </a:prstGeom>
          <a:solidFill>
            <a:srgbClr val="5B7083">
              <a:alpha val="65000"/>
            </a:srgbClr>
          </a:solidFill>
          <a:ln w="6350">
            <a:solidFill>
              <a:srgbClr val="0B1F33"/>
            </a:solidFill>
            <a:prstDash val="solid"/>
          </a:ln>
        </p:spPr>
      </p:sp>
      <p:sp>
        <p:nvSpPr>
          <p:cNvPr id="82" name="Shape 80"/>
          <p:cNvSpPr/>
          <p:nvPr/>
        </p:nvSpPr>
        <p:spPr>
          <a:xfrm>
            <a:off x="8229600" y="2606040"/>
            <a:ext cx="237744" cy="237744"/>
          </a:xfrm>
          <a:prstGeom prst="rect">
            <a:avLst/>
          </a:prstGeom>
          <a:solidFill>
            <a:srgbClr val="5B7083">
              <a:alpha val="65000"/>
            </a:srgbClr>
          </a:solidFill>
          <a:ln w="6350">
            <a:solidFill>
              <a:srgbClr val="0B1F33"/>
            </a:solidFill>
            <a:prstDash val="solid"/>
          </a:ln>
        </p:spPr>
      </p:sp>
      <p:sp>
        <p:nvSpPr>
          <p:cNvPr id="83" name="Shape 81"/>
          <p:cNvSpPr/>
          <p:nvPr/>
        </p:nvSpPr>
        <p:spPr>
          <a:xfrm>
            <a:off x="8229600" y="2880360"/>
            <a:ext cx="237744" cy="237744"/>
          </a:xfrm>
          <a:prstGeom prst="rect">
            <a:avLst/>
          </a:prstGeom>
          <a:solidFill>
            <a:srgbClr val="5B7083">
              <a:alpha val="65000"/>
            </a:srgbClr>
          </a:solidFill>
          <a:ln w="6350">
            <a:solidFill>
              <a:srgbClr val="0B1F33"/>
            </a:solidFill>
            <a:prstDash val="solid"/>
          </a:ln>
        </p:spPr>
      </p:sp>
      <p:sp>
        <p:nvSpPr>
          <p:cNvPr id="84" name="Shape 82"/>
          <p:cNvSpPr/>
          <p:nvPr/>
        </p:nvSpPr>
        <p:spPr>
          <a:xfrm>
            <a:off x="7031736" y="4014216"/>
            <a:ext cx="109728" cy="109728"/>
          </a:xfrm>
          <a:prstGeom prst="ellipse">
            <a:avLst/>
          </a:prstGeom>
          <a:solidFill>
            <a:srgbClr val="0B1F33"/>
          </a:solidFill>
          <a:ln w="12700">
            <a:solidFill>
              <a:srgbClr val="0B1F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What you’ll be able to explain</a:t>
            </a:r>
            <a:endParaRPr lang="en-US" sz="2800" dirty="0"/>
          </a:p>
        </p:txBody>
      </p:sp>
      <p:sp>
        <p:nvSpPr>
          <p:cNvPr id="3" name="Shape 1"/>
          <p:cNvSpPr/>
          <p:nvPr/>
        </p:nvSpPr>
        <p:spPr>
          <a:xfrm>
            <a:off x="548640" y="1143000"/>
            <a:ext cx="438912" cy="438912"/>
          </a:xfrm>
          <a:prstGeom prst="ellipse">
            <a:avLst/>
          </a:prstGeom>
          <a:solidFill>
            <a:srgbClr val="C8763A"/>
          </a:solidFill>
          <a:ln w="12700">
            <a:solidFill>
              <a:srgbClr val="C8763A"/>
            </a:solidFill>
            <a:prstDash val="solid"/>
          </a:ln>
        </p:spPr>
      </p:sp>
      <p:sp>
        <p:nvSpPr>
          <p:cNvPr id="4" name="Text 2"/>
          <p:cNvSpPr txBox="1"/>
          <p:nvPr/>
        </p:nvSpPr>
        <p:spPr>
          <a:xfrm>
            <a:off x="548640" y="114300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188720" y="1124712"/>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Node names</a:t>
            </a:r>
            <a:endParaRPr lang="en-US" sz="1800" dirty="0"/>
          </a:p>
        </p:txBody>
      </p:sp>
      <p:sp>
        <p:nvSpPr>
          <p:cNvPr id="6" name="Text 4"/>
          <p:cNvSpPr txBox="1"/>
          <p:nvPr/>
        </p:nvSpPr>
        <p:spPr>
          <a:xfrm>
            <a:off x="3840480" y="1124712"/>
            <a:ext cx="4846320" cy="45720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Why “3nm” is a brand and which metrics are real</a:t>
            </a:r>
            <a:endParaRPr lang="en-US" sz="1500" dirty="0"/>
          </a:p>
        </p:txBody>
      </p:sp>
      <p:sp>
        <p:nvSpPr>
          <p:cNvPr id="7" name="Shape 5"/>
          <p:cNvSpPr/>
          <p:nvPr/>
        </p:nvSpPr>
        <p:spPr>
          <a:xfrm>
            <a:off x="548640" y="1856232"/>
            <a:ext cx="438912" cy="438912"/>
          </a:xfrm>
          <a:prstGeom prst="ellipse">
            <a:avLst/>
          </a:prstGeom>
          <a:solidFill>
            <a:srgbClr val="C8763A"/>
          </a:solidFill>
          <a:ln w="12700">
            <a:solidFill>
              <a:srgbClr val="C8763A"/>
            </a:solidFill>
            <a:prstDash val="solid"/>
          </a:ln>
        </p:spPr>
      </p:sp>
      <p:sp>
        <p:nvSpPr>
          <p:cNvPr id="8" name="Text 6"/>
          <p:cNvSpPr txBox="1"/>
          <p:nvPr/>
        </p:nvSpPr>
        <p:spPr>
          <a:xfrm>
            <a:off x="548640" y="18562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188720" y="1837944"/>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Gate control</a:t>
            </a:r>
            <a:endParaRPr lang="en-US" sz="1800" dirty="0"/>
          </a:p>
        </p:txBody>
      </p:sp>
      <p:sp>
        <p:nvSpPr>
          <p:cNvPr id="10" name="Text 8"/>
          <p:cNvSpPr txBox="1"/>
          <p:nvPr/>
        </p:nvSpPr>
        <p:spPr>
          <a:xfrm>
            <a:off x="3840480" y="1837944"/>
            <a:ext cx="4846320" cy="45720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The electrostatics behind planar → FinFET → GAA</a:t>
            </a:r>
            <a:endParaRPr lang="en-US" sz="1500" dirty="0"/>
          </a:p>
        </p:txBody>
      </p:sp>
      <p:sp>
        <p:nvSpPr>
          <p:cNvPr id="11" name="Shape 9"/>
          <p:cNvSpPr/>
          <p:nvPr/>
        </p:nvSpPr>
        <p:spPr>
          <a:xfrm>
            <a:off x="548640" y="2569464"/>
            <a:ext cx="438912" cy="438912"/>
          </a:xfrm>
          <a:prstGeom prst="ellipse">
            <a:avLst/>
          </a:prstGeom>
          <a:solidFill>
            <a:srgbClr val="C8763A"/>
          </a:solidFill>
          <a:ln w="12700">
            <a:solidFill>
              <a:srgbClr val="C8763A"/>
            </a:solidFill>
            <a:prstDash val="solid"/>
          </a:ln>
        </p:spPr>
      </p:sp>
      <p:sp>
        <p:nvSpPr>
          <p:cNvPr id="12" name="Text 10"/>
          <p:cNvSpPr txBox="1"/>
          <p:nvPr/>
        </p:nvSpPr>
        <p:spPr>
          <a:xfrm>
            <a:off x="548640" y="256946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188720" y="2551176"/>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Nanosheet build</a:t>
            </a:r>
            <a:endParaRPr lang="en-US" sz="1800" dirty="0"/>
          </a:p>
        </p:txBody>
      </p:sp>
      <p:sp>
        <p:nvSpPr>
          <p:cNvPr id="14" name="Text 12"/>
          <p:cNvSpPr txBox="1"/>
          <p:nvPr/>
        </p:nvSpPr>
        <p:spPr>
          <a:xfrm>
            <a:off x="3840480" y="2551176"/>
            <a:ext cx="4846320" cy="45720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The process steps, and which ones are hard</a:t>
            </a:r>
            <a:endParaRPr lang="en-US" sz="1500" dirty="0"/>
          </a:p>
        </p:txBody>
      </p:sp>
      <p:sp>
        <p:nvSpPr>
          <p:cNvPr id="15" name="Shape 13"/>
          <p:cNvSpPr/>
          <p:nvPr/>
        </p:nvSpPr>
        <p:spPr>
          <a:xfrm>
            <a:off x="548640" y="3282696"/>
            <a:ext cx="438912" cy="438912"/>
          </a:xfrm>
          <a:prstGeom prst="ellipse">
            <a:avLst/>
          </a:prstGeom>
          <a:solidFill>
            <a:srgbClr val="C8763A"/>
          </a:solidFill>
          <a:ln w="12700">
            <a:solidFill>
              <a:srgbClr val="C8763A"/>
            </a:solidFill>
            <a:prstDash val="solid"/>
          </a:ln>
        </p:spPr>
      </p:sp>
      <p:sp>
        <p:nvSpPr>
          <p:cNvPr id="16" name="Text 14"/>
          <p:cNvSpPr txBox="1"/>
          <p:nvPr/>
        </p:nvSpPr>
        <p:spPr>
          <a:xfrm>
            <a:off x="548640" y="32826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188720" y="3264408"/>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Backside power</a:t>
            </a:r>
            <a:endParaRPr lang="en-US" sz="1800" dirty="0"/>
          </a:p>
        </p:txBody>
      </p:sp>
      <p:sp>
        <p:nvSpPr>
          <p:cNvPr id="18" name="Text 16"/>
          <p:cNvSpPr txBox="1"/>
          <p:nvPr/>
        </p:nvSpPr>
        <p:spPr>
          <a:xfrm>
            <a:off x="3840480" y="3264408"/>
            <a:ext cx="4846320" cy="45720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What moves under the wafer and what it changes</a:t>
            </a:r>
            <a:endParaRPr lang="en-US" sz="1500" dirty="0"/>
          </a:p>
        </p:txBody>
      </p:sp>
      <p:sp>
        <p:nvSpPr>
          <p:cNvPr id="19" name="Shape 17"/>
          <p:cNvSpPr/>
          <p:nvPr/>
        </p:nvSpPr>
        <p:spPr>
          <a:xfrm>
            <a:off x="548640" y="3995928"/>
            <a:ext cx="438912" cy="438912"/>
          </a:xfrm>
          <a:prstGeom prst="ellipse">
            <a:avLst/>
          </a:prstGeom>
          <a:solidFill>
            <a:srgbClr val="C8763A"/>
          </a:solidFill>
          <a:ln w="12700">
            <a:solidFill>
              <a:srgbClr val="C8763A"/>
            </a:solidFill>
            <a:prstDash val="solid"/>
          </a:ln>
        </p:spPr>
      </p:sp>
      <p:sp>
        <p:nvSpPr>
          <p:cNvPr id="20" name="Text 18"/>
          <p:cNvSpPr txBox="1"/>
          <p:nvPr/>
        </p:nvSpPr>
        <p:spPr>
          <a:xfrm>
            <a:off x="548640" y="399592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1188720" y="3977640"/>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libri" pitchFamily="34" charset="0"/>
                <a:ea typeface="Calibri" pitchFamily="34" charset="-122"/>
                <a:cs typeface="Calibri" pitchFamily="34" charset="-120"/>
              </a:rPr>
              <a:t>The 2nm race</a:t>
            </a:r>
            <a:endParaRPr lang="en-US" sz="1800" dirty="0"/>
          </a:p>
        </p:txBody>
      </p:sp>
      <p:sp>
        <p:nvSpPr>
          <p:cNvPr id="22" name="Text 20"/>
          <p:cNvSpPr txBox="1"/>
          <p:nvPr/>
        </p:nvSpPr>
        <p:spPr>
          <a:xfrm>
            <a:off x="3840480" y="3977640"/>
            <a:ext cx="4846320" cy="457200"/>
          </a:xfrm>
          <a:prstGeom prst="rect">
            <a:avLst/>
          </a:prstGeom>
          <a:noFill/>
          <a:ln/>
        </p:spPr>
        <p:txBody>
          <a:bodyPr wrap="square" lIns="0" tIns="0" rIns="0" bIns="0" rtlCol="0" anchor="ctr"/>
          <a:lstStyle/>
          <a:p>
            <a:pPr indent="0" marL="0">
              <a:buNone/>
            </a:pPr>
            <a:r>
              <a:rPr lang="en-US" sz="1500" dirty="0">
                <a:solidFill>
                  <a:srgbClr val="14202E"/>
                </a:solidFill>
                <a:latin typeface="Calibri" pitchFamily="34" charset="0"/>
                <a:ea typeface="Calibri" pitchFamily="34" charset="-122"/>
                <a:cs typeface="Calibri" pitchFamily="34" charset="-120"/>
              </a:rPr>
              <a:t>TSMC, Intel and Samsung, through career and investor eyes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“3nm” is a product name, not a measurement</a:t>
            </a:r>
            <a:endParaRPr lang="en-US" sz="2800" dirty="0"/>
          </a:p>
        </p:txBody>
      </p:sp>
      <p:sp>
        <p:nvSpPr>
          <p:cNvPr id="3" name="Text 1"/>
          <p:cNvSpPr txBox="1"/>
          <p:nvPr/>
        </p:nvSpPr>
        <p:spPr>
          <a:xfrm>
            <a:off x="457200" y="1097280"/>
            <a:ext cx="2377440" cy="777240"/>
          </a:xfrm>
          <a:prstGeom prst="rect">
            <a:avLst/>
          </a:prstGeom>
          <a:noFill/>
          <a:ln/>
        </p:spPr>
        <p:txBody>
          <a:bodyPr wrap="square" lIns="0" tIns="0" rIns="0" bIns="0" rtlCol="0" anchor="b"/>
          <a:lstStyle/>
          <a:p>
            <a:pPr indent="0" marL="0">
              <a:buNone/>
            </a:pPr>
            <a:r>
              <a:rPr lang="en-US" sz="4800" b="1" dirty="0">
                <a:solidFill>
                  <a:srgbClr val="5B7083"/>
                </a:solidFill>
                <a:latin typeface="Cambria" pitchFamily="34" charset="0"/>
                <a:ea typeface="Cambria" pitchFamily="34" charset="-122"/>
                <a:cs typeface="Cambria" pitchFamily="34" charset="-120"/>
              </a:rPr>
              <a:t>3 nm</a:t>
            </a:r>
            <a:endParaRPr lang="en-US" sz="4800" dirty="0"/>
          </a:p>
        </p:txBody>
      </p:sp>
      <p:sp>
        <p:nvSpPr>
          <p:cNvPr id="4" name="Text 2"/>
          <p:cNvSpPr txBox="1"/>
          <p:nvPr/>
        </p:nvSpPr>
        <p:spPr>
          <a:xfrm>
            <a:off x="457200" y="1920240"/>
            <a:ext cx="237744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What the node is called</a:t>
            </a:r>
            <a:endParaRPr lang="en-US" sz="1300" dirty="0"/>
          </a:p>
        </p:txBody>
      </p:sp>
      <p:sp>
        <p:nvSpPr>
          <p:cNvPr id="5" name="Text 3"/>
          <p:cNvSpPr txBox="1"/>
          <p:nvPr/>
        </p:nvSpPr>
        <p:spPr>
          <a:xfrm>
            <a:off x="3017520" y="1097280"/>
            <a:ext cx="2560320" cy="777240"/>
          </a:xfrm>
          <a:prstGeom prst="rect">
            <a:avLst/>
          </a:prstGeom>
          <a:noFill/>
          <a:ln/>
        </p:spPr>
        <p:txBody>
          <a:bodyPr wrap="square" lIns="0" tIns="0" rIns="0" bIns="0" rtlCol="0" anchor="b"/>
          <a:lstStyle/>
          <a:p>
            <a:pPr indent="0" marL="0">
              <a:buNone/>
            </a:pPr>
            <a:r>
              <a:rPr lang="en-US" sz="4000" b="1" dirty="0">
                <a:solidFill>
                  <a:srgbClr val="C8763A"/>
                </a:solidFill>
                <a:latin typeface="Cambria" pitchFamily="34" charset="0"/>
                <a:ea typeface="Cambria" pitchFamily="34" charset="-122"/>
                <a:cs typeface="Cambria" pitchFamily="34" charset="-120"/>
              </a:rPr>
              <a:t>~15–20 nm</a:t>
            </a:r>
            <a:endParaRPr lang="en-US" sz="4000" dirty="0"/>
          </a:p>
        </p:txBody>
      </p:sp>
      <p:sp>
        <p:nvSpPr>
          <p:cNvPr id="6" name="Text 4"/>
          <p:cNvSpPr txBox="1"/>
          <p:nvPr/>
        </p:nvSpPr>
        <p:spPr>
          <a:xfrm>
            <a:off x="3017520" y="1920240"/>
            <a:ext cx="256032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Typical gate length today</a:t>
            </a:r>
            <a:endParaRPr lang="en-US" sz="1300" dirty="0"/>
          </a:p>
        </p:txBody>
      </p:sp>
      <p:sp>
        <p:nvSpPr>
          <p:cNvPr id="7" name="Text 5"/>
          <p:cNvSpPr txBox="1"/>
          <p:nvPr/>
        </p:nvSpPr>
        <p:spPr>
          <a:xfrm>
            <a:off x="5852160" y="1097280"/>
            <a:ext cx="2834640" cy="777240"/>
          </a:xfrm>
          <a:prstGeom prst="rect">
            <a:avLst/>
          </a:prstGeom>
          <a:noFill/>
          <a:ln/>
        </p:spPr>
        <p:txBody>
          <a:bodyPr wrap="square" lIns="0" tIns="0" rIns="0" bIns="0" rtlCol="0" anchor="b"/>
          <a:lstStyle/>
          <a:p>
            <a:pPr indent="0" marL="0">
              <a:buNone/>
            </a:pPr>
            <a:r>
              <a:rPr lang="en-US" sz="4000" b="1" dirty="0">
                <a:solidFill>
                  <a:srgbClr val="2A9D8F"/>
                </a:solidFill>
                <a:latin typeface="Cambria" pitchFamily="34" charset="0"/>
                <a:ea typeface="Cambria" pitchFamily="34" charset="-122"/>
                <a:cs typeface="Cambria" pitchFamily="34" charset="-120"/>
              </a:rPr>
              <a:t>~48 nm</a:t>
            </a:r>
            <a:endParaRPr lang="en-US" sz="4000" dirty="0"/>
          </a:p>
        </p:txBody>
      </p:sp>
      <p:sp>
        <p:nvSpPr>
          <p:cNvPr id="8" name="Text 6"/>
          <p:cNvSpPr txBox="1"/>
          <p:nvPr/>
        </p:nvSpPr>
        <p:spPr>
          <a:xfrm>
            <a:off x="5852160" y="1920240"/>
            <a:ext cx="283464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Gate pitch (CPP) of a 3nm-class node</a:t>
            </a:r>
            <a:endParaRPr lang="en-US" sz="1300" dirty="0"/>
          </a:p>
        </p:txBody>
      </p:sp>
      <p:sp>
        <p:nvSpPr>
          <p:cNvPr id="9" name="Shape 7"/>
          <p:cNvSpPr/>
          <p:nvPr/>
        </p:nvSpPr>
        <p:spPr>
          <a:xfrm>
            <a:off x="457200" y="3246120"/>
            <a:ext cx="987552" cy="548640"/>
          </a:xfrm>
          <a:prstGeom prst="chevron">
            <a:avLst/>
          </a:prstGeom>
          <a:solidFill>
            <a:srgbClr val="EEF2F6"/>
          </a:solidFill>
          <a:ln w="12700">
            <a:solidFill>
              <a:srgbClr val="EEF2F6"/>
            </a:solidFill>
            <a:prstDash val="solid"/>
          </a:ln>
        </p:spPr>
      </p:sp>
      <p:sp>
        <p:nvSpPr>
          <p:cNvPr id="10" name="Text 8"/>
          <p:cNvSpPr txBox="1"/>
          <p:nvPr/>
        </p:nvSpPr>
        <p:spPr>
          <a:xfrm>
            <a:off x="566928"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28</a:t>
            </a:r>
            <a:endParaRPr lang="en-US" sz="1500" dirty="0"/>
          </a:p>
        </p:txBody>
      </p:sp>
      <p:sp>
        <p:nvSpPr>
          <p:cNvPr id="11" name="Shape 9"/>
          <p:cNvSpPr/>
          <p:nvPr/>
        </p:nvSpPr>
        <p:spPr>
          <a:xfrm>
            <a:off x="1490472" y="3246120"/>
            <a:ext cx="987552" cy="548640"/>
          </a:xfrm>
          <a:prstGeom prst="chevron">
            <a:avLst/>
          </a:prstGeom>
          <a:solidFill>
            <a:srgbClr val="EEF2F6"/>
          </a:solidFill>
          <a:ln w="12700">
            <a:solidFill>
              <a:srgbClr val="EEF2F6"/>
            </a:solidFill>
            <a:prstDash val="solid"/>
          </a:ln>
        </p:spPr>
      </p:sp>
      <p:sp>
        <p:nvSpPr>
          <p:cNvPr id="12" name="Text 10"/>
          <p:cNvSpPr txBox="1"/>
          <p:nvPr/>
        </p:nvSpPr>
        <p:spPr>
          <a:xfrm>
            <a:off x="1600200"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20</a:t>
            </a:r>
            <a:endParaRPr lang="en-US" sz="1500" dirty="0"/>
          </a:p>
        </p:txBody>
      </p:sp>
      <p:sp>
        <p:nvSpPr>
          <p:cNvPr id="13" name="Shape 11"/>
          <p:cNvSpPr/>
          <p:nvPr/>
        </p:nvSpPr>
        <p:spPr>
          <a:xfrm>
            <a:off x="2523744" y="3246120"/>
            <a:ext cx="987552" cy="548640"/>
          </a:xfrm>
          <a:prstGeom prst="chevron">
            <a:avLst/>
          </a:prstGeom>
          <a:solidFill>
            <a:srgbClr val="EEF2F6"/>
          </a:solidFill>
          <a:ln w="12700">
            <a:solidFill>
              <a:srgbClr val="EEF2F6"/>
            </a:solidFill>
            <a:prstDash val="solid"/>
          </a:ln>
        </p:spPr>
      </p:sp>
      <p:sp>
        <p:nvSpPr>
          <p:cNvPr id="14" name="Text 12"/>
          <p:cNvSpPr txBox="1"/>
          <p:nvPr/>
        </p:nvSpPr>
        <p:spPr>
          <a:xfrm>
            <a:off x="2633472"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16/14</a:t>
            </a:r>
            <a:endParaRPr lang="en-US" sz="1500" dirty="0"/>
          </a:p>
        </p:txBody>
      </p:sp>
      <p:sp>
        <p:nvSpPr>
          <p:cNvPr id="15" name="Shape 13"/>
          <p:cNvSpPr/>
          <p:nvPr/>
        </p:nvSpPr>
        <p:spPr>
          <a:xfrm>
            <a:off x="3557016" y="3246120"/>
            <a:ext cx="987552" cy="548640"/>
          </a:xfrm>
          <a:prstGeom prst="chevron">
            <a:avLst/>
          </a:prstGeom>
          <a:solidFill>
            <a:srgbClr val="EEF2F6"/>
          </a:solidFill>
          <a:ln w="12700">
            <a:solidFill>
              <a:srgbClr val="EEF2F6"/>
            </a:solidFill>
            <a:prstDash val="solid"/>
          </a:ln>
        </p:spPr>
      </p:sp>
      <p:sp>
        <p:nvSpPr>
          <p:cNvPr id="16" name="Text 14"/>
          <p:cNvSpPr txBox="1"/>
          <p:nvPr/>
        </p:nvSpPr>
        <p:spPr>
          <a:xfrm>
            <a:off x="3666744"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10</a:t>
            </a:r>
            <a:endParaRPr lang="en-US" sz="1500" dirty="0"/>
          </a:p>
        </p:txBody>
      </p:sp>
      <p:sp>
        <p:nvSpPr>
          <p:cNvPr id="17" name="Shape 15"/>
          <p:cNvSpPr/>
          <p:nvPr/>
        </p:nvSpPr>
        <p:spPr>
          <a:xfrm>
            <a:off x="4590288" y="3246120"/>
            <a:ext cx="987552" cy="548640"/>
          </a:xfrm>
          <a:prstGeom prst="chevron">
            <a:avLst/>
          </a:prstGeom>
          <a:solidFill>
            <a:srgbClr val="EEF2F6"/>
          </a:solidFill>
          <a:ln w="12700">
            <a:solidFill>
              <a:srgbClr val="EEF2F6"/>
            </a:solidFill>
            <a:prstDash val="solid"/>
          </a:ln>
        </p:spPr>
      </p:sp>
      <p:sp>
        <p:nvSpPr>
          <p:cNvPr id="18" name="Text 16"/>
          <p:cNvSpPr txBox="1"/>
          <p:nvPr/>
        </p:nvSpPr>
        <p:spPr>
          <a:xfrm>
            <a:off x="4700016"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7</a:t>
            </a:r>
            <a:endParaRPr lang="en-US" sz="1500" dirty="0"/>
          </a:p>
        </p:txBody>
      </p:sp>
      <p:sp>
        <p:nvSpPr>
          <p:cNvPr id="19" name="Shape 17"/>
          <p:cNvSpPr/>
          <p:nvPr/>
        </p:nvSpPr>
        <p:spPr>
          <a:xfrm>
            <a:off x="5623560" y="3246120"/>
            <a:ext cx="987552" cy="548640"/>
          </a:xfrm>
          <a:prstGeom prst="chevron">
            <a:avLst/>
          </a:prstGeom>
          <a:solidFill>
            <a:srgbClr val="EEF2F6"/>
          </a:solidFill>
          <a:ln w="12700">
            <a:solidFill>
              <a:srgbClr val="EEF2F6"/>
            </a:solidFill>
            <a:prstDash val="solid"/>
          </a:ln>
        </p:spPr>
      </p:sp>
      <p:sp>
        <p:nvSpPr>
          <p:cNvPr id="20" name="Text 18"/>
          <p:cNvSpPr txBox="1"/>
          <p:nvPr/>
        </p:nvSpPr>
        <p:spPr>
          <a:xfrm>
            <a:off x="5733288"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5</a:t>
            </a:r>
            <a:endParaRPr lang="en-US" sz="1500" dirty="0"/>
          </a:p>
        </p:txBody>
      </p:sp>
      <p:sp>
        <p:nvSpPr>
          <p:cNvPr id="21" name="Shape 19"/>
          <p:cNvSpPr/>
          <p:nvPr/>
        </p:nvSpPr>
        <p:spPr>
          <a:xfrm>
            <a:off x="6656832" y="3246120"/>
            <a:ext cx="987552" cy="548640"/>
          </a:xfrm>
          <a:prstGeom prst="chevron">
            <a:avLst/>
          </a:prstGeom>
          <a:solidFill>
            <a:srgbClr val="F6E7DA"/>
          </a:solidFill>
          <a:ln w="12700">
            <a:solidFill>
              <a:srgbClr val="F6E7DA"/>
            </a:solidFill>
            <a:prstDash val="solid"/>
          </a:ln>
        </p:spPr>
      </p:sp>
      <p:sp>
        <p:nvSpPr>
          <p:cNvPr id="22" name="Text 20"/>
          <p:cNvSpPr txBox="1"/>
          <p:nvPr/>
        </p:nvSpPr>
        <p:spPr>
          <a:xfrm>
            <a:off x="6766560"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3</a:t>
            </a:r>
            <a:endParaRPr lang="en-US" sz="1500" dirty="0"/>
          </a:p>
        </p:txBody>
      </p:sp>
      <p:sp>
        <p:nvSpPr>
          <p:cNvPr id="23" name="Shape 21"/>
          <p:cNvSpPr/>
          <p:nvPr/>
        </p:nvSpPr>
        <p:spPr>
          <a:xfrm>
            <a:off x="7690104" y="3246120"/>
            <a:ext cx="987552" cy="548640"/>
          </a:xfrm>
          <a:prstGeom prst="chevron">
            <a:avLst/>
          </a:prstGeom>
          <a:solidFill>
            <a:srgbClr val="F6E7DA"/>
          </a:solidFill>
          <a:ln w="12700">
            <a:solidFill>
              <a:srgbClr val="F6E7DA"/>
            </a:solidFill>
            <a:prstDash val="solid"/>
          </a:ln>
        </p:spPr>
      </p:sp>
      <p:sp>
        <p:nvSpPr>
          <p:cNvPr id="24" name="Text 22"/>
          <p:cNvSpPr txBox="1"/>
          <p:nvPr/>
        </p:nvSpPr>
        <p:spPr>
          <a:xfrm>
            <a:off x="7799832" y="3246120"/>
            <a:ext cx="786384" cy="548640"/>
          </a:xfrm>
          <a:prstGeom prst="rect">
            <a:avLst/>
          </a:prstGeom>
          <a:noFill/>
          <a:ln/>
        </p:spPr>
        <p:txBody>
          <a:bodyPr wrap="square" lIns="0" tIns="0" rIns="0" bIns="0" rtlCol="0" anchor="ctr"/>
          <a:lstStyle/>
          <a:p>
            <a:pPr algn="ctr" indent="0" marL="0">
              <a:buNone/>
            </a:pPr>
            <a:r>
              <a:rPr lang="en-US" sz="1500" b="1" dirty="0">
                <a:solidFill>
                  <a:srgbClr val="0B1F33"/>
                </a:solidFill>
                <a:latin typeface="Calibri" pitchFamily="34" charset="0"/>
                <a:ea typeface="Calibri" pitchFamily="34" charset="-122"/>
                <a:cs typeface="Calibri" pitchFamily="34" charset="-120"/>
              </a:rPr>
              <a:t>2</a:t>
            </a:r>
            <a:endParaRPr lang="en-US" sz="1500" dirty="0"/>
          </a:p>
        </p:txBody>
      </p:sp>
      <p:sp>
        <p:nvSpPr>
          <p:cNvPr id="25" name="Text 23"/>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400" i="1" dirty="0">
                <a:solidFill>
                  <a:srgbClr val="5B7083"/>
                </a:solidFill>
                <a:latin typeface="Calibri" pitchFamily="34" charset="0"/>
                <a:ea typeface="Calibri" pitchFamily="34" charset="-122"/>
                <a:cs typeface="Calibri" pitchFamily="34" charset="-120"/>
              </a:rPr>
              <a:t>Each step keeps the ~0.7× naming rhythm customers expect, even though no physical feature shrinks by that much.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The numbers that actually describe a node</a:t>
            </a:r>
            <a:endParaRPr lang="en-US" sz="2800" dirty="0"/>
          </a:p>
        </p:txBody>
      </p:sp>
      <p:sp>
        <p:nvSpPr>
          <p:cNvPr id="3" name="Shape 1"/>
          <p:cNvSpPr/>
          <p:nvPr/>
        </p:nvSpPr>
        <p:spPr>
          <a:xfrm>
            <a:off x="457200" y="1143000"/>
            <a:ext cx="2606040" cy="1600200"/>
          </a:xfrm>
          <a:prstGeom prst="roundRect">
            <a:avLst>
              <a:gd name="adj" fmla="val 4571"/>
            </a:avLst>
          </a:prstGeom>
          <a:solidFill>
            <a:srgbClr val="EEF2F6"/>
          </a:solidFill>
          <a:ln w="12700">
            <a:solidFill>
              <a:srgbClr val="EEF2F6"/>
            </a:solidFill>
            <a:prstDash val="solid"/>
          </a:ln>
        </p:spPr>
      </p:sp>
      <p:sp>
        <p:nvSpPr>
          <p:cNvPr id="4" name="Shape 2"/>
          <p:cNvSpPr/>
          <p:nvPr/>
        </p:nvSpPr>
        <p:spPr>
          <a:xfrm>
            <a:off x="594360" y="1280160"/>
            <a:ext cx="347472" cy="347472"/>
          </a:xfrm>
          <a:prstGeom prst="ellipse">
            <a:avLst/>
          </a:prstGeom>
          <a:solidFill>
            <a:srgbClr val="C8763A"/>
          </a:solidFill>
          <a:ln w="12700">
            <a:solidFill>
              <a:srgbClr val="C8763A"/>
            </a:solidFill>
            <a:prstDash val="solid"/>
          </a:ln>
        </p:spPr>
      </p:sp>
      <p:sp>
        <p:nvSpPr>
          <p:cNvPr id="5" name="Text 3"/>
          <p:cNvSpPr txBox="1"/>
          <p:nvPr/>
        </p:nvSpPr>
        <p:spPr>
          <a:xfrm>
            <a:off x="59436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051560" y="128016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CPP</a:t>
            </a:r>
            <a:endParaRPr lang="en-US" sz="1500" dirty="0"/>
          </a:p>
        </p:txBody>
      </p:sp>
      <p:sp>
        <p:nvSpPr>
          <p:cNvPr id="7" name="Text 5"/>
          <p:cNvSpPr txBox="1"/>
          <p:nvPr/>
        </p:nvSpPr>
        <p:spPr>
          <a:xfrm>
            <a:off x="621792" y="170992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Contacted poly (gate) pitch: sets standard-cell width</a:t>
            </a:r>
            <a:endParaRPr lang="en-US" sz="1300" dirty="0"/>
          </a:p>
        </p:txBody>
      </p:sp>
      <p:sp>
        <p:nvSpPr>
          <p:cNvPr id="8" name="Shape 6"/>
          <p:cNvSpPr/>
          <p:nvPr/>
        </p:nvSpPr>
        <p:spPr>
          <a:xfrm>
            <a:off x="3246120" y="1143000"/>
            <a:ext cx="2606040" cy="1600200"/>
          </a:xfrm>
          <a:prstGeom prst="roundRect">
            <a:avLst>
              <a:gd name="adj" fmla="val 4571"/>
            </a:avLst>
          </a:prstGeom>
          <a:solidFill>
            <a:srgbClr val="EEF2F6"/>
          </a:solidFill>
          <a:ln w="12700">
            <a:solidFill>
              <a:srgbClr val="EEF2F6"/>
            </a:solidFill>
            <a:prstDash val="solid"/>
          </a:ln>
        </p:spPr>
      </p:sp>
      <p:sp>
        <p:nvSpPr>
          <p:cNvPr id="9" name="Shape 7"/>
          <p:cNvSpPr/>
          <p:nvPr/>
        </p:nvSpPr>
        <p:spPr>
          <a:xfrm>
            <a:off x="3383280" y="1280160"/>
            <a:ext cx="347472" cy="347472"/>
          </a:xfrm>
          <a:prstGeom prst="ellipse">
            <a:avLst/>
          </a:prstGeom>
          <a:solidFill>
            <a:srgbClr val="C8763A"/>
          </a:solidFill>
          <a:ln w="12700">
            <a:solidFill>
              <a:srgbClr val="C8763A"/>
            </a:solidFill>
            <a:prstDash val="solid"/>
          </a:ln>
        </p:spPr>
      </p:sp>
      <p:sp>
        <p:nvSpPr>
          <p:cNvPr id="10" name="Text 8"/>
          <p:cNvSpPr txBox="1"/>
          <p:nvPr/>
        </p:nvSpPr>
        <p:spPr>
          <a:xfrm>
            <a:off x="338328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3840480" y="128016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MMP</a:t>
            </a:r>
            <a:endParaRPr lang="en-US" sz="1500" dirty="0"/>
          </a:p>
        </p:txBody>
      </p:sp>
      <p:sp>
        <p:nvSpPr>
          <p:cNvPr id="12" name="Text 10"/>
          <p:cNvSpPr txBox="1"/>
          <p:nvPr/>
        </p:nvSpPr>
        <p:spPr>
          <a:xfrm>
            <a:off x="3410712" y="170992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Minimum metal pitch: sets cell height and routing</a:t>
            </a:r>
            <a:endParaRPr lang="en-US" sz="1300" dirty="0"/>
          </a:p>
        </p:txBody>
      </p:sp>
      <p:sp>
        <p:nvSpPr>
          <p:cNvPr id="13" name="Shape 11"/>
          <p:cNvSpPr/>
          <p:nvPr/>
        </p:nvSpPr>
        <p:spPr>
          <a:xfrm>
            <a:off x="6035040" y="1143000"/>
            <a:ext cx="2606040" cy="1600200"/>
          </a:xfrm>
          <a:prstGeom prst="roundRect">
            <a:avLst>
              <a:gd name="adj" fmla="val 4571"/>
            </a:avLst>
          </a:prstGeom>
          <a:solidFill>
            <a:srgbClr val="EEF2F6"/>
          </a:solidFill>
          <a:ln w="12700">
            <a:solidFill>
              <a:srgbClr val="EEF2F6"/>
            </a:solidFill>
            <a:prstDash val="solid"/>
          </a:ln>
        </p:spPr>
      </p:sp>
      <p:sp>
        <p:nvSpPr>
          <p:cNvPr id="14" name="Shape 12"/>
          <p:cNvSpPr/>
          <p:nvPr/>
        </p:nvSpPr>
        <p:spPr>
          <a:xfrm>
            <a:off x="6172200" y="1280160"/>
            <a:ext cx="347472" cy="347472"/>
          </a:xfrm>
          <a:prstGeom prst="ellipse">
            <a:avLst/>
          </a:prstGeom>
          <a:solidFill>
            <a:srgbClr val="C8763A"/>
          </a:solidFill>
          <a:ln w="12700">
            <a:solidFill>
              <a:srgbClr val="C8763A"/>
            </a:solidFill>
            <a:prstDash val="solid"/>
          </a:ln>
        </p:spPr>
      </p:sp>
      <p:sp>
        <p:nvSpPr>
          <p:cNvPr id="15" name="Text 13"/>
          <p:cNvSpPr txBox="1"/>
          <p:nvPr/>
        </p:nvSpPr>
        <p:spPr>
          <a:xfrm>
            <a:off x="617220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6629400" y="128016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Cell height</a:t>
            </a:r>
            <a:endParaRPr lang="en-US" sz="1500" dirty="0"/>
          </a:p>
        </p:txBody>
      </p:sp>
      <p:sp>
        <p:nvSpPr>
          <p:cNvPr id="17" name="Text 15"/>
          <p:cNvSpPr txBox="1"/>
          <p:nvPr/>
        </p:nvSpPr>
        <p:spPr>
          <a:xfrm>
            <a:off x="6199632" y="170992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tracks × MMP, e.g. 6 × 23 nm ≈ 138 nm</a:t>
            </a:r>
            <a:endParaRPr lang="en-US" sz="1300" dirty="0"/>
          </a:p>
        </p:txBody>
      </p:sp>
      <p:sp>
        <p:nvSpPr>
          <p:cNvPr id="18" name="Shape 16"/>
          <p:cNvSpPr/>
          <p:nvPr/>
        </p:nvSpPr>
        <p:spPr>
          <a:xfrm>
            <a:off x="457200" y="2926080"/>
            <a:ext cx="2606040" cy="1600200"/>
          </a:xfrm>
          <a:prstGeom prst="roundRect">
            <a:avLst>
              <a:gd name="adj" fmla="val 4571"/>
            </a:avLst>
          </a:prstGeom>
          <a:solidFill>
            <a:srgbClr val="EEF2F6"/>
          </a:solidFill>
          <a:ln w="12700">
            <a:solidFill>
              <a:srgbClr val="EEF2F6"/>
            </a:solidFill>
            <a:prstDash val="solid"/>
          </a:ln>
        </p:spPr>
      </p:sp>
      <p:sp>
        <p:nvSpPr>
          <p:cNvPr id="19" name="Shape 17"/>
          <p:cNvSpPr/>
          <p:nvPr/>
        </p:nvSpPr>
        <p:spPr>
          <a:xfrm>
            <a:off x="594360" y="3063240"/>
            <a:ext cx="347472" cy="347472"/>
          </a:xfrm>
          <a:prstGeom prst="ellipse">
            <a:avLst/>
          </a:prstGeom>
          <a:solidFill>
            <a:srgbClr val="C8763A"/>
          </a:solidFill>
          <a:ln w="12700">
            <a:solidFill>
              <a:srgbClr val="C8763A"/>
            </a:solidFill>
            <a:prstDash val="solid"/>
          </a:ln>
        </p:spPr>
      </p:sp>
      <p:sp>
        <p:nvSpPr>
          <p:cNvPr id="20" name="Text 18"/>
          <p:cNvSpPr txBox="1"/>
          <p:nvPr/>
        </p:nvSpPr>
        <p:spPr>
          <a:xfrm>
            <a:off x="59436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051560" y="306324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Logic density</a:t>
            </a:r>
            <a:endParaRPr lang="en-US" sz="1500" dirty="0"/>
          </a:p>
        </p:txBody>
      </p:sp>
      <p:sp>
        <p:nvSpPr>
          <p:cNvPr id="22" name="Text 20"/>
          <p:cNvSpPr txBox="1"/>
          <p:nvPr/>
        </p:nvSpPr>
        <p:spPr>
          <a:xfrm>
            <a:off x="621792" y="349300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MTr/mm², e.g. 0.6·NAND2 + 0.4·scan flip-flop</a:t>
            </a:r>
            <a:endParaRPr lang="en-US" sz="1300" dirty="0"/>
          </a:p>
        </p:txBody>
      </p:sp>
      <p:sp>
        <p:nvSpPr>
          <p:cNvPr id="23" name="Shape 21"/>
          <p:cNvSpPr/>
          <p:nvPr/>
        </p:nvSpPr>
        <p:spPr>
          <a:xfrm>
            <a:off x="3246120" y="2926080"/>
            <a:ext cx="2606040" cy="1600200"/>
          </a:xfrm>
          <a:prstGeom prst="roundRect">
            <a:avLst>
              <a:gd name="adj" fmla="val 4571"/>
            </a:avLst>
          </a:prstGeom>
          <a:solidFill>
            <a:srgbClr val="F6E7DA"/>
          </a:solidFill>
          <a:ln w="12700">
            <a:solidFill>
              <a:srgbClr val="F6E7DA"/>
            </a:solidFill>
            <a:prstDash val="solid"/>
          </a:ln>
        </p:spPr>
      </p:sp>
      <p:sp>
        <p:nvSpPr>
          <p:cNvPr id="24" name="Shape 22"/>
          <p:cNvSpPr/>
          <p:nvPr/>
        </p:nvSpPr>
        <p:spPr>
          <a:xfrm>
            <a:off x="3383280" y="3063240"/>
            <a:ext cx="347472" cy="347472"/>
          </a:xfrm>
          <a:prstGeom prst="ellipse">
            <a:avLst/>
          </a:prstGeom>
          <a:solidFill>
            <a:srgbClr val="C8763A"/>
          </a:solidFill>
          <a:ln w="12700">
            <a:solidFill>
              <a:srgbClr val="C8763A"/>
            </a:solidFill>
            <a:prstDash val="solid"/>
          </a:ln>
        </p:spPr>
      </p:sp>
      <p:sp>
        <p:nvSpPr>
          <p:cNvPr id="25" name="Text 23"/>
          <p:cNvSpPr txBox="1"/>
          <p:nvPr/>
        </p:nvSpPr>
        <p:spPr>
          <a:xfrm>
            <a:off x="338328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6" name="Text 24"/>
          <p:cNvSpPr txBox="1"/>
          <p:nvPr/>
        </p:nvSpPr>
        <p:spPr>
          <a:xfrm>
            <a:off x="3840480" y="306324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SRAM bit cell</a:t>
            </a:r>
            <a:endParaRPr lang="en-US" sz="1500" dirty="0"/>
          </a:p>
        </p:txBody>
      </p:sp>
      <p:sp>
        <p:nvSpPr>
          <p:cNvPr id="27" name="Text 25"/>
          <p:cNvSpPr txBox="1"/>
          <p:nvPr/>
        </p:nvSpPr>
        <p:spPr>
          <a:xfrm>
            <a:off x="3410712" y="349300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µm² per 6T cell: barely shrinking lately</a:t>
            </a:r>
            <a:endParaRPr lang="en-US" sz="1300" dirty="0"/>
          </a:p>
        </p:txBody>
      </p:sp>
      <p:sp>
        <p:nvSpPr>
          <p:cNvPr id="28" name="Shape 26"/>
          <p:cNvSpPr/>
          <p:nvPr/>
        </p:nvSpPr>
        <p:spPr>
          <a:xfrm>
            <a:off x="6035040" y="2926080"/>
            <a:ext cx="2606040" cy="1600200"/>
          </a:xfrm>
          <a:prstGeom prst="roundRect">
            <a:avLst>
              <a:gd name="adj" fmla="val 4571"/>
            </a:avLst>
          </a:prstGeom>
          <a:solidFill>
            <a:srgbClr val="EEF2F6"/>
          </a:solidFill>
          <a:ln w="12700">
            <a:solidFill>
              <a:srgbClr val="EEF2F6"/>
            </a:solidFill>
            <a:prstDash val="solid"/>
          </a:ln>
        </p:spPr>
      </p:sp>
      <p:sp>
        <p:nvSpPr>
          <p:cNvPr id="29" name="Shape 27"/>
          <p:cNvSpPr/>
          <p:nvPr/>
        </p:nvSpPr>
        <p:spPr>
          <a:xfrm>
            <a:off x="6172200" y="3063240"/>
            <a:ext cx="347472" cy="347472"/>
          </a:xfrm>
          <a:prstGeom prst="ellipse">
            <a:avLst/>
          </a:prstGeom>
          <a:solidFill>
            <a:srgbClr val="C8763A"/>
          </a:solidFill>
          <a:ln w="12700">
            <a:solidFill>
              <a:srgbClr val="C8763A"/>
            </a:solidFill>
            <a:prstDash val="solid"/>
          </a:ln>
        </p:spPr>
      </p:sp>
      <p:sp>
        <p:nvSpPr>
          <p:cNvPr id="30" name="Text 28"/>
          <p:cNvSpPr txBox="1"/>
          <p:nvPr/>
        </p:nvSpPr>
        <p:spPr>
          <a:xfrm>
            <a:off x="61722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6629400" y="3063240"/>
            <a:ext cx="187452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Cost &amp; yield</a:t>
            </a:r>
            <a:endParaRPr lang="en-US" sz="1500" dirty="0"/>
          </a:p>
        </p:txBody>
      </p:sp>
      <p:sp>
        <p:nvSpPr>
          <p:cNvPr id="32" name="Text 30"/>
          <p:cNvSpPr txBox="1"/>
          <p:nvPr/>
        </p:nvSpPr>
        <p:spPr>
          <a:xfrm>
            <a:off x="6199632" y="3493008"/>
            <a:ext cx="2276856" cy="91440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 per wafer and good dies per wafer decide everything</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Pitches have nearly stopped shrinking</a:t>
            </a:r>
            <a:endParaRPr lang="en-US" sz="2800" dirty="0"/>
          </a:p>
        </p:txBody>
      </p:sp>
      <p:graphicFrame>
        <p:nvGraphicFramePr>
          <p:cNvPr id="3" name="Chart 0" descr=""/>
          <p:cNvGraphicFramePr/>
          <p:nvPr/>
        </p:nvGraphicFramePr>
        <p:xfrm>
          <a:off x="365760" y="1051560"/>
          <a:ext cx="5577840" cy="3611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217920" y="1143000"/>
            <a:ext cx="2468880" cy="2011680"/>
          </a:xfrm>
          <a:prstGeom prst="roundRect">
            <a:avLst>
              <a:gd name="adj" fmla="val 3636"/>
            </a:avLst>
          </a:prstGeom>
          <a:solidFill>
            <a:srgbClr val="F6E7DA"/>
          </a:solidFill>
          <a:ln w="12700">
            <a:solidFill>
              <a:srgbClr val="F6E7DA"/>
            </a:solidFill>
            <a:prstDash val="solid"/>
          </a:ln>
        </p:spPr>
      </p:sp>
      <p:sp>
        <p:nvSpPr>
          <p:cNvPr id="5" name="Text 2"/>
          <p:cNvSpPr txBox="1"/>
          <p:nvPr/>
        </p:nvSpPr>
        <p:spPr>
          <a:xfrm>
            <a:off x="6382512" y="1280160"/>
            <a:ext cx="216712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Read the chart</a:t>
            </a:r>
            <a:endParaRPr lang="en-US" sz="1500" dirty="0"/>
          </a:p>
        </p:txBody>
      </p:sp>
      <p:sp>
        <p:nvSpPr>
          <p:cNvPr id="6" name="Text 3"/>
          <p:cNvSpPr txBox="1"/>
          <p:nvPr/>
        </p:nvSpPr>
        <p:spPr>
          <a:xfrm>
            <a:off x="6382512" y="1709928"/>
            <a:ext cx="2139696" cy="132588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Gate pitch moved only ~6 nm from N5 to N2. Density still improves, mostly through DTCO tricks.</a:t>
            </a:r>
            <a:endParaRPr lang="en-US" sz="1300" dirty="0"/>
          </a:p>
        </p:txBody>
      </p:sp>
      <p:sp>
        <p:nvSpPr>
          <p:cNvPr id="7" name="Text 4"/>
          <p:cNvSpPr txBox="1"/>
          <p:nvPr/>
        </p:nvSpPr>
        <p:spPr>
          <a:xfrm>
            <a:off x="6217920" y="3337560"/>
            <a:ext cx="2468880" cy="822960"/>
          </a:xfrm>
          <a:prstGeom prst="rect">
            <a:avLst/>
          </a:prstGeom>
          <a:noFill/>
          <a:ln/>
        </p:spPr>
        <p:txBody>
          <a:bodyPr wrap="square" lIns="0" tIns="0" rIns="0" bIns="0" rtlCol="0" anchor="t"/>
          <a:lstStyle/>
          <a:p>
            <a:pPr indent="0" marL="0">
              <a:buNone/>
            </a:pPr>
            <a:r>
              <a:rPr lang="en-US" sz="1100" i="1" dirty="0">
                <a:solidFill>
                  <a:srgbClr val="5B7083"/>
                </a:solidFill>
                <a:latin typeface="Calibri" pitchFamily="34" charset="0"/>
                <a:ea typeface="Calibri" pitchFamily="34" charset="-122"/>
                <a:cs typeface="Calibri" pitchFamily="34" charset="-120"/>
              </a:rPr>
              <a:t>Approximate published and analyst figures; they vary by source and process variant.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DTCO: smaller cells at the same pitch</a:t>
            </a:r>
            <a:endParaRPr lang="en-US" sz="2800" dirty="0"/>
          </a:p>
        </p:txBody>
      </p:sp>
      <p:sp>
        <p:nvSpPr>
          <p:cNvPr id="3" name="Shape 1"/>
          <p:cNvSpPr/>
          <p:nvPr/>
        </p:nvSpPr>
        <p:spPr>
          <a:xfrm>
            <a:off x="548640" y="1325880"/>
            <a:ext cx="1143000" cy="2880360"/>
          </a:xfrm>
          <a:prstGeom prst="rect">
            <a:avLst/>
          </a:prstGeom>
          <a:solidFill>
            <a:srgbClr val="EEF2F6"/>
          </a:solidFill>
          <a:ln w="12700">
            <a:solidFill>
              <a:srgbClr val="5B7083"/>
            </a:solidFill>
            <a:prstDash val="solid"/>
          </a:ln>
        </p:spPr>
      </p:sp>
      <p:sp>
        <p:nvSpPr>
          <p:cNvPr id="4" name="Shape 2"/>
          <p:cNvSpPr/>
          <p:nvPr/>
        </p:nvSpPr>
        <p:spPr>
          <a:xfrm>
            <a:off x="621792" y="1709928"/>
            <a:ext cx="996696" cy="0"/>
          </a:xfrm>
          <a:prstGeom prst="line">
            <a:avLst/>
          </a:prstGeom>
          <a:noFill/>
          <a:ln w="19050">
            <a:solidFill>
              <a:srgbClr val="2A9D8F"/>
            </a:solidFill>
            <a:prstDash val="solid"/>
          </a:ln>
        </p:spPr>
      </p:sp>
      <p:sp>
        <p:nvSpPr>
          <p:cNvPr id="5" name="Shape 3"/>
          <p:cNvSpPr/>
          <p:nvPr/>
        </p:nvSpPr>
        <p:spPr>
          <a:xfrm>
            <a:off x="621792" y="2093976"/>
            <a:ext cx="996696" cy="0"/>
          </a:xfrm>
          <a:prstGeom prst="line">
            <a:avLst/>
          </a:prstGeom>
          <a:noFill/>
          <a:ln w="19050">
            <a:solidFill>
              <a:srgbClr val="2A9D8F"/>
            </a:solidFill>
            <a:prstDash val="solid"/>
          </a:ln>
        </p:spPr>
      </p:sp>
      <p:sp>
        <p:nvSpPr>
          <p:cNvPr id="6" name="Shape 4"/>
          <p:cNvSpPr/>
          <p:nvPr/>
        </p:nvSpPr>
        <p:spPr>
          <a:xfrm>
            <a:off x="621792" y="2478024"/>
            <a:ext cx="996696" cy="0"/>
          </a:xfrm>
          <a:prstGeom prst="line">
            <a:avLst/>
          </a:prstGeom>
          <a:noFill/>
          <a:ln w="19050">
            <a:solidFill>
              <a:srgbClr val="2A9D8F"/>
            </a:solidFill>
            <a:prstDash val="solid"/>
          </a:ln>
        </p:spPr>
      </p:sp>
      <p:sp>
        <p:nvSpPr>
          <p:cNvPr id="7" name="Shape 5"/>
          <p:cNvSpPr/>
          <p:nvPr/>
        </p:nvSpPr>
        <p:spPr>
          <a:xfrm>
            <a:off x="621792" y="2862072"/>
            <a:ext cx="996696" cy="0"/>
          </a:xfrm>
          <a:prstGeom prst="line">
            <a:avLst/>
          </a:prstGeom>
          <a:noFill/>
          <a:ln w="19050">
            <a:solidFill>
              <a:srgbClr val="2A9D8F"/>
            </a:solidFill>
            <a:prstDash val="solid"/>
          </a:ln>
        </p:spPr>
      </p:sp>
      <p:sp>
        <p:nvSpPr>
          <p:cNvPr id="8" name="Shape 6"/>
          <p:cNvSpPr/>
          <p:nvPr/>
        </p:nvSpPr>
        <p:spPr>
          <a:xfrm>
            <a:off x="621792" y="3246120"/>
            <a:ext cx="996696" cy="0"/>
          </a:xfrm>
          <a:prstGeom prst="line">
            <a:avLst/>
          </a:prstGeom>
          <a:noFill/>
          <a:ln w="19050">
            <a:solidFill>
              <a:srgbClr val="2A9D8F"/>
            </a:solidFill>
            <a:prstDash val="solid"/>
          </a:ln>
        </p:spPr>
      </p:sp>
      <p:sp>
        <p:nvSpPr>
          <p:cNvPr id="9" name="Shape 7"/>
          <p:cNvSpPr/>
          <p:nvPr/>
        </p:nvSpPr>
        <p:spPr>
          <a:xfrm>
            <a:off x="621792" y="3630168"/>
            <a:ext cx="996696" cy="0"/>
          </a:xfrm>
          <a:prstGeom prst="line">
            <a:avLst/>
          </a:prstGeom>
          <a:noFill/>
          <a:ln w="19050">
            <a:solidFill>
              <a:srgbClr val="2A9D8F"/>
            </a:solidFill>
            <a:prstDash val="solid"/>
          </a:ln>
        </p:spPr>
      </p:sp>
      <p:sp>
        <p:nvSpPr>
          <p:cNvPr id="10" name="Shape 8"/>
          <p:cNvSpPr/>
          <p:nvPr/>
        </p:nvSpPr>
        <p:spPr>
          <a:xfrm>
            <a:off x="548640" y="1271016"/>
            <a:ext cx="1143000" cy="109728"/>
          </a:xfrm>
          <a:prstGeom prst="rect">
            <a:avLst/>
          </a:prstGeom>
          <a:solidFill>
            <a:srgbClr val="C8763A"/>
          </a:solidFill>
          <a:ln w="12700">
            <a:solidFill>
              <a:srgbClr val="C8763A"/>
            </a:solidFill>
            <a:prstDash val="solid"/>
          </a:ln>
        </p:spPr>
      </p:sp>
      <p:sp>
        <p:nvSpPr>
          <p:cNvPr id="11" name="Shape 9"/>
          <p:cNvSpPr/>
          <p:nvPr/>
        </p:nvSpPr>
        <p:spPr>
          <a:xfrm>
            <a:off x="548640" y="4151376"/>
            <a:ext cx="1143000" cy="109728"/>
          </a:xfrm>
          <a:prstGeom prst="rect">
            <a:avLst/>
          </a:prstGeom>
          <a:solidFill>
            <a:srgbClr val="C8763A"/>
          </a:solidFill>
          <a:ln w="12700">
            <a:solidFill>
              <a:srgbClr val="C8763A"/>
            </a:solidFill>
            <a:prstDash val="solid"/>
          </a:ln>
        </p:spPr>
      </p:sp>
      <p:sp>
        <p:nvSpPr>
          <p:cNvPr id="12" name="Text 10"/>
          <p:cNvSpPr txBox="1"/>
          <p:nvPr/>
        </p:nvSpPr>
        <p:spPr>
          <a:xfrm>
            <a:off x="365760" y="4389120"/>
            <a:ext cx="1508760" cy="411480"/>
          </a:xfrm>
          <a:prstGeom prst="rect">
            <a:avLst/>
          </a:prstGeom>
          <a:noFill/>
          <a:ln/>
        </p:spPr>
        <p:txBody>
          <a:bodyPr wrap="square" lIns="0" tIns="0" rIns="0" bIns="0" rtlCol="0" anchor="t"/>
          <a:lstStyle/>
          <a:p>
            <a:pPr algn="ctr" indent="0" marL="0">
              <a:buNone/>
            </a:pPr>
            <a:r>
              <a:rPr lang="en-US" sz="1200" dirty="0">
                <a:solidFill>
                  <a:srgbClr val="14202E"/>
                </a:solidFill>
                <a:latin typeface="Calibri" pitchFamily="34" charset="0"/>
                <a:ea typeface="Calibri" pitchFamily="34" charset="-122"/>
                <a:cs typeface="Calibri" pitchFamily="34" charset="-120"/>
              </a:rPr>
              <a:t>7.5-track</a:t>
            </a:r>
            <a:endParaRPr lang="en-US" sz="1200" dirty="0"/>
          </a:p>
        </p:txBody>
      </p:sp>
      <p:sp>
        <p:nvSpPr>
          <p:cNvPr id="13" name="Shape 11"/>
          <p:cNvSpPr/>
          <p:nvPr/>
        </p:nvSpPr>
        <p:spPr>
          <a:xfrm>
            <a:off x="2148840" y="1901952"/>
            <a:ext cx="1143000" cy="2304288"/>
          </a:xfrm>
          <a:prstGeom prst="rect">
            <a:avLst/>
          </a:prstGeom>
          <a:solidFill>
            <a:srgbClr val="EEF2F6"/>
          </a:solidFill>
          <a:ln w="12700">
            <a:solidFill>
              <a:srgbClr val="5B7083"/>
            </a:solidFill>
            <a:prstDash val="solid"/>
          </a:ln>
        </p:spPr>
      </p:sp>
      <p:sp>
        <p:nvSpPr>
          <p:cNvPr id="14" name="Shape 12"/>
          <p:cNvSpPr/>
          <p:nvPr/>
        </p:nvSpPr>
        <p:spPr>
          <a:xfrm>
            <a:off x="2221992" y="2286000"/>
            <a:ext cx="996696" cy="0"/>
          </a:xfrm>
          <a:prstGeom prst="line">
            <a:avLst/>
          </a:prstGeom>
          <a:noFill/>
          <a:ln w="19050">
            <a:solidFill>
              <a:srgbClr val="2A9D8F"/>
            </a:solidFill>
            <a:prstDash val="solid"/>
          </a:ln>
        </p:spPr>
      </p:sp>
      <p:sp>
        <p:nvSpPr>
          <p:cNvPr id="15" name="Shape 13"/>
          <p:cNvSpPr/>
          <p:nvPr/>
        </p:nvSpPr>
        <p:spPr>
          <a:xfrm>
            <a:off x="2221992" y="2670048"/>
            <a:ext cx="996696" cy="0"/>
          </a:xfrm>
          <a:prstGeom prst="line">
            <a:avLst/>
          </a:prstGeom>
          <a:noFill/>
          <a:ln w="19050">
            <a:solidFill>
              <a:srgbClr val="2A9D8F"/>
            </a:solidFill>
            <a:prstDash val="solid"/>
          </a:ln>
        </p:spPr>
      </p:sp>
      <p:sp>
        <p:nvSpPr>
          <p:cNvPr id="16" name="Shape 14"/>
          <p:cNvSpPr/>
          <p:nvPr/>
        </p:nvSpPr>
        <p:spPr>
          <a:xfrm>
            <a:off x="2221992" y="3054096"/>
            <a:ext cx="996696" cy="0"/>
          </a:xfrm>
          <a:prstGeom prst="line">
            <a:avLst/>
          </a:prstGeom>
          <a:noFill/>
          <a:ln w="19050">
            <a:solidFill>
              <a:srgbClr val="2A9D8F"/>
            </a:solidFill>
            <a:prstDash val="solid"/>
          </a:ln>
        </p:spPr>
      </p:sp>
      <p:sp>
        <p:nvSpPr>
          <p:cNvPr id="17" name="Shape 15"/>
          <p:cNvSpPr/>
          <p:nvPr/>
        </p:nvSpPr>
        <p:spPr>
          <a:xfrm>
            <a:off x="2221992" y="3438144"/>
            <a:ext cx="996696" cy="0"/>
          </a:xfrm>
          <a:prstGeom prst="line">
            <a:avLst/>
          </a:prstGeom>
          <a:noFill/>
          <a:ln w="19050">
            <a:solidFill>
              <a:srgbClr val="2A9D8F"/>
            </a:solidFill>
            <a:prstDash val="solid"/>
          </a:ln>
        </p:spPr>
      </p:sp>
      <p:sp>
        <p:nvSpPr>
          <p:cNvPr id="18" name="Shape 16"/>
          <p:cNvSpPr/>
          <p:nvPr/>
        </p:nvSpPr>
        <p:spPr>
          <a:xfrm>
            <a:off x="2221992" y="3822192"/>
            <a:ext cx="996696" cy="0"/>
          </a:xfrm>
          <a:prstGeom prst="line">
            <a:avLst/>
          </a:prstGeom>
          <a:noFill/>
          <a:ln w="19050">
            <a:solidFill>
              <a:srgbClr val="2A9D8F"/>
            </a:solidFill>
            <a:prstDash val="solid"/>
          </a:ln>
        </p:spPr>
      </p:sp>
      <p:sp>
        <p:nvSpPr>
          <p:cNvPr id="19" name="Shape 17"/>
          <p:cNvSpPr/>
          <p:nvPr/>
        </p:nvSpPr>
        <p:spPr>
          <a:xfrm>
            <a:off x="2148840" y="1847088"/>
            <a:ext cx="1143000" cy="109728"/>
          </a:xfrm>
          <a:prstGeom prst="rect">
            <a:avLst/>
          </a:prstGeom>
          <a:solidFill>
            <a:srgbClr val="C8763A"/>
          </a:solidFill>
          <a:ln w="12700">
            <a:solidFill>
              <a:srgbClr val="C8763A"/>
            </a:solidFill>
            <a:prstDash val="solid"/>
          </a:ln>
        </p:spPr>
      </p:sp>
      <p:sp>
        <p:nvSpPr>
          <p:cNvPr id="20" name="Shape 18"/>
          <p:cNvSpPr/>
          <p:nvPr/>
        </p:nvSpPr>
        <p:spPr>
          <a:xfrm>
            <a:off x="2148840" y="4151376"/>
            <a:ext cx="1143000" cy="109728"/>
          </a:xfrm>
          <a:prstGeom prst="rect">
            <a:avLst/>
          </a:prstGeom>
          <a:solidFill>
            <a:srgbClr val="C8763A"/>
          </a:solidFill>
          <a:ln w="12700">
            <a:solidFill>
              <a:srgbClr val="C8763A"/>
            </a:solidFill>
            <a:prstDash val="solid"/>
          </a:ln>
        </p:spPr>
      </p:sp>
      <p:sp>
        <p:nvSpPr>
          <p:cNvPr id="21" name="Text 19"/>
          <p:cNvSpPr txBox="1"/>
          <p:nvPr/>
        </p:nvSpPr>
        <p:spPr>
          <a:xfrm>
            <a:off x="1965960" y="4389120"/>
            <a:ext cx="1508760" cy="411480"/>
          </a:xfrm>
          <a:prstGeom prst="rect">
            <a:avLst/>
          </a:prstGeom>
          <a:noFill/>
          <a:ln/>
        </p:spPr>
        <p:txBody>
          <a:bodyPr wrap="square" lIns="0" tIns="0" rIns="0" bIns="0" rtlCol="0" anchor="t"/>
          <a:lstStyle/>
          <a:p>
            <a:pPr algn="ctr" indent="0" marL="0">
              <a:buNone/>
            </a:pPr>
            <a:r>
              <a:rPr lang="en-US" sz="1200" dirty="0">
                <a:solidFill>
                  <a:srgbClr val="14202E"/>
                </a:solidFill>
                <a:latin typeface="Calibri" pitchFamily="34" charset="0"/>
                <a:ea typeface="Calibri" pitchFamily="34" charset="-122"/>
                <a:cs typeface="Calibri" pitchFamily="34" charset="-120"/>
              </a:rPr>
              <a:t>6-track</a:t>
            </a:r>
            <a:endParaRPr lang="en-US" sz="1200" dirty="0"/>
          </a:p>
        </p:txBody>
      </p:sp>
      <p:sp>
        <p:nvSpPr>
          <p:cNvPr id="22" name="Shape 20"/>
          <p:cNvSpPr/>
          <p:nvPr/>
        </p:nvSpPr>
        <p:spPr>
          <a:xfrm>
            <a:off x="3749040" y="2286000"/>
            <a:ext cx="1143000" cy="1920240"/>
          </a:xfrm>
          <a:prstGeom prst="rect">
            <a:avLst/>
          </a:prstGeom>
          <a:solidFill>
            <a:srgbClr val="EEF2F6"/>
          </a:solidFill>
          <a:ln w="12700">
            <a:solidFill>
              <a:srgbClr val="5B7083"/>
            </a:solidFill>
            <a:prstDash val="solid"/>
          </a:ln>
        </p:spPr>
      </p:sp>
      <p:sp>
        <p:nvSpPr>
          <p:cNvPr id="23" name="Shape 21"/>
          <p:cNvSpPr/>
          <p:nvPr/>
        </p:nvSpPr>
        <p:spPr>
          <a:xfrm>
            <a:off x="3822192" y="2670048"/>
            <a:ext cx="996696" cy="0"/>
          </a:xfrm>
          <a:prstGeom prst="line">
            <a:avLst/>
          </a:prstGeom>
          <a:noFill/>
          <a:ln w="19050">
            <a:solidFill>
              <a:srgbClr val="2A9D8F"/>
            </a:solidFill>
            <a:prstDash val="solid"/>
          </a:ln>
        </p:spPr>
      </p:sp>
      <p:sp>
        <p:nvSpPr>
          <p:cNvPr id="24" name="Shape 22"/>
          <p:cNvSpPr/>
          <p:nvPr/>
        </p:nvSpPr>
        <p:spPr>
          <a:xfrm>
            <a:off x="3822192" y="3054096"/>
            <a:ext cx="996696" cy="0"/>
          </a:xfrm>
          <a:prstGeom prst="line">
            <a:avLst/>
          </a:prstGeom>
          <a:noFill/>
          <a:ln w="19050">
            <a:solidFill>
              <a:srgbClr val="2A9D8F"/>
            </a:solidFill>
            <a:prstDash val="solid"/>
          </a:ln>
        </p:spPr>
      </p:sp>
      <p:sp>
        <p:nvSpPr>
          <p:cNvPr id="25" name="Shape 23"/>
          <p:cNvSpPr/>
          <p:nvPr/>
        </p:nvSpPr>
        <p:spPr>
          <a:xfrm>
            <a:off x="3822192" y="3438144"/>
            <a:ext cx="996696" cy="0"/>
          </a:xfrm>
          <a:prstGeom prst="line">
            <a:avLst/>
          </a:prstGeom>
          <a:noFill/>
          <a:ln w="19050">
            <a:solidFill>
              <a:srgbClr val="2A9D8F"/>
            </a:solidFill>
            <a:prstDash val="solid"/>
          </a:ln>
        </p:spPr>
      </p:sp>
      <p:sp>
        <p:nvSpPr>
          <p:cNvPr id="26" name="Shape 24"/>
          <p:cNvSpPr/>
          <p:nvPr/>
        </p:nvSpPr>
        <p:spPr>
          <a:xfrm>
            <a:off x="3822192" y="3822192"/>
            <a:ext cx="996696" cy="0"/>
          </a:xfrm>
          <a:prstGeom prst="line">
            <a:avLst/>
          </a:prstGeom>
          <a:noFill/>
          <a:ln w="19050">
            <a:solidFill>
              <a:srgbClr val="2A9D8F"/>
            </a:solidFill>
            <a:prstDash val="solid"/>
          </a:ln>
        </p:spPr>
      </p:sp>
      <p:sp>
        <p:nvSpPr>
          <p:cNvPr id="27" name="Shape 25"/>
          <p:cNvSpPr/>
          <p:nvPr/>
        </p:nvSpPr>
        <p:spPr>
          <a:xfrm>
            <a:off x="3749040" y="4224528"/>
            <a:ext cx="1143000" cy="109728"/>
          </a:xfrm>
          <a:prstGeom prst="rect">
            <a:avLst/>
          </a:prstGeom>
          <a:solidFill>
            <a:srgbClr val="C8763A">
              <a:alpha val="50000"/>
            </a:srgbClr>
          </a:solidFill>
          <a:ln w="12700">
            <a:solidFill>
              <a:srgbClr val="C8763A"/>
            </a:solidFill>
            <a:prstDash val="dash"/>
          </a:ln>
        </p:spPr>
      </p:sp>
      <p:sp>
        <p:nvSpPr>
          <p:cNvPr id="28" name="Text 26"/>
          <p:cNvSpPr txBox="1"/>
          <p:nvPr/>
        </p:nvSpPr>
        <p:spPr>
          <a:xfrm>
            <a:off x="3566160" y="4389120"/>
            <a:ext cx="1508760" cy="411480"/>
          </a:xfrm>
          <a:prstGeom prst="rect">
            <a:avLst/>
          </a:prstGeom>
          <a:noFill/>
          <a:ln/>
        </p:spPr>
        <p:txBody>
          <a:bodyPr wrap="square" lIns="0" tIns="0" rIns="0" bIns="0" rtlCol="0" anchor="t"/>
          <a:lstStyle/>
          <a:p>
            <a:pPr algn="ctr" indent="0" marL="0">
              <a:buNone/>
            </a:pPr>
            <a:r>
              <a:rPr lang="en-US" sz="1200" dirty="0">
                <a:solidFill>
                  <a:srgbClr val="14202E"/>
                </a:solidFill>
                <a:latin typeface="Calibri" pitchFamily="34" charset="0"/>
                <a:ea typeface="Calibri" pitchFamily="34" charset="-122"/>
                <a:cs typeface="Calibri" pitchFamily="34" charset="-120"/>
              </a:rPr>
              <a:t>5-track + backside power</a:t>
            </a:r>
            <a:endParaRPr lang="en-US" sz="1200" dirty="0"/>
          </a:p>
        </p:txBody>
      </p:sp>
      <p:sp>
        <p:nvSpPr>
          <p:cNvPr id="29" name="Text 27"/>
          <p:cNvSpPr txBox="1"/>
          <p:nvPr/>
        </p:nvSpPr>
        <p:spPr>
          <a:xfrm>
            <a:off x="548640" y="1051560"/>
            <a:ext cx="4480560" cy="274320"/>
          </a:xfrm>
          <a:prstGeom prst="rect">
            <a:avLst/>
          </a:prstGeom>
          <a:noFill/>
          <a:ln/>
        </p:spPr>
        <p:txBody>
          <a:bodyPr wrap="square" lIns="0" tIns="0" rIns="0" bIns="0" rtlCol="0" anchor="t"/>
          <a:lstStyle/>
          <a:p>
            <a:pPr indent="0" marL="0">
              <a:buNone/>
            </a:pPr>
            <a:r>
              <a:rPr lang="en-US" sz="1100" dirty="0">
                <a:solidFill>
                  <a:srgbClr val="5B7083"/>
                </a:solidFill>
                <a:latin typeface="Calibri" pitchFamily="34" charset="0"/>
                <a:ea typeface="Calibri" pitchFamily="34" charset="-122"/>
                <a:cs typeface="Calibri" pitchFamily="34" charset="-120"/>
              </a:rPr>
              <a:t>Teal lines = routing tracks  ·  Copper = power rails</a:t>
            </a:r>
            <a:endParaRPr lang="en-US" sz="1100" dirty="0"/>
          </a:p>
        </p:txBody>
      </p:sp>
      <p:sp>
        <p:nvSpPr>
          <p:cNvPr id="30" name="Text 28"/>
          <p:cNvSpPr txBox="1"/>
          <p:nvPr/>
        </p:nvSpPr>
        <p:spPr>
          <a:xfrm>
            <a:off x="5486400" y="1188720"/>
            <a:ext cx="3200400" cy="32004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4202E"/>
                </a:solidFill>
                <a:latin typeface="Calibri" pitchFamily="34" charset="0"/>
                <a:ea typeface="Calibri" pitchFamily="34" charset="-122"/>
                <a:cs typeface="Calibri" pitchFamily="34" charset="-120"/>
              </a:rPr>
              <a:t>Fewer tracks per cell: 9T → 7.5T → 6T → ~5T</a:t>
            </a:r>
            <a:endParaRPr lang="en-US" sz="1500" dirty="0"/>
          </a:p>
          <a:p>
            <a:pPr marL="177800" indent="-177800">
              <a:spcAft>
                <a:spcPts val="600"/>
              </a:spcAft>
              <a:buSzPct val="100000"/>
              <a:buChar char="•"/>
            </a:pPr>
            <a:r>
              <a:rPr lang="en-US" sz="1500" dirty="0">
                <a:solidFill>
                  <a:srgbClr val="14202E"/>
                </a:solidFill>
                <a:latin typeface="Calibri" pitchFamily="34" charset="0"/>
                <a:ea typeface="Calibri" pitchFamily="34" charset="-122"/>
                <a:cs typeface="Calibri" pitchFamily="34" charset="-120"/>
              </a:rPr>
              <a:t>Fin depopulation: 3 → 2 → 1 fin per device</a:t>
            </a:r>
            <a:endParaRPr lang="en-US" sz="1500" dirty="0"/>
          </a:p>
          <a:p>
            <a:pPr marL="177800" indent="-177800">
              <a:spcAft>
                <a:spcPts val="600"/>
              </a:spcAft>
              <a:buSzPct val="100000"/>
              <a:buChar char="•"/>
            </a:pPr>
            <a:r>
              <a:rPr lang="en-US" sz="1500" dirty="0">
                <a:solidFill>
                  <a:srgbClr val="14202E"/>
                </a:solidFill>
                <a:latin typeface="Calibri" pitchFamily="34" charset="0"/>
                <a:ea typeface="Calibri" pitchFamily="34" charset="-122"/>
                <a:cs typeface="Calibri" pitchFamily="34" charset="-120"/>
              </a:rPr>
              <a:t>Contact over active gate (COAG)</a:t>
            </a:r>
            <a:endParaRPr lang="en-US" sz="1500" dirty="0"/>
          </a:p>
          <a:p>
            <a:pPr marL="177800" indent="-177800">
              <a:spcAft>
                <a:spcPts val="600"/>
              </a:spcAft>
              <a:buSzPct val="100000"/>
              <a:buChar char="•"/>
            </a:pPr>
            <a:r>
              <a:rPr lang="en-US" sz="1500" dirty="0">
                <a:solidFill>
                  <a:srgbClr val="14202E"/>
                </a:solidFill>
                <a:latin typeface="Calibri" pitchFamily="34" charset="0"/>
                <a:ea typeface="Calibri" pitchFamily="34" charset="-122"/>
                <a:cs typeface="Calibri" pitchFamily="34" charset="-120"/>
              </a:rPr>
              <a:t>Single diffusion break at cell edges</a:t>
            </a:r>
            <a:endParaRPr lang="en-US" sz="1500" dirty="0"/>
          </a:p>
          <a:p>
            <a:pPr marL="177800" indent="-177800">
              <a:spcAft>
                <a:spcPts val="600"/>
              </a:spcAft>
              <a:buSzPct val="100000"/>
              <a:buChar char="•"/>
            </a:pPr>
            <a:r>
              <a:rPr lang="en-US" sz="1500" dirty="0">
                <a:solidFill>
                  <a:srgbClr val="14202E"/>
                </a:solidFill>
                <a:latin typeface="Calibri" pitchFamily="34" charset="0"/>
                <a:ea typeface="Calibri" pitchFamily="34" charset="-122"/>
                <a:cs typeface="Calibri" pitchFamily="34" charset="-120"/>
              </a:rPr>
              <a:t>Power rails moved under the cell, freeing tracks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Gate control is everything</a:t>
            </a: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600" dirty="0">
                <a:solidFill>
                  <a:srgbClr val="8FB8DE"/>
                </a:solidFill>
                <a:latin typeface="Calibri" pitchFamily="34" charset="0"/>
                <a:ea typeface="Calibri" pitchFamily="34" charset="-122"/>
                <a:cs typeface="Calibri" pitchFamily="34" charset="-120"/>
              </a:rPr>
              <a:t>Why the transistor keeps changing shape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Short channels leak: wrap more gate around them</a:t>
            </a:r>
            <a:endParaRPr lang="en-US" sz="2800" dirty="0"/>
          </a:p>
        </p:txBody>
      </p:sp>
      <p:sp>
        <p:nvSpPr>
          <p:cNvPr id="3" name="Text 1"/>
          <p:cNvSpPr txBox="1"/>
          <p:nvPr/>
        </p:nvSpPr>
        <p:spPr>
          <a:xfrm>
            <a:off x="457200" y="1051560"/>
            <a:ext cx="2926080" cy="777240"/>
          </a:xfrm>
          <a:prstGeom prst="rect">
            <a:avLst/>
          </a:prstGeom>
          <a:noFill/>
          <a:ln/>
        </p:spPr>
        <p:txBody>
          <a:bodyPr wrap="square" lIns="0" tIns="0" rIns="0" bIns="0" rtlCol="0" anchor="b"/>
          <a:lstStyle/>
          <a:p>
            <a:pPr indent="0" marL="0">
              <a:buNone/>
            </a:pPr>
            <a:r>
              <a:rPr lang="en-US" sz="4000" b="1" dirty="0">
                <a:solidFill>
                  <a:srgbClr val="C8763A"/>
                </a:solidFill>
                <a:latin typeface="Cambria" pitchFamily="34" charset="0"/>
                <a:ea typeface="Cambria" pitchFamily="34" charset="-122"/>
                <a:cs typeface="Cambria" pitchFamily="34" charset="-120"/>
              </a:rPr>
              <a:t>60 mV/dec</a:t>
            </a:r>
            <a:endParaRPr lang="en-US" sz="4000" dirty="0"/>
          </a:p>
        </p:txBody>
      </p:sp>
      <p:sp>
        <p:nvSpPr>
          <p:cNvPr id="4" name="Text 2"/>
          <p:cNvSpPr txBox="1"/>
          <p:nvPr/>
        </p:nvSpPr>
        <p:spPr>
          <a:xfrm>
            <a:off x="457200" y="1874520"/>
            <a:ext cx="292608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Ideal subthreshold swing at 300 K: (kT/q)·ln10</a:t>
            </a:r>
            <a:endParaRPr lang="en-US" sz="1300" dirty="0"/>
          </a:p>
        </p:txBody>
      </p:sp>
      <p:sp>
        <p:nvSpPr>
          <p:cNvPr id="5" name="Shape 3"/>
          <p:cNvSpPr/>
          <p:nvPr/>
        </p:nvSpPr>
        <p:spPr>
          <a:xfrm>
            <a:off x="457200" y="2743200"/>
            <a:ext cx="2926080" cy="1737360"/>
          </a:xfrm>
          <a:prstGeom prst="roundRect">
            <a:avLst>
              <a:gd name="adj" fmla="val 4211"/>
            </a:avLst>
          </a:prstGeom>
          <a:solidFill>
            <a:srgbClr val="F6E7DA"/>
          </a:solidFill>
          <a:ln w="12700">
            <a:solidFill>
              <a:srgbClr val="F6E7DA"/>
            </a:solidFill>
            <a:prstDash val="solid"/>
          </a:ln>
        </p:spPr>
      </p:sp>
      <p:sp>
        <p:nvSpPr>
          <p:cNvPr id="6" name="Text 4"/>
          <p:cNvSpPr txBox="1"/>
          <p:nvPr/>
        </p:nvSpPr>
        <p:spPr>
          <a:xfrm>
            <a:off x="621792" y="2880360"/>
            <a:ext cx="262432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Natural length</a:t>
            </a:r>
            <a:endParaRPr lang="en-US" sz="1500" dirty="0"/>
          </a:p>
        </p:txBody>
      </p:sp>
      <p:sp>
        <p:nvSpPr>
          <p:cNvPr id="7" name="Text 5"/>
          <p:cNvSpPr txBox="1"/>
          <p:nvPr/>
        </p:nvSpPr>
        <p:spPr>
          <a:xfrm>
            <a:off x="621792" y="3310128"/>
            <a:ext cx="2596896" cy="105156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λ ≈ √(ε_si · t_si · t_ox / (N · ε_ox))</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Gate length should be several λ. N = gates around the channel.</a:t>
            </a:r>
            <a:endParaRPr lang="en-US" sz="1300" dirty="0"/>
          </a:p>
        </p:txBody>
      </p:sp>
      <p:sp>
        <p:nvSpPr>
          <p:cNvPr id="8" name="Shape 6"/>
          <p:cNvSpPr/>
          <p:nvPr/>
        </p:nvSpPr>
        <p:spPr>
          <a:xfrm>
            <a:off x="3749040" y="1051560"/>
            <a:ext cx="4937760" cy="1024128"/>
          </a:xfrm>
          <a:prstGeom prst="roundRect">
            <a:avLst>
              <a:gd name="adj" fmla="val 7143"/>
            </a:avLst>
          </a:prstGeom>
          <a:solidFill>
            <a:srgbClr val="EEF2F6"/>
          </a:solidFill>
          <a:ln w="12700">
            <a:solidFill>
              <a:srgbClr val="EEF2F6"/>
            </a:solidFill>
            <a:prstDash val="solid"/>
          </a:ln>
        </p:spPr>
      </p:sp>
      <p:sp>
        <p:nvSpPr>
          <p:cNvPr id="9" name="Shape 7"/>
          <p:cNvSpPr/>
          <p:nvPr/>
        </p:nvSpPr>
        <p:spPr>
          <a:xfrm>
            <a:off x="3886200" y="1188720"/>
            <a:ext cx="347472" cy="347472"/>
          </a:xfrm>
          <a:prstGeom prst="ellipse">
            <a:avLst/>
          </a:prstGeom>
          <a:solidFill>
            <a:srgbClr val="C8763A"/>
          </a:solidFill>
          <a:ln w="12700">
            <a:solidFill>
              <a:srgbClr val="C8763A"/>
            </a:solidFill>
            <a:prstDash val="solid"/>
          </a:ln>
        </p:spPr>
      </p:sp>
      <p:sp>
        <p:nvSpPr>
          <p:cNvPr id="10" name="Text 8"/>
          <p:cNvSpPr txBox="1"/>
          <p:nvPr/>
        </p:nvSpPr>
        <p:spPr>
          <a:xfrm>
            <a:off x="3886200" y="1188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4343400" y="1188720"/>
            <a:ext cx="420624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Thinner body (t_si)</a:t>
            </a:r>
            <a:endParaRPr lang="en-US" sz="1500" dirty="0"/>
          </a:p>
        </p:txBody>
      </p:sp>
      <p:sp>
        <p:nvSpPr>
          <p:cNvPr id="12" name="Text 10"/>
          <p:cNvSpPr txBox="1"/>
          <p:nvPr/>
        </p:nvSpPr>
        <p:spPr>
          <a:xfrm>
            <a:off x="3913632" y="1618488"/>
            <a:ext cx="4608576" cy="338328"/>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Fins, nanosheets, FD-SOI</a:t>
            </a:r>
            <a:endParaRPr lang="en-US" sz="1300" dirty="0"/>
          </a:p>
        </p:txBody>
      </p:sp>
      <p:sp>
        <p:nvSpPr>
          <p:cNvPr id="13" name="Shape 11"/>
          <p:cNvSpPr/>
          <p:nvPr/>
        </p:nvSpPr>
        <p:spPr>
          <a:xfrm>
            <a:off x="3749040" y="2212848"/>
            <a:ext cx="4937760" cy="1024128"/>
          </a:xfrm>
          <a:prstGeom prst="roundRect">
            <a:avLst>
              <a:gd name="adj" fmla="val 7143"/>
            </a:avLst>
          </a:prstGeom>
          <a:solidFill>
            <a:srgbClr val="EEF2F6"/>
          </a:solidFill>
          <a:ln w="12700">
            <a:solidFill>
              <a:srgbClr val="EEF2F6"/>
            </a:solidFill>
            <a:prstDash val="solid"/>
          </a:ln>
        </p:spPr>
      </p:sp>
      <p:sp>
        <p:nvSpPr>
          <p:cNvPr id="14" name="Shape 12"/>
          <p:cNvSpPr/>
          <p:nvPr/>
        </p:nvSpPr>
        <p:spPr>
          <a:xfrm>
            <a:off x="3886200" y="2350008"/>
            <a:ext cx="347472" cy="347472"/>
          </a:xfrm>
          <a:prstGeom prst="ellipse">
            <a:avLst/>
          </a:prstGeom>
          <a:solidFill>
            <a:srgbClr val="C8763A"/>
          </a:solidFill>
          <a:ln w="12700">
            <a:solidFill>
              <a:srgbClr val="C8763A"/>
            </a:solidFill>
            <a:prstDash val="solid"/>
          </a:ln>
        </p:spPr>
      </p:sp>
      <p:sp>
        <p:nvSpPr>
          <p:cNvPr id="15" name="Text 13"/>
          <p:cNvSpPr txBox="1"/>
          <p:nvPr/>
        </p:nvSpPr>
        <p:spPr>
          <a:xfrm>
            <a:off x="3886200" y="2350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4343400" y="2350008"/>
            <a:ext cx="420624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Better dielectric (t_ox, ε)</a:t>
            </a:r>
            <a:endParaRPr lang="en-US" sz="1500" dirty="0"/>
          </a:p>
        </p:txBody>
      </p:sp>
      <p:sp>
        <p:nvSpPr>
          <p:cNvPr id="17" name="Text 15"/>
          <p:cNvSpPr txBox="1"/>
          <p:nvPr/>
        </p:nvSpPr>
        <p:spPr>
          <a:xfrm>
            <a:off x="3913632" y="2779776"/>
            <a:ext cx="4608576" cy="338328"/>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High-k / metal gate since 45nm</a:t>
            </a:r>
            <a:endParaRPr lang="en-US" sz="1300" dirty="0"/>
          </a:p>
        </p:txBody>
      </p:sp>
      <p:sp>
        <p:nvSpPr>
          <p:cNvPr id="18" name="Shape 16"/>
          <p:cNvSpPr/>
          <p:nvPr/>
        </p:nvSpPr>
        <p:spPr>
          <a:xfrm>
            <a:off x="3749040" y="3374136"/>
            <a:ext cx="4937760" cy="1024128"/>
          </a:xfrm>
          <a:prstGeom prst="roundRect">
            <a:avLst>
              <a:gd name="adj" fmla="val 7143"/>
            </a:avLst>
          </a:prstGeom>
          <a:solidFill>
            <a:srgbClr val="DDF1EE"/>
          </a:solidFill>
          <a:ln w="12700">
            <a:solidFill>
              <a:srgbClr val="DDF1EE"/>
            </a:solidFill>
            <a:prstDash val="solid"/>
          </a:ln>
        </p:spPr>
      </p:sp>
      <p:sp>
        <p:nvSpPr>
          <p:cNvPr id="19" name="Shape 17"/>
          <p:cNvSpPr/>
          <p:nvPr/>
        </p:nvSpPr>
        <p:spPr>
          <a:xfrm>
            <a:off x="3886200" y="3511296"/>
            <a:ext cx="347472" cy="347472"/>
          </a:xfrm>
          <a:prstGeom prst="ellipse">
            <a:avLst/>
          </a:prstGeom>
          <a:solidFill>
            <a:srgbClr val="C8763A"/>
          </a:solidFill>
          <a:ln w="12700">
            <a:solidFill>
              <a:srgbClr val="C8763A"/>
            </a:solidFill>
            <a:prstDash val="solid"/>
          </a:ln>
        </p:spPr>
      </p:sp>
      <p:sp>
        <p:nvSpPr>
          <p:cNvPr id="20" name="Text 18"/>
          <p:cNvSpPr txBox="1"/>
          <p:nvPr/>
        </p:nvSpPr>
        <p:spPr>
          <a:xfrm>
            <a:off x="3886200" y="35112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4343400" y="3511296"/>
            <a:ext cx="4206240"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More gates around channel (N)</a:t>
            </a:r>
            <a:endParaRPr lang="en-US" sz="1500" dirty="0"/>
          </a:p>
        </p:txBody>
      </p:sp>
      <p:sp>
        <p:nvSpPr>
          <p:cNvPr id="22" name="Text 20"/>
          <p:cNvSpPr txBox="1"/>
          <p:nvPr/>
        </p:nvSpPr>
        <p:spPr>
          <a:xfrm>
            <a:off x="3913632" y="3941064"/>
            <a:ext cx="4608576" cy="338328"/>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1 → 3 → 4 sides: planar → FinFET → GAA</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From planar to stacked: the gate wraps further</a:t>
            </a:r>
            <a:endParaRPr lang="en-US" sz="2800" dirty="0"/>
          </a:p>
        </p:txBody>
      </p:sp>
      <p:sp>
        <p:nvSpPr>
          <p:cNvPr id="3" name="Shape 1"/>
          <p:cNvSpPr/>
          <p:nvPr/>
        </p:nvSpPr>
        <p:spPr>
          <a:xfrm>
            <a:off x="457200" y="1097280"/>
            <a:ext cx="1920240" cy="2331720"/>
          </a:xfrm>
          <a:prstGeom prst="roundRect">
            <a:avLst>
              <a:gd name="adj" fmla="val 3810"/>
            </a:avLst>
          </a:prstGeom>
          <a:solidFill>
            <a:srgbClr val="EEF2F6"/>
          </a:solidFill>
          <a:ln w="12700">
            <a:solidFill>
              <a:srgbClr val="EEF2F6"/>
            </a:solidFill>
            <a:prstDash val="solid"/>
          </a:ln>
        </p:spPr>
      </p:sp>
      <p:sp>
        <p:nvSpPr>
          <p:cNvPr id="4" name="Shape 2"/>
          <p:cNvSpPr/>
          <p:nvPr/>
        </p:nvSpPr>
        <p:spPr>
          <a:xfrm>
            <a:off x="640080" y="2926080"/>
            <a:ext cx="1554480" cy="365760"/>
          </a:xfrm>
          <a:prstGeom prst="rect">
            <a:avLst/>
          </a:prstGeom>
          <a:solidFill>
            <a:srgbClr val="5B7083"/>
          </a:solidFill>
          <a:ln w="12700">
            <a:solidFill>
              <a:srgbClr val="5B7083"/>
            </a:solidFill>
            <a:prstDash val="solid"/>
          </a:ln>
        </p:spPr>
      </p:sp>
      <p:sp>
        <p:nvSpPr>
          <p:cNvPr id="5" name="Shape 3"/>
          <p:cNvSpPr/>
          <p:nvPr/>
        </p:nvSpPr>
        <p:spPr>
          <a:xfrm>
            <a:off x="640080" y="2816352"/>
            <a:ext cx="1554480" cy="109728"/>
          </a:xfrm>
          <a:prstGeom prst="rect">
            <a:avLst/>
          </a:prstGeom>
          <a:solidFill>
            <a:srgbClr val="2A9D8F"/>
          </a:solidFill>
          <a:ln w="12700">
            <a:solidFill>
              <a:srgbClr val="2A9D8F"/>
            </a:solidFill>
            <a:prstDash val="solid"/>
          </a:ln>
        </p:spPr>
      </p:sp>
      <p:sp>
        <p:nvSpPr>
          <p:cNvPr id="6" name="Shape 4"/>
          <p:cNvSpPr/>
          <p:nvPr/>
        </p:nvSpPr>
        <p:spPr>
          <a:xfrm>
            <a:off x="1005840" y="2359152"/>
            <a:ext cx="822960" cy="411480"/>
          </a:xfrm>
          <a:prstGeom prst="rect">
            <a:avLst/>
          </a:prstGeom>
          <a:solidFill>
            <a:srgbClr val="C8763A"/>
          </a:solidFill>
          <a:ln w="12700">
            <a:solidFill>
              <a:srgbClr val="C8763A"/>
            </a:solidFill>
            <a:prstDash val="solid"/>
          </a:ln>
        </p:spPr>
      </p:sp>
      <p:sp>
        <p:nvSpPr>
          <p:cNvPr id="7" name="Text 5"/>
          <p:cNvSpPr txBox="1"/>
          <p:nvPr/>
        </p:nvSpPr>
        <p:spPr>
          <a:xfrm>
            <a:off x="457200" y="3520440"/>
            <a:ext cx="1920240" cy="3200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Planar</a:t>
            </a:r>
            <a:endParaRPr lang="en-US" sz="1500" dirty="0"/>
          </a:p>
        </p:txBody>
      </p:sp>
      <p:sp>
        <p:nvSpPr>
          <p:cNvPr id="8" name="Text 6"/>
          <p:cNvSpPr txBox="1"/>
          <p:nvPr/>
        </p:nvSpPr>
        <p:spPr>
          <a:xfrm>
            <a:off x="457200" y="3840480"/>
            <a:ext cx="1920240" cy="548640"/>
          </a:xfrm>
          <a:prstGeom prst="rect">
            <a:avLst/>
          </a:prstGeom>
          <a:noFill/>
          <a:ln/>
        </p:spPr>
        <p:txBody>
          <a:bodyPr wrap="square" lIns="0" tIns="0" rIns="0" bIns="0" rtlCol="0" anchor="t"/>
          <a:lstStyle/>
          <a:p>
            <a:pPr algn="ctr" indent="0" marL="0">
              <a:buNone/>
            </a:pPr>
            <a:r>
              <a:rPr lang="en-US" sz="1200" dirty="0">
                <a:solidFill>
                  <a:srgbClr val="5B7083"/>
                </a:solidFill>
                <a:latin typeface="Calibri" pitchFamily="34" charset="0"/>
                <a:ea typeface="Calibri" pitchFamily="34" charset="-122"/>
                <a:cs typeface="Calibri" pitchFamily="34" charset="-120"/>
              </a:rPr>
              <a:t>Gate on 1 side</a:t>
            </a:r>
            <a:endParaRPr lang="en-US" sz="1200" dirty="0"/>
          </a:p>
          <a:p>
            <a:pPr algn="ctr" indent="0" marL="0">
              <a:buNone/>
            </a:pPr>
            <a:r>
              <a:rPr lang="en-US" sz="1200" dirty="0">
                <a:solidFill>
                  <a:srgbClr val="5B7083"/>
                </a:solidFill>
                <a:latin typeface="Calibri" pitchFamily="34" charset="0"/>
                <a:ea typeface="Calibri" pitchFamily="34" charset="-122"/>
                <a:cs typeface="Calibri" pitchFamily="34" charset="-120"/>
              </a:rPr>
              <a:t>to 28/20nm</a:t>
            </a:r>
            <a:endParaRPr lang="en-US" sz="1200" dirty="0"/>
          </a:p>
        </p:txBody>
      </p:sp>
      <p:sp>
        <p:nvSpPr>
          <p:cNvPr id="9" name="Shape 7"/>
          <p:cNvSpPr/>
          <p:nvPr/>
        </p:nvSpPr>
        <p:spPr>
          <a:xfrm>
            <a:off x="2560320" y="1097280"/>
            <a:ext cx="1920240" cy="2331720"/>
          </a:xfrm>
          <a:prstGeom prst="roundRect">
            <a:avLst>
              <a:gd name="adj" fmla="val 3810"/>
            </a:avLst>
          </a:prstGeom>
          <a:solidFill>
            <a:srgbClr val="EEF2F6"/>
          </a:solidFill>
          <a:ln w="12700">
            <a:solidFill>
              <a:srgbClr val="EEF2F6"/>
            </a:solidFill>
            <a:prstDash val="solid"/>
          </a:ln>
        </p:spPr>
      </p:sp>
      <p:sp>
        <p:nvSpPr>
          <p:cNvPr id="10" name="Shape 8"/>
          <p:cNvSpPr/>
          <p:nvPr/>
        </p:nvSpPr>
        <p:spPr>
          <a:xfrm>
            <a:off x="2743200" y="2926080"/>
            <a:ext cx="1554480" cy="365760"/>
          </a:xfrm>
          <a:prstGeom prst="rect">
            <a:avLst/>
          </a:prstGeom>
          <a:solidFill>
            <a:srgbClr val="5B7083"/>
          </a:solidFill>
          <a:ln w="12700">
            <a:solidFill>
              <a:srgbClr val="5B7083"/>
            </a:solidFill>
            <a:prstDash val="solid"/>
          </a:ln>
        </p:spPr>
      </p:sp>
      <p:sp>
        <p:nvSpPr>
          <p:cNvPr id="11" name="Shape 9"/>
          <p:cNvSpPr/>
          <p:nvPr/>
        </p:nvSpPr>
        <p:spPr>
          <a:xfrm>
            <a:off x="3154680" y="1600200"/>
            <a:ext cx="731520" cy="1325880"/>
          </a:xfrm>
          <a:prstGeom prst="rect">
            <a:avLst/>
          </a:prstGeom>
          <a:solidFill>
            <a:srgbClr val="C8763A"/>
          </a:solidFill>
          <a:ln w="12700">
            <a:solidFill>
              <a:srgbClr val="C8763A"/>
            </a:solidFill>
            <a:prstDash val="solid"/>
          </a:ln>
        </p:spPr>
      </p:sp>
      <p:sp>
        <p:nvSpPr>
          <p:cNvPr id="12" name="Shape 10"/>
          <p:cNvSpPr/>
          <p:nvPr/>
        </p:nvSpPr>
        <p:spPr>
          <a:xfrm>
            <a:off x="3374136" y="1783080"/>
            <a:ext cx="292608" cy="1143000"/>
          </a:xfrm>
          <a:prstGeom prst="rect">
            <a:avLst/>
          </a:prstGeom>
          <a:solidFill>
            <a:srgbClr val="2A9D8F"/>
          </a:solidFill>
          <a:ln w="12700">
            <a:solidFill>
              <a:srgbClr val="2A9D8F"/>
            </a:solidFill>
            <a:prstDash val="solid"/>
          </a:ln>
        </p:spPr>
      </p:sp>
      <p:sp>
        <p:nvSpPr>
          <p:cNvPr id="13" name="Text 11"/>
          <p:cNvSpPr txBox="1"/>
          <p:nvPr/>
        </p:nvSpPr>
        <p:spPr>
          <a:xfrm>
            <a:off x="2560320" y="3520440"/>
            <a:ext cx="1920240" cy="3200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FinFET</a:t>
            </a:r>
            <a:endParaRPr lang="en-US" sz="1500" dirty="0"/>
          </a:p>
        </p:txBody>
      </p:sp>
      <p:sp>
        <p:nvSpPr>
          <p:cNvPr id="14" name="Text 12"/>
          <p:cNvSpPr txBox="1"/>
          <p:nvPr/>
        </p:nvSpPr>
        <p:spPr>
          <a:xfrm>
            <a:off x="2560320" y="3840480"/>
            <a:ext cx="1920240" cy="548640"/>
          </a:xfrm>
          <a:prstGeom prst="rect">
            <a:avLst/>
          </a:prstGeom>
          <a:noFill/>
          <a:ln/>
        </p:spPr>
        <p:txBody>
          <a:bodyPr wrap="square" lIns="0" tIns="0" rIns="0" bIns="0" rtlCol="0" anchor="t"/>
          <a:lstStyle/>
          <a:p>
            <a:pPr algn="ctr" indent="0" marL="0">
              <a:buNone/>
            </a:pPr>
            <a:r>
              <a:rPr lang="en-US" sz="1200" dirty="0">
                <a:solidFill>
                  <a:srgbClr val="5B7083"/>
                </a:solidFill>
                <a:latin typeface="Calibri" pitchFamily="34" charset="0"/>
                <a:ea typeface="Calibri" pitchFamily="34" charset="-122"/>
                <a:cs typeface="Calibri" pitchFamily="34" charset="-120"/>
              </a:rPr>
              <a:t>Gate on 3 sides</a:t>
            </a:r>
            <a:endParaRPr lang="en-US" sz="1200" dirty="0"/>
          </a:p>
          <a:p>
            <a:pPr algn="ctr" indent="0" marL="0">
              <a:buNone/>
            </a:pPr>
            <a:r>
              <a:rPr lang="en-US" sz="1200" dirty="0">
                <a:solidFill>
                  <a:srgbClr val="5B7083"/>
                </a:solidFill>
                <a:latin typeface="Calibri" pitchFamily="34" charset="0"/>
                <a:ea typeface="Calibri" pitchFamily="34" charset="-122"/>
                <a:cs typeface="Calibri" pitchFamily="34" charset="-120"/>
              </a:rPr>
              <a:t>22nm (2011) → 3nm</a:t>
            </a:r>
            <a:endParaRPr lang="en-US" sz="1200" dirty="0"/>
          </a:p>
        </p:txBody>
      </p:sp>
      <p:sp>
        <p:nvSpPr>
          <p:cNvPr id="15" name="Shape 13"/>
          <p:cNvSpPr/>
          <p:nvPr/>
        </p:nvSpPr>
        <p:spPr>
          <a:xfrm>
            <a:off x="4663440" y="1097280"/>
            <a:ext cx="1920240" cy="2331720"/>
          </a:xfrm>
          <a:prstGeom prst="roundRect">
            <a:avLst>
              <a:gd name="adj" fmla="val 3810"/>
            </a:avLst>
          </a:prstGeom>
          <a:solidFill>
            <a:srgbClr val="EEF2F6"/>
          </a:solidFill>
          <a:ln w="12700">
            <a:solidFill>
              <a:srgbClr val="EEF2F6"/>
            </a:solidFill>
            <a:prstDash val="solid"/>
          </a:ln>
        </p:spPr>
      </p:sp>
      <p:sp>
        <p:nvSpPr>
          <p:cNvPr id="16" name="Shape 14"/>
          <p:cNvSpPr/>
          <p:nvPr/>
        </p:nvSpPr>
        <p:spPr>
          <a:xfrm>
            <a:off x="4846320" y="2926080"/>
            <a:ext cx="1554480" cy="365760"/>
          </a:xfrm>
          <a:prstGeom prst="rect">
            <a:avLst/>
          </a:prstGeom>
          <a:solidFill>
            <a:srgbClr val="5B7083"/>
          </a:solidFill>
          <a:ln w="12700">
            <a:solidFill>
              <a:srgbClr val="5B7083"/>
            </a:solidFill>
            <a:prstDash val="solid"/>
          </a:ln>
        </p:spPr>
      </p:sp>
      <p:sp>
        <p:nvSpPr>
          <p:cNvPr id="17" name="Shape 15"/>
          <p:cNvSpPr/>
          <p:nvPr/>
        </p:nvSpPr>
        <p:spPr>
          <a:xfrm>
            <a:off x="5120640" y="1463040"/>
            <a:ext cx="1005840" cy="1417320"/>
          </a:xfrm>
          <a:prstGeom prst="rect">
            <a:avLst/>
          </a:prstGeom>
          <a:solidFill>
            <a:srgbClr val="C8763A"/>
          </a:solidFill>
          <a:ln w="12700">
            <a:solidFill>
              <a:srgbClr val="C8763A"/>
            </a:solidFill>
            <a:prstDash val="solid"/>
          </a:ln>
        </p:spPr>
      </p:sp>
      <p:sp>
        <p:nvSpPr>
          <p:cNvPr id="18" name="Shape 16"/>
          <p:cNvSpPr/>
          <p:nvPr/>
        </p:nvSpPr>
        <p:spPr>
          <a:xfrm>
            <a:off x="5257800" y="1645920"/>
            <a:ext cx="731520" cy="164592"/>
          </a:xfrm>
          <a:prstGeom prst="rect">
            <a:avLst/>
          </a:prstGeom>
          <a:solidFill>
            <a:srgbClr val="2A9D8F"/>
          </a:solidFill>
          <a:ln w="12700">
            <a:solidFill>
              <a:srgbClr val="2A9D8F"/>
            </a:solidFill>
            <a:prstDash val="solid"/>
          </a:ln>
        </p:spPr>
      </p:sp>
      <p:sp>
        <p:nvSpPr>
          <p:cNvPr id="19" name="Shape 17"/>
          <p:cNvSpPr/>
          <p:nvPr/>
        </p:nvSpPr>
        <p:spPr>
          <a:xfrm>
            <a:off x="5257800" y="2029968"/>
            <a:ext cx="731520" cy="164592"/>
          </a:xfrm>
          <a:prstGeom prst="rect">
            <a:avLst/>
          </a:prstGeom>
          <a:solidFill>
            <a:srgbClr val="2A9D8F"/>
          </a:solidFill>
          <a:ln w="12700">
            <a:solidFill>
              <a:srgbClr val="2A9D8F"/>
            </a:solidFill>
            <a:prstDash val="solid"/>
          </a:ln>
        </p:spPr>
      </p:sp>
      <p:sp>
        <p:nvSpPr>
          <p:cNvPr id="20" name="Shape 18"/>
          <p:cNvSpPr/>
          <p:nvPr/>
        </p:nvSpPr>
        <p:spPr>
          <a:xfrm>
            <a:off x="5257800" y="2414016"/>
            <a:ext cx="731520" cy="164592"/>
          </a:xfrm>
          <a:prstGeom prst="rect">
            <a:avLst/>
          </a:prstGeom>
          <a:solidFill>
            <a:srgbClr val="2A9D8F"/>
          </a:solidFill>
          <a:ln w="12700">
            <a:solidFill>
              <a:srgbClr val="2A9D8F"/>
            </a:solidFill>
            <a:prstDash val="solid"/>
          </a:ln>
        </p:spPr>
      </p:sp>
      <p:sp>
        <p:nvSpPr>
          <p:cNvPr id="21" name="Text 19"/>
          <p:cNvSpPr txBox="1"/>
          <p:nvPr/>
        </p:nvSpPr>
        <p:spPr>
          <a:xfrm>
            <a:off x="4663440" y="3520440"/>
            <a:ext cx="1920240" cy="3200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GAA nanosheet</a:t>
            </a:r>
            <a:endParaRPr lang="en-US" sz="1500" dirty="0"/>
          </a:p>
        </p:txBody>
      </p:sp>
      <p:sp>
        <p:nvSpPr>
          <p:cNvPr id="22" name="Text 20"/>
          <p:cNvSpPr txBox="1"/>
          <p:nvPr/>
        </p:nvSpPr>
        <p:spPr>
          <a:xfrm>
            <a:off x="4663440" y="3840480"/>
            <a:ext cx="1920240" cy="548640"/>
          </a:xfrm>
          <a:prstGeom prst="rect">
            <a:avLst/>
          </a:prstGeom>
          <a:noFill/>
          <a:ln/>
        </p:spPr>
        <p:txBody>
          <a:bodyPr wrap="square" lIns="0" tIns="0" rIns="0" bIns="0" rtlCol="0" anchor="t"/>
          <a:lstStyle/>
          <a:p>
            <a:pPr algn="ctr" indent="0" marL="0">
              <a:buNone/>
            </a:pPr>
            <a:r>
              <a:rPr lang="en-US" sz="1200" dirty="0">
                <a:solidFill>
                  <a:srgbClr val="5B7083"/>
                </a:solidFill>
                <a:latin typeface="Calibri" pitchFamily="34" charset="0"/>
                <a:ea typeface="Calibri" pitchFamily="34" charset="-122"/>
                <a:cs typeface="Calibri" pitchFamily="34" charset="-120"/>
              </a:rPr>
              <a:t>Gate on 4 sides</a:t>
            </a:r>
            <a:endParaRPr lang="en-US" sz="1200" dirty="0"/>
          </a:p>
          <a:p>
            <a:pPr algn="ctr" indent="0" marL="0">
              <a:buNone/>
            </a:pPr>
            <a:r>
              <a:rPr lang="en-US" sz="1200" dirty="0">
                <a:solidFill>
                  <a:srgbClr val="5B7083"/>
                </a:solidFill>
                <a:latin typeface="Calibri" pitchFamily="34" charset="0"/>
                <a:ea typeface="Calibri" pitchFamily="34" charset="-122"/>
                <a:cs typeface="Calibri" pitchFamily="34" charset="-120"/>
              </a:rPr>
              <a:t>SF3 2022, N2, 18A</a:t>
            </a:r>
            <a:endParaRPr lang="en-US" sz="1200" dirty="0"/>
          </a:p>
        </p:txBody>
      </p:sp>
      <p:sp>
        <p:nvSpPr>
          <p:cNvPr id="23" name="Shape 21"/>
          <p:cNvSpPr/>
          <p:nvPr/>
        </p:nvSpPr>
        <p:spPr>
          <a:xfrm>
            <a:off x="6766560" y="1097280"/>
            <a:ext cx="1920240" cy="2331720"/>
          </a:xfrm>
          <a:prstGeom prst="roundRect">
            <a:avLst>
              <a:gd name="adj" fmla="val 3810"/>
            </a:avLst>
          </a:prstGeom>
          <a:solidFill>
            <a:srgbClr val="EEF2F6"/>
          </a:solidFill>
          <a:ln w="12700">
            <a:solidFill>
              <a:srgbClr val="EEF2F6"/>
            </a:solidFill>
            <a:prstDash val="solid"/>
          </a:ln>
        </p:spPr>
      </p:sp>
      <p:sp>
        <p:nvSpPr>
          <p:cNvPr id="24" name="Shape 22"/>
          <p:cNvSpPr/>
          <p:nvPr/>
        </p:nvSpPr>
        <p:spPr>
          <a:xfrm>
            <a:off x="6949440" y="2926080"/>
            <a:ext cx="1554480" cy="365760"/>
          </a:xfrm>
          <a:prstGeom prst="rect">
            <a:avLst/>
          </a:prstGeom>
          <a:solidFill>
            <a:srgbClr val="5B7083"/>
          </a:solidFill>
          <a:ln w="12700">
            <a:solidFill>
              <a:srgbClr val="5B7083"/>
            </a:solidFill>
            <a:prstDash val="solid"/>
          </a:ln>
        </p:spPr>
      </p:sp>
      <p:sp>
        <p:nvSpPr>
          <p:cNvPr id="25" name="Shape 23"/>
          <p:cNvSpPr/>
          <p:nvPr/>
        </p:nvSpPr>
        <p:spPr>
          <a:xfrm>
            <a:off x="7223760" y="1325880"/>
            <a:ext cx="1005840" cy="1554480"/>
          </a:xfrm>
          <a:prstGeom prst="rect">
            <a:avLst/>
          </a:prstGeom>
          <a:solidFill>
            <a:srgbClr val="C8763A"/>
          </a:solidFill>
          <a:ln w="12700">
            <a:solidFill>
              <a:srgbClr val="C8763A"/>
            </a:solidFill>
            <a:prstDash val="solid"/>
          </a:ln>
        </p:spPr>
      </p:sp>
      <p:sp>
        <p:nvSpPr>
          <p:cNvPr id="26" name="Shape 24"/>
          <p:cNvSpPr/>
          <p:nvPr/>
        </p:nvSpPr>
        <p:spPr>
          <a:xfrm>
            <a:off x="7360920" y="1481328"/>
            <a:ext cx="731520" cy="137160"/>
          </a:xfrm>
          <a:prstGeom prst="rect">
            <a:avLst/>
          </a:prstGeom>
          <a:solidFill>
            <a:srgbClr val="8FB8DE"/>
          </a:solidFill>
          <a:ln w="12700">
            <a:solidFill>
              <a:srgbClr val="8FB8DE"/>
            </a:solidFill>
            <a:prstDash val="solid"/>
          </a:ln>
        </p:spPr>
      </p:sp>
      <p:sp>
        <p:nvSpPr>
          <p:cNvPr id="27" name="Shape 25"/>
          <p:cNvSpPr/>
          <p:nvPr/>
        </p:nvSpPr>
        <p:spPr>
          <a:xfrm>
            <a:off x="7360920" y="1783080"/>
            <a:ext cx="731520" cy="137160"/>
          </a:xfrm>
          <a:prstGeom prst="rect">
            <a:avLst/>
          </a:prstGeom>
          <a:solidFill>
            <a:srgbClr val="8FB8DE"/>
          </a:solidFill>
          <a:ln w="12700">
            <a:solidFill>
              <a:srgbClr val="8FB8DE"/>
            </a:solidFill>
            <a:prstDash val="solid"/>
          </a:ln>
        </p:spPr>
      </p:sp>
      <p:sp>
        <p:nvSpPr>
          <p:cNvPr id="28" name="Shape 26"/>
          <p:cNvSpPr/>
          <p:nvPr/>
        </p:nvSpPr>
        <p:spPr>
          <a:xfrm>
            <a:off x="7360920" y="2148840"/>
            <a:ext cx="731520" cy="137160"/>
          </a:xfrm>
          <a:prstGeom prst="rect">
            <a:avLst/>
          </a:prstGeom>
          <a:solidFill>
            <a:srgbClr val="2A9D8F"/>
          </a:solidFill>
          <a:ln w="12700">
            <a:solidFill>
              <a:srgbClr val="2A9D8F"/>
            </a:solidFill>
            <a:prstDash val="solid"/>
          </a:ln>
        </p:spPr>
      </p:sp>
      <p:sp>
        <p:nvSpPr>
          <p:cNvPr id="29" name="Shape 27"/>
          <p:cNvSpPr/>
          <p:nvPr/>
        </p:nvSpPr>
        <p:spPr>
          <a:xfrm>
            <a:off x="7360920" y="2450592"/>
            <a:ext cx="731520" cy="137160"/>
          </a:xfrm>
          <a:prstGeom prst="rect">
            <a:avLst/>
          </a:prstGeom>
          <a:solidFill>
            <a:srgbClr val="2A9D8F"/>
          </a:solidFill>
          <a:ln w="12700">
            <a:solidFill>
              <a:srgbClr val="2A9D8F"/>
            </a:solidFill>
            <a:prstDash val="solid"/>
          </a:ln>
        </p:spPr>
      </p:sp>
      <p:sp>
        <p:nvSpPr>
          <p:cNvPr id="30" name="Text 28"/>
          <p:cNvSpPr txBox="1"/>
          <p:nvPr/>
        </p:nvSpPr>
        <p:spPr>
          <a:xfrm>
            <a:off x="8138160" y="1508760"/>
            <a:ext cx="274320" cy="36576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p</a:t>
            </a:r>
            <a:endParaRPr lang="en-US" sz="1200" dirty="0"/>
          </a:p>
        </p:txBody>
      </p:sp>
      <p:sp>
        <p:nvSpPr>
          <p:cNvPr id="31" name="Text 29"/>
          <p:cNvSpPr txBox="1"/>
          <p:nvPr/>
        </p:nvSpPr>
        <p:spPr>
          <a:xfrm>
            <a:off x="8138160" y="2176272"/>
            <a:ext cx="274320" cy="36576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n</a:t>
            </a:r>
            <a:endParaRPr lang="en-US" sz="1200" dirty="0"/>
          </a:p>
        </p:txBody>
      </p:sp>
      <p:sp>
        <p:nvSpPr>
          <p:cNvPr id="32" name="Text 30"/>
          <p:cNvSpPr txBox="1"/>
          <p:nvPr/>
        </p:nvSpPr>
        <p:spPr>
          <a:xfrm>
            <a:off x="6766560" y="3520440"/>
            <a:ext cx="1920240" cy="320040"/>
          </a:xfrm>
          <a:prstGeom prst="rect">
            <a:avLst/>
          </a:prstGeom>
          <a:noFill/>
          <a:ln/>
        </p:spPr>
        <p:txBody>
          <a:bodyPr wrap="square" lIns="0" tIns="0" rIns="0" bIns="0" rtlCol="0" anchor="t"/>
          <a:lstStyle/>
          <a:p>
            <a:pPr algn="ctr" indent="0" marL="0">
              <a:buNone/>
            </a:pPr>
            <a:r>
              <a:rPr lang="en-US" sz="1500" b="1" dirty="0">
                <a:solidFill>
                  <a:srgbClr val="0B1F33"/>
                </a:solidFill>
                <a:latin typeface="Calibri" pitchFamily="34" charset="0"/>
                <a:ea typeface="Calibri" pitchFamily="34" charset="-122"/>
                <a:cs typeface="Calibri" pitchFamily="34" charset="-120"/>
              </a:rPr>
              <a:t>CFET</a:t>
            </a:r>
            <a:endParaRPr lang="en-US" sz="1500" dirty="0"/>
          </a:p>
        </p:txBody>
      </p:sp>
      <p:sp>
        <p:nvSpPr>
          <p:cNvPr id="33" name="Text 31"/>
          <p:cNvSpPr txBox="1"/>
          <p:nvPr/>
        </p:nvSpPr>
        <p:spPr>
          <a:xfrm>
            <a:off x="6766560" y="3840480"/>
            <a:ext cx="1920240" cy="548640"/>
          </a:xfrm>
          <a:prstGeom prst="rect">
            <a:avLst/>
          </a:prstGeom>
          <a:noFill/>
          <a:ln/>
        </p:spPr>
        <p:txBody>
          <a:bodyPr wrap="square" lIns="0" tIns="0" rIns="0" bIns="0" rtlCol="0" anchor="t"/>
          <a:lstStyle/>
          <a:p>
            <a:pPr algn="ctr" indent="0" marL="0">
              <a:buNone/>
            </a:pPr>
            <a:r>
              <a:rPr lang="en-US" sz="1200" dirty="0">
                <a:solidFill>
                  <a:srgbClr val="5B7083"/>
                </a:solidFill>
                <a:latin typeface="Calibri" pitchFamily="34" charset="0"/>
                <a:ea typeface="Calibri" pitchFamily="34" charset="-122"/>
                <a:cs typeface="Calibri" pitchFamily="34" charset="-120"/>
              </a:rPr>
              <a:t>nFET stacked on pFET</a:t>
            </a:r>
            <a:endParaRPr lang="en-US" sz="1200" dirty="0"/>
          </a:p>
          <a:p>
            <a:pPr algn="ctr" indent="0" marL="0">
              <a:buNone/>
            </a:pPr>
            <a:r>
              <a:rPr lang="en-US" sz="1200" dirty="0">
                <a:solidFill>
                  <a:srgbClr val="5B7083"/>
                </a:solidFill>
                <a:latin typeface="Calibri" pitchFamily="34" charset="0"/>
                <a:ea typeface="Calibri" pitchFamily="34" charset="-122"/>
                <a:cs typeface="Calibri" pitchFamily="34" charset="-120"/>
              </a:rPr>
              <a:t>Research, 2030s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Same footprint, but nanosheets can be sized freely</a:t>
            </a:r>
            <a:endParaRPr lang="en-US" sz="2800" dirty="0"/>
          </a:p>
        </p:txBody>
      </p:sp>
      <p:sp>
        <p:nvSpPr>
          <p:cNvPr id="3" name="Shape 1"/>
          <p:cNvSpPr/>
          <p:nvPr/>
        </p:nvSpPr>
        <p:spPr>
          <a:xfrm>
            <a:off x="457200" y="1097280"/>
            <a:ext cx="3931920" cy="1920240"/>
          </a:xfrm>
          <a:prstGeom prst="roundRect">
            <a:avLst>
              <a:gd name="adj" fmla="val 3810"/>
            </a:avLst>
          </a:prstGeom>
          <a:solidFill>
            <a:srgbClr val="EEF2F6"/>
          </a:solidFill>
          <a:ln w="12700">
            <a:solidFill>
              <a:srgbClr val="EEF2F6"/>
            </a:solidFill>
            <a:prstDash val="solid"/>
          </a:ln>
        </p:spPr>
      </p:sp>
      <p:sp>
        <p:nvSpPr>
          <p:cNvPr id="4" name="Text 2"/>
          <p:cNvSpPr txBox="1"/>
          <p:nvPr/>
        </p:nvSpPr>
        <p:spPr>
          <a:xfrm>
            <a:off x="621792" y="1234440"/>
            <a:ext cx="363016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2-fin FinFET</a:t>
            </a:r>
            <a:endParaRPr lang="en-US" sz="1500" dirty="0"/>
          </a:p>
        </p:txBody>
      </p:sp>
      <p:sp>
        <p:nvSpPr>
          <p:cNvPr id="5" name="Text 3"/>
          <p:cNvSpPr txBox="1"/>
          <p:nvPr/>
        </p:nvSpPr>
        <p:spPr>
          <a:xfrm>
            <a:off x="621792" y="1664208"/>
            <a:ext cx="3602736" cy="123444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W = fins × (2·H + W_fin)</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2 × (2·50 + 6)</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212 nm</a:t>
            </a:r>
            <a:endParaRPr lang="en-US" sz="1300" dirty="0"/>
          </a:p>
          <a:p>
            <a:pPr indent="0" marL="0">
              <a:buNone/>
            </a:pP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Drive comes in whole fins only: 1, 2 or 3.</a:t>
            </a:r>
            <a:endParaRPr lang="en-US" sz="1300" dirty="0"/>
          </a:p>
        </p:txBody>
      </p:sp>
      <p:sp>
        <p:nvSpPr>
          <p:cNvPr id="6" name="Shape 4"/>
          <p:cNvSpPr/>
          <p:nvPr/>
        </p:nvSpPr>
        <p:spPr>
          <a:xfrm>
            <a:off x="4754880" y="1097280"/>
            <a:ext cx="3931920" cy="1920240"/>
          </a:xfrm>
          <a:prstGeom prst="roundRect">
            <a:avLst>
              <a:gd name="adj" fmla="val 3810"/>
            </a:avLst>
          </a:prstGeom>
          <a:solidFill>
            <a:srgbClr val="DDF1EE"/>
          </a:solidFill>
          <a:ln w="12700">
            <a:solidFill>
              <a:srgbClr val="DDF1EE"/>
            </a:solidFill>
            <a:prstDash val="solid"/>
          </a:ln>
        </p:spPr>
      </p:sp>
      <p:sp>
        <p:nvSpPr>
          <p:cNvPr id="7" name="Text 5"/>
          <p:cNvSpPr txBox="1"/>
          <p:nvPr/>
        </p:nvSpPr>
        <p:spPr>
          <a:xfrm>
            <a:off x="4919472" y="1234440"/>
            <a:ext cx="363016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3-sheet nanosheet</a:t>
            </a:r>
            <a:endParaRPr lang="en-US" sz="1500" dirty="0"/>
          </a:p>
        </p:txBody>
      </p:sp>
      <p:sp>
        <p:nvSpPr>
          <p:cNvPr id="8" name="Text 6"/>
          <p:cNvSpPr txBox="1"/>
          <p:nvPr/>
        </p:nvSpPr>
        <p:spPr>
          <a:xfrm>
            <a:off x="4919472" y="1664208"/>
            <a:ext cx="3602736" cy="123444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W = sheets × 2·(W_sheet + T_sheet)</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3 × 2·(30 + 5)</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210 nm</a:t>
            </a:r>
            <a:endParaRPr lang="en-US" sz="1300" dirty="0"/>
          </a:p>
          <a:p>
            <a:pPr indent="0" marL="0">
              <a:buNone/>
            </a:pP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Sheet width is a design choice: 15, 30 or 45 nm.</a:t>
            </a:r>
            <a:endParaRPr lang="en-US" sz="1300" dirty="0"/>
          </a:p>
        </p:txBody>
      </p:sp>
      <p:sp>
        <p:nvSpPr>
          <p:cNvPr id="9" name="Text 7"/>
          <p:cNvSpPr txBox="1"/>
          <p:nvPr/>
        </p:nvSpPr>
        <p:spPr>
          <a:xfrm>
            <a:off x="457200" y="3200400"/>
            <a:ext cx="3931920" cy="777240"/>
          </a:xfrm>
          <a:prstGeom prst="rect">
            <a:avLst/>
          </a:prstGeom>
          <a:noFill/>
          <a:ln/>
        </p:spPr>
        <p:txBody>
          <a:bodyPr wrap="square" lIns="0" tIns="0" rIns="0" bIns="0" rtlCol="0" anchor="b"/>
          <a:lstStyle/>
          <a:p>
            <a:pPr indent="0" marL="0">
              <a:buNone/>
            </a:pPr>
            <a:r>
              <a:rPr lang="en-US" sz="3200" b="1" dirty="0">
                <a:solidFill>
                  <a:srgbClr val="0B1F33"/>
                </a:solidFill>
                <a:latin typeface="Cambria" pitchFamily="34" charset="0"/>
                <a:ea typeface="Cambria" pitchFamily="34" charset="-122"/>
                <a:cs typeface="Cambria" pitchFamily="34" charset="-120"/>
              </a:rPr>
              <a:t>212 nm</a:t>
            </a:r>
            <a:endParaRPr lang="en-US" sz="3200" dirty="0"/>
          </a:p>
        </p:txBody>
      </p:sp>
      <p:sp>
        <p:nvSpPr>
          <p:cNvPr id="10" name="Text 8"/>
          <p:cNvSpPr txBox="1"/>
          <p:nvPr/>
        </p:nvSpPr>
        <p:spPr>
          <a:xfrm>
            <a:off x="457200" y="4023360"/>
            <a:ext cx="393192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FinFET effective width</a:t>
            </a:r>
            <a:endParaRPr lang="en-US" sz="1300" dirty="0"/>
          </a:p>
        </p:txBody>
      </p:sp>
      <p:sp>
        <p:nvSpPr>
          <p:cNvPr id="11" name="Text 9"/>
          <p:cNvSpPr txBox="1"/>
          <p:nvPr/>
        </p:nvSpPr>
        <p:spPr>
          <a:xfrm>
            <a:off x="4754880" y="3200400"/>
            <a:ext cx="3931920" cy="777240"/>
          </a:xfrm>
          <a:prstGeom prst="rect">
            <a:avLst/>
          </a:prstGeom>
          <a:noFill/>
          <a:ln/>
        </p:spPr>
        <p:txBody>
          <a:bodyPr wrap="square" lIns="0" tIns="0" rIns="0" bIns="0" rtlCol="0" anchor="b"/>
          <a:lstStyle/>
          <a:p>
            <a:pPr indent="0" marL="0">
              <a:buNone/>
            </a:pPr>
            <a:r>
              <a:rPr lang="en-US" sz="3200" b="1" dirty="0">
                <a:solidFill>
                  <a:srgbClr val="2A9D8F"/>
                </a:solidFill>
                <a:latin typeface="Cambria" pitchFamily="34" charset="0"/>
                <a:ea typeface="Cambria" pitchFamily="34" charset="-122"/>
                <a:cs typeface="Cambria" pitchFamily="34" charset="-120"/>
              </a:rPr>
              <a:t>210 nm</a:t>
            </a:r>
            <a:endParaRPr lang="en-US" sz="3200" dirty="0"/>
          </a:p>
        </p:txBody>
      </p:sp>
      <p:sp>
        <p:nvSpPr>
          <p:cNvPr id="12" name="Text 10"/>
          <p:cNvSpPr txBox="1"/>
          <p:nvPr/>
        </p:nvSpPr>
        <p:spPr>
          <a:xfrm>
            <a:off x="4754880" y="4023360"/>
            <a:ext cx="3931920" cy="640080"/>
          </a:xfrm>
          <a:prstGeom prst="rect">
            <a:avLst/>
          </a:prstGeom>
          <a:noFill/>
          <a:ln/>
        </p:spPr>
        <p:txBody>
          <a:bodyPr wrap="square" lIns="0" tIns="0" rIns="0" bIns="0" rtlCol="0" anchor="t"/>
          <a:lstStyle/>
          <a:p>
            <a:pPr indent="0" marL="0">
              <a:buNone/>
            </a:pPr>
            <a:r>
              <a:rPr lang="en-US" sz="1300" dirty="0">
                <a:solidFill>
                  <a:srgbClr val="5B7083"/>
                </a:solidFill>
                <a:latin typeface="Calibri" pitchFamily="34" charset="0"/>
                <a:ea typeface="Calibri" pitchFamily="34" charset="-122"/>
                <a:cs typeface="Calibri" pitchFamily="34" charset="-120"/>
              </a:rPr>
              <a:t>Nanosheet effective width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Building a nanosheet</a:t>
            </a: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600" dirty="0">
                <a:solidFill>
                  <a:srgbClr val="8FB8DE"/>
                </a:solidFill>
                <a:latin typeface="Calibri" pitchFamily="34" charset="0"/>
                <a:ea typeface="Calibri" pitchFamily="34" charset="-122"/>
                <a:cs typeface="Calibri" pitchFamily="34" charset="-120"/>
              </a:rPr>
              <a:t>Grow a layer cake, then carve the gate into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Sacrificial SiGe makes room for the gate</a:t>
            </a:r>
            <a:endParaRPr lang="en-US" sz="2800" dirty="0"/>
          </a:p>
        </p:txBody>
      </p:sp>
      <p:sp>
        <p:nvSpPr>
          <p:cNvPr id="3" name="Shape 1"/>
          <p:cNvSpPr/>
          <p:nvPr/>
        </p:nvSpPr>
        <p:spPr>
          <a:xfrm>
            <a:off x="640080" y="1325880"/>
            <a:ext cx="2743200" cy="292608"/>
          </a:xfrm>
          <a:prstGeom prst="rect">
            <a:avLst/>
          </a:prstGeom>
          <a:solidFill>
            <a:srgbClr val="2A9D8F"/>
          </a:solidFill>
          <a:ln w="12700">
            <a:solidFill>
              <a:srgbClr val="FFFFFF"/>
            </a:solidFill>
            <a:prstDash val="solid"/>
          </a:ln>
        </p:spPr>
      </p:sp>
      <p:sp>
        <p:nvSpPr>
          <p:cNvPr id="4" name="Shape 2"/>
          <p:cNvSpPr/>
          <p:nvPr/>
        </p:nvSpPr>
        <p:spPr>
          <a:xfrm>
            <a:off x="640080" y="1655064"/>
            <a:ext cx="2743200" cy="292608"/>
          </a:xfrm>
          <a:prstGeom prst="rect">
            <a:avLst/>
          </a:prstGeom>
          <a:solidFill>
            <a:srgbClr val="E9C46A"/>
          </a:solidFill>
          <a:ln w="12700">
            <a:solidFill>
              <a:srgbClr val="FFFFFF"/>
            </a:solidFill>
            <a:prstDash val="solid"/>
          </a:ln>
        </p:spPr>
      </p:sp>
      <p:sp>
        <p:nvSpPr>
          <p:cNvPr id="5" name="Shape 3"/>
          <p:cNvSpPr/>
          <p:nvPr/>
        </p:nvSpPr>
        <p:spPr>
          <a:xfrm>
            <a:off x="640080" y="1984248"/>
            <a:ext cx="2743200" cy="292608"/>
          </a:xfrm>
          <a:prstGeom prst="rect">
            <a:avLst/>
          </a:prstGeom>
          <a:solidFill>
            <a:srgbClr val="2A9D8F"/>
          </a:solidFill>
          <a:ln w="12700">
            <a:solidFill>
              <a:srgbClr val="FFFFFF"/>
            </a:solidFill>
            <a:prstDash val="solid"/>
          </a:ln>
        </p:spPr>
      </p:sp>
      <p:sp>
        <p:nvSpPr>
          <p:cNvPr id="6" name="Shape 4"/>
          <p:cNvSpPr/>
          <p:nvPr/>
        </p:nvSpPr>
        <p:spPr>
          <a:xfrm>
            <a:off x="640080" y="2313432"/>
            <a:ext cx="2743200" cy="292608"/>
          </a:xfrm>
          <a:prstGeom prst="rect">
            <a:avLst/>
          </a:prstGeom>
          <a:solidFill>
            <a:srgbClr val="E9C46A"/>
          </a:solidFill>
          <a:ln w="12700">
            <a:solidFill>
              <a:srgbClr val="FFFFFF"/>
            </a:solidFill>
            <a:prstDash val="solid"/>
          </a:ln>
        </p:spPr>
      </p:sp>
      <p:sp>
        <p:nvSpPr>
          <p:cNvPr id="7" name="Shape 5"/>
          <p:cNvSpPr/>
          <p:nvPr/>
        </p:nvSpPr>
        <p:spPr>
          <a:xfrm>
            <a:off x="640080" y="2642616"/>
            <a:ext cx="2743200" cy="292608"/>
          </a:xfrm>
          <a:prstGeom prst="rect">
            <a:avLst/>
          </a:prstGeom>
          <a:solidFill>
            <a:srgbClr val="2A9D8F"/>
          </a:solidFill>
          <a:ln w="12700">
            <a:solidFill>
              <a:srgbClr val="FFFFFF"/>
            </a:solidFill>
            <a:prstDash val="solid"/>
          </a:ln>
        </p:spPr>
      </p:sp>
      <p:sp>
        <p:nvSpPr>
          <p:cNvPr id="8" name="Shape 6"/>
          <p:cNvSpPr/>
          <p:nvPr/>
        </p:nvSpPr>
        <p:spPr>
          <a:xfrm>
            <a:off x="640080" y="2971800"/>
            <a:ext cx="2743200" cy="292608"/>
          </a:xfrm>
          <a:prstGeom prst="rect">
            <a:avLst/>
          </a:prstGeom>
          <a:solidFill>
            <a:srgbClr val="E9C46A"/>
          </a:solidFill>
          <a:ln w="12700">
            <a:solidFill>
              <a:srgbClr val="FFFFFF"/>
            </a:solidFill>
            <a:prstDash val="solid"/>
          </a:ln>
        </p:spPr>
      </p:sp>
      <p:sp>
        <p:nvSpPr>
          <p:cNvPr id="9" name="Shape 7"/>
          <p:cNvSpPr/>
          <p:nvPr/>
        </p:nvSpPr>
        <p:spPr>
          <a:xfrm>
            <a:off x="640080" y="3300984"/>
            <a:ext cx="2743200" cy="457200"/>
          </a:xfrm>
          <a:prstGeom prst="rect">
            <a:avLst/>
          </a:prstGeom>
          <a:solidFill>
            <a:srgbClr val="5B7083"/>
          </a:solidFill>
          <a:ln w="12700">
            <a:solidFill>
              <a:srgbClr val="5B7083"/>
            </a:solidFill>
            <a:prstDash val="solid"/>
          </a:ln>
        </p:spPr>
      </p:sp>
      <p:sp>
        <p:nvSpPr>
          <p:cNvPr id="10" name="Text 8"/>
          <p:cNvSpPr txBox="1"/>
          <p:nvPr/>
        </p:nvSpPr>
        <p:spPr>
          <a:xfrm>
            <a:off x="640080" y="3886200"/>
            <a:ext cx="2743200" cy="320040"/>
          </a:xfrm>
          <a:prstGeom prst="rect">
            <a:avLst/>
          </a:prstGeom>
          <a:noFill/>
          <a:ln/>
        </p:spPr>
        <p:txBody>
          <a:bodyPr wrap="square" lIns="0" tIns="0" rIns="0" bIns="0" rtlCol="0" anchor="t"/>
          <a:lstStyle/>
          <a:p>
            <a:pPr algn="ctr" indent="0" marL="0">
              <a:buNone/>
            </a:pPr>
            <a:r>
              <a:rPr lang="en-US" sz="1400" b="1" dirty="0">
                <a:solidFill>
                  <a:srgbClr val="0B1F33"/>
                </a:solidFill>
                <a:latin typeface="Calibri" pitchFamily="34" charset="0"/>
                <a:ea typeface="Calibri" pitchFamily="34" charset="-122"/>
                <a:cs typeface="Calibri" pitchFamily="34" charset="-120"/>
              </a:rPr>
              <a:t>1 · Grow Si / SiGe superlattice</a:t>
            </a:r>
            <a:endParaRPr lang="en-US" sz="1400" dirty="0"/>
          </a:p>
        </p:txBody>
      </p:sp>
      <p:sp>
        <p:nvSpPr>
          <p:cNvPr id="11" name="Shape 9"/>
          <p:cNvSpPr/>
          <p:nvPr/>
        </p:nvSpPr>
        <p:spPr>
          <a:xfrm>
            <a:off x="3657600" y="2377440"/>
            <a:ext cx="1097280" cy="292608"/>
          </a:xfrm>
          <a:prstGeom prst="rightArrow">
            <a:avLst/>
          </a:prstGeom>
          <a:solidFill>
            <a:srgbClr val="C8763A"/>
          </a:solidFill>
          <a:ln w="12700">
            <a:solidFill>
              <a:srgbClr val="C8763A"/>
            </a:solidFill>
            <a:prstDash val="solid"/>
          </a:ln>
        </p:spPr>
      </p:sp>
      <p:sp>
        <p:nvSpPr>
          <p:cNvPr id="12" name="Text 10"/>
          <p:cNvSpPr txBox="1"/>
          <p:nvPr/>
        </p:nvSpPr>
        <p:spPr>
          <a:xfrm>
            <a:off x="3520440" y="2743200"/>
            <a:ext cx="1371600" cy="548640"/>
          </a:xfrm>
          <a:prstGeom prst="rect">
            <a:avLst/>
          </a:prstGeom>
          <a:noFill/>
          <a:ln/>
        </p:spPr>
        <p:txBody>
          <a:bodyPr wrap="square" lIns="0" tIns="0" rIns="0" bIns="0" rtlCol="0" anchor="t"/>
          <a:lstStyle/>
          <a:p>
            <a:pPr algn="ctr" indent="0" marL="0">
              <a:buNone/>
            </a:pPr>
            <a:r>
              <a:rPr lang="en-US" sz="1100" dirty="0">
                <a:solidFill>
                  <a:srgbClr val="5B7083"/>
                </a:solidFill>
                <a:latin typeface="Calibri" pitchFamily="34" charset="0"/>
                <a:ea typeface="Calibri" pitchFamily="34" charset="-122"/>
                <a:cs typeface="Calibri" pitchFamily="34" charset="-120"/>
              </a:rPr>
              <a:t>Etch SiGe away</a:t>
            </a:r>
            <a:endParaRPr lang="en-US" sz="1100" dirty="0"/>
          </a:p>
          <a:p>
            <a:pPr algn="ctr" indent="0" marL="0">
              <a:buNone/>
            </a:pPr>
            <a:r>
              <a:rPr lang="en-US" sz="1100" dirty="0">
                <a:solidFill>
                  <a:srgbClr val="5B7083"/>
                </a:solidFill>
                <a:latin typeface="Calibri" pitchFamily="34" charset="0"/>
                <a:ea typeface="Calibri" pitchFamily="34" charset="-122"/>
                <a:cs typeface="Calibri" pitchFamily="34" charset="-120"/>
              </a:rPr>
              <a:t>fill with gate</a:t>
            </a:r>
            <a:endParaRPr lang="en-US" sz="1100" dirty="0"/>
          </a:p>
        </p:txBody>
      </p:sp>
      <p:sp>
        <p:nvSpPr>
          <p:cNvPr id="13" name="Shape 11"/>
          <p:cNvSpPr/>
          <p:nvPr/>
        </p:nvSpPr>
        <p:spPr>
          <a:xfrm>
            <a:off x="5120640" y="1188720"/>
            <a:ext cx="3108960" cy="2514600"/>
          </a:xfrm>
          <a:prstGeom prst="rect">
            <a:avLst/>
          </a:prstGeom>
          <a:solidFill>
            <a:srgbClr val="C8763A"/>
          </a:solidFill>
          <a:ln w="12700">
            <a:solidFill>
              <a:srgbClr val="C8763A"/>
            </a:solidFill>
            <a:prstDash val="solid"/>
          </a:ln>
        </p:spPr>
      </p:sp>
      <p:sp>
        <p:nvSpPr>
          <p:cNvPr id="14" name="Shape 12"/>
          <p:cNvSpPr/>
          <p:nvPr/>
        </p:nvSpPr>
        <p:spPr>
          <a:xfrm>
            <a:off x="5486400" y="1655064"/>
            <a:ext cx="2377440" cy="292608"/>
          </a:xfrm>
          <a:prstGeom prst="rect">
            <a:avLst/>
          </a:prstGeom>
          <a:solidFill>
            <a:srgbClr val="2A9D8F"/>
          </a:solidFill>
          <a:ln w="12700">
            <a:solidFill>
              <a:srgbClr val="2A9D8F"/>
            </a:solidFill>
            <a:prstDash val="solid"/>
          </a:ln>
        </p:spPr>
      </p:sp>
      <p:sp>
        <p:nvSpPr>
          <p:cNvPr id="15" name="Shape 13"/>
          <p:cNvSpPr/>
          <p:nvPr/>
        </p:nvSpPr>
        <p:spPr>
          <a:xfrm>
            <a:off x="5285232" y="1490472"/>
            <a:ext cx="201168" cy="621792"/>
          </a:xfrm>
          <a:prstGeom prst="rect">
            <a:avLst/>
          </a:prstGeom>
          <a:solidFill>
            <a:srgbClr val="D5DDE5"/>
          </a:solidFill>
          <a:ln w="12700">
            <a:solidFill>
              <a:srgbClr val="D5DDE5"/>
            </a:solidFill>
            <a:prstDash val="solid"/>
          </a:ln>
        </p:spPr>
      </p:sp>
      <p:sp>
        <p:nvSpPr>
          <p:cNvPr id="16" name="Shape 14"/>
          <p:cNvSpPr/>
          <p:nvPr/>
        </p:nvSpPr>
        <p:spPr>
          <a:xfrm>
            <a:off x="7863840" y="1490472"/>
            <a:ext cx="201168" cy="621792"/>
          </a:xfrm>
          <a:prstGeom prst="rect">
            <a:avLst/>
          </a:prstGeom>
          <a:solidFill>
            <a:srgbClr val="D5DDE5"/>
          </a:solidFill>
          <a:ln w="12700">
            <a:solidFill>
              <a:srgbClr val="D5DDE5"/>
            </a:solidFill>
            <a:prstDash val="solid"/>
          </a:ln>
        </p:spPr>
      </p:sp>
      <p:sp>
        <p:nvSpPr>
          <p:cNvPr id="17" name="Shape 15"/>
          <p:cNvSpPr/>
          <p:nvPr/>
        </p:nvSpPr>
        <p:spPr>
          <a:xfrm>
            <a:off x="5486400" y="2313432"/>
            <a:ext cx="2377440" cy="292608"/>
          </a:xfrm>
          <a:prstGeom prst="rect">
            <a:avLst/>
          </a:prstGeom>
          <a:solidFill>
            <a:srgbClr val="2A9D8F"/>
          </a:solidFill>
          <a:ln w="12700">
            <a:solidFill>
              <a:srgbClr val="2A9D8F"/>
            </a:solidFill>
            <a:prstDash val="solid"/>
          </a:ln>
        </p:spPr>
      </p:sp>
      <p:sp>
        <p:nvSpPr>
          <p:cNvPr id="18" name="Shape 16"/>
          <p:cNvSpPr/>
          <p:nvPr/>
        </p:nvSpPr>
        <p:spPr>
          <a:xfrm>
            <a:off x="5285232" y="2148840"/>
            <a:ext cx="201168" cy="621792"/>
          </a:xfrm>
          <a:prstGeom prst="rect">
            <a:avLst/>
          </a:prstGeom>
          <a:solidFill>
            <a:srgbClr val="D5DDE5"/>
          </a:solidFill>
          <a:ln w="12700">
            <a:solidFill>
              <a:srgbClr val="D5DDE5"/>
            </a:solidFill>
            <a:prstDash val="solid"/>
          </a:ln>
        </p:spPr>
      </p:sp>
      <p:sp>
        <p:nvSpPr>
          <p:cNvPr id="19" name="Shape 17"/>
          <p:cNvSpPr/>
          <p:nvPr/>
        </p:nvSpPr>
        <p:spPr>
          <a:xfrm>
            <a:off x="7863840" y="2148840"/>
            <a:ext cx="201168" cy="621792"/>
          </a:xfrm>
          <a:prstGeom prst="rect">
            <a:avLst/>
          </a:prstGeom>
          <a:solidFill>
            <a:srgbClr val="D5DDE5"/>
          </a:solidFill>
          <a:ln w="12700">
            <a:solidFill>
              <a:srgbClr val="D5DDE5"/>
            </a:solidFill>
            <a:prstDash val="solid"/>
          </a:ln>
        </p:spPr>
      </p:sp>
      <p:sp>
        <p:nvSpPr>
          <p:cNvPr id="20" name="Shape 18"/>
          <p:cNvSpPr/>
          <p:nvPr/>
        </p:nvSpPr>
        <p:spPr>
          <a:xfrm>
            <a:off x="5486400" y="2971800"/>
            <a:ext cx="2377440" cy="292608"/>
          </a:xfrm>
          <a:prstGeom prst="rect">
            <a:avLst/>
          </a:prstGeom>
          <a:solidFill>
            <a:srgbClr val="2A9D8F"/>
          </a:solidFill>
          <a:ln w="12700">
            <a:solidFill>
              <a:srgbClr val="2A9D8F"/>
            </a:solidFill>
            <a:prstDash val="solid"/>
          </a:ln>
        </p:spPr>
      </p:sp>
      <p:sp>
        <p:nvSpPr>
          <p:cNvPr id="21" name="Shape 19"/>
          <p:cNvSpPr/>
          <p:nvPr/>
        </p:nvSpPr>
        <p:spPr>
          <a:xfrm>
            <a:off x="5285232" y="2807208"/>
            <a:ext cx="201168" cy="621792"/>
          </a:xfrm>
          <a:prstGeom prst="rect">
            <a:avLst/>
          </a:prstGeom>
          <a:solidFill>
            <a:srgbClr val="D5DDE5"/>
          </a:solidFill>
          <a:ln w="12700">
            <a:solidFill>
              <a:srgbClr val="D5DDE5"/>
            </a:solidFill>
            <a:prstDash val="solid"/>
          </a:ln>
        </p:spPr>
      </p:sp>
      <p:sp>
        <p:nvSpPr>
          <p:cNvPr id="22" name="Shape 20"/>
          <p:cNvSpPr/>
          <p:nvPr/>
        </p:nvSpPr>
        <p:spPr>
          <a:xfrm>
            <a:off x="7863840" y="2807208"/>
            <a:ext cx="201168" cy="621792"/>
          </a:xfrm>
          <a:prstGeom prst="rect">
            <a:avLst/>
          </a:prstGeom>
          <a:solidFill>
            <a:srgbClr val="D5DDE5"/>
          </a:solidFill>
          <a:ln w="12700">
            <a:solidFill>
              <a:srgbClr val="D5DDE5"/>
            </a:solidFill>
            <a:prstDash val="solid"/>
          </a:ln>
        </p:spPr>
      </p:sp>
      <p:sp>
        <p:nvSpPr>
          <p:cNvPr id="23" name="Shape 21"/>
          <p:cNvSpPr/>
          <p:nvPr/>
        </p:nvSpPr>
        <p:spPr>
          <a:xfrm>
            <a:off x="5120640" y="3703320"/>
            <a:ext cx="3108960" cy="182880"/>
          </a:xfrm>
          <a:prstGeom prst="rect">
            <a:avLst/>
          </a:prstGeom>
          <a:solidFill>
            <a:srgbClr val="5B7083"/>
          </a:solidFill>
          <a:ln w="12700">
            <a:solidFill>
              <a:srgbClr val="5B7083"/>
            </a:solidFill>
            <a:prstDash val="solid"/>
          </a:ln>
        </p:spPr>
      </p:sp>
      <p:sp>
        <p:nvSpPr>
          <p:cNvPr id="24" name="Text 22"/>
          <p:cNvSpPr txBox="1"/>
          <p:nvPr/>
        </p:nvSpPr>
        <p:spPr>
          <a:xfrm>
            <a:off x="4937760" y="3977640"/>
            <a:ext cx="3474720" cy="320040"/>
          </a:xfrm>
          <a:prstGeom prst="rect">
            <a:avLst/>
          </a:prstGeom>
          <a:noFill/>
          <a:ln/>
        </p:spPr>
        <p:txBody>
          <a:bodyPr wrap="square" lIns="0" tIns="0" rIns="0" bIns="0" rtlCol="0" anchor="t"/>
          <a:lstStyle/>
          <a:p>
            <a:pPr algn="ctr" indent="0" marL="0">
              <a:buNone/>
            </a:pPr>
            <a:r>
              <a:rPr lang="en-US" sz="1400" b="1" dirty="0">
                <a:solidFill>
                  <a:srgbClr val="0B1F33"/>
                </a:solidFill>
                <a:latin typeface="Calibri" pitchFamily="34" charset="0"/>
                <a:ea typeface="Calibri" pitchFamily="34" charset="-122"/>
                <a:cs typeface="Calibri" pitchFamily="34" charset="-120"/>
              </a:rPr>
              <a:t>6–7 · Channels released, gate wraps all around</a:t>
            </a:r>
            <a:endParaRPr lang="en-US" sz="1400" dirty="0"/>
          </a:p>
        </p:txBody>
      </p:sp>
      <p:sp>
        <p:nvSpPr>
          <p:cNvPr id="25" name="Text 23"/>
          <p:cNvSpPr txBox="1"/>
          <p:nvPr/>
        </p:nvSpPr>
        <p:spPr>
          <a:xfrm>
            <a:off x="457200" y="4389120"/>
            <a:ext cx="8229600" cy="274320"/>
          </a:xfrm>
          <a:prstGeom prst="rect">
            <a:avLst/>
          </a:prstGeom>
          <a:noFill/>
          <a:ln/>
        </p:spPr>
        <p:txBody>
          <a:bodyPr wrap="square" lIns="0" tIns="0" rIns="0" bIns="0" rtlCol="0" anchor="t"/>
          <a:lstStyle/>
          <a:p>
            <a:pPr algn="ctr" indent="0" marL="0">
              <a:buNone/>
            </a:pPr>
            <a:r>
              <a:rPr lang="en-US" sz="1100" dirty="0">
                <a:solidFill>
                  <a:srgbClr val="5B7083"/>
                </a:solidFill>
                <a:latin typeface="Calibri" pitchFamily="34" charset="0"/>
                <a:ea typeface="Calibri" pitchFamily="34" charset="-122"/>
                <a:cs typeface="Calibri" pitchFamily="34" charset="-120"/>
              </a:rPr>
              <a:t>Teal = Si channel  ·  Amber = SiGe (sacrificial)  ·  Copper = gate  ·  Light grey = inner spacers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Eight steps; three of them are the hard part</a:t>
            </a:r>
            <a:endParaRPr lang="en-US" sz="2800" dirty="0"/>
          </a:p>
        </p:txBody>
      </p:sp>
      <p:sp>
        <p:nvSpPr>
          <p:cNvPr id="3" name="Shape 1"/>
          <p:cNvSpPr/>
          <p:nvPr/>
        </p:nvSpPr>
        <p:spPr>
          <a:xfrm>
            <a:off x="457200" y="1143000"/>
            <a:ext cx="1920240" cy="1325880"/>
          </a:xfrm>
          <a:prstGeom prst="roundRect">
            <a:avLst>
              <a:gd name="adj" fmla="val 5517"/>
            </a:avLst>
          </a:prstGeom>
          <a:solidFill>
            <a:srgbClr val="EEF2F6"/>
          </a:solidFill>
          <a:ln w="6350">
            <a:solidFill>
              <a:srgbClr val="EEF2F6"/>
            </a:solidFill>
            <a:prstDash val="solid"/>
          </a:ln>
        </p:spPr>
      </p:sp>
      <p:sp>
        <p:nvSpPr>
          <p:cNvPr id="4" name="Shape 2"/>
          <p:cNvSpPr/>
          <p:nvPr/>
        </p:nvSpPr>
        <p:spPr>
          <a:xfrm>
            <a:off x="594360" y="1280160"/>
            <a:ext cx="365760" cy="365760"/>
          </a:xfrm>
          <a:prstGeom prst="ellipse">
            <a:avLst/>
          </a:prstGeom>
          <a:solidFill>
            <a:srgbClr val="5B7083"/>
          </a:solidFill>
          <a:ln w="12700">
            <a:solidFill>
              <a:srgbClr val="5B7083"/>
            </a:solidFill>
            <a:prstDash val="solid"/>
          </a:ln>
        </p:spPr>
      </p:sp>
      <p:sp>
        <p:nvSpPr>
          <p:cNvPr id="5" name="Text 3"/>
          <p:cNvSpPr txBox="1"/>
          <p:nvPr/>
        </p:nvSpPr>
        <p:spPr>
          <a:xfrm>
            <a:off x="5943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594360" y="17373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Superlattice epi</a:t>
            </a:r>
            <a:endParaRPr lang="en-US" sz="1400" dirty="0"/>
          </a:p>
        </p:txBody>
      </p:sp>
      <p:sp>
        <p:nvSpPr>
          <p:cNvPr id="7" name="Shape 5"/>
          <p:cNvSpPr/>
          <p:nvPr/>
        </p:nvSpPr>
        <p:spPr>
          <a:xfrm>
            <a:off x="2560320" y="1143000"/>
            <a:ext cx="1920240" cy="1325880"/>
          </a:xfrm>
          <a:prstGeom prst="roundRect">
            <a:avLst>
              <a:gd name="adj" fmla="val 5517"/>
            </a:avLst>
          </a:prstGeom>
          <a:solidFill>
            <a:srgbClr val="EEF2F6"/>
          </a:solidFill>
          <a:ln w="6350">
            <a:solidFill>
              <a:srgbClr val="EEF2F6"/>
            </a:solidFill>
            <a:prstDash val="solid"/>
          </a:ln>
        </p:spPr>
      </p:sp>
      <p:sp>
        <p:nvSpPr>
          <p:cNvPr id="8" name="Shape 6"/>
          <p:cNvSpPr/>
          <p:nvPr/>
        </p:nvSpPr>
        <p:spPr>
          <a:xfrm>
            <a:off x="2697480" y="1280160"/>
            <a:ext cx="365760" cy="365760"/>
          </a:xfrm>
          <a:prstGeom prst="ellipse">
            <a:avLst/>
          </a:prstGeom>
          <a:solidFill>
            <a:srgbClr val="5B7083"/>
          </a:solidFill>
          <a:ln w="12700">
            <a:solidFill>
              <a:srgbClr val="5B7083"/>
            </a:solidFill>
            <a:prstDash val="solid"/>
          </a:ln>
        </p:spPr>
      </p:sp>
      <p:sp>
        <p:nvSpPr>
          <p:cNvPr id="9" name="Text 7"/>
          <p:cNvSpPr txBox="1"/>
          <p:nvPr/>
        </p:nvSpPr>
        <p:spPr>
          <a:xfrm>
            <a:off x="269748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2697480" y="17373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Pattern fins</a:t>
            </a:r>
            <a:endParaRPr lang="en-US" sz="1400" dirty="0"/>
          </a:p>
        </p:txBody>
      </p:sp>
      <p:sp>
        <p:nvSpPr>
          <p:cNvPr id="11" name="Shape 9"/>
          <p:cNvSpPr/>
          <p:nvPr/>
        </p:nvSpPr>
        <p:spPr>
          <a:xfrm>
            <a:off x="4663440" y="1143000"/>
            <a:ext cx="1920240" cy="1325880"/>
          </a:xfrm>
          <a:prstGeom prst="roundRect">
            <a:avLst>
              <a:gd name="adj" fmla="val 5517"/>
            </a:avLst>
          </a:prstGeom>
          <a:solidFill>
            <a:srgbClr val="EEF2F6"/>
          </a:solidFill>
          <a:ln w="6350">
            <a:solidFill>
              <a:srgbClr val="EEF2F6"/>
            </a:solidFill>
            <a:prstDash val="solid"/>
          </a:ln>
        </p:spPr>
      </p:sp>
      <p:sp>
        <p:nvSpPr>
          <p:cNvPr id="12" name="Shape 10"/>
          <p:cNvSpPr/>
          <p:nvPr/>
        </p:nvSpPr>
        <p:spPr>
          <a:xfrm>
            <a:off x="4800600" y="1280160"/>
            <a:ext cx="365760" cy="365760"/>
          </a:xfrm>
          <a:prstGeom prst="ellipse">
            <a:avLst/>
          </a:prstGeom>
          <a:solidFill>
            <a:srgbClr val="5B7083"/>
          </a:solidFill>
          <a:ln w="12700">
            <a:solidFill>
              <a:srgbClr val="5B7083"/>
            </a:solidFill>
            <a:prstDash val="solid"/>
          </a:ln>
        </p:spPr>
      </p:sp>
      <p:sp>
        <p:nvSpPr>
          <p:cNvPr id="13" name="Text 11"/>
          <p:cNvSpPr txBox="1"/>
          <p:nvPr/>
        </p:nvSpPr>
        <p:spPr>
          <a:xfrm>
            <a:off x="480060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4800600" y="17373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Dummy gate + spacers</a:t>
            </a:r>
            <a:endParaRPr lang="en-US" sz="1400" dirty="0"/>
          </a:p>
        </p:txBody>
      </p:sp>
      <p:sp>
        <p:nvSpPr>
          <p:cNvPr id="15" name="Shape 13"/>
          <p:cNvSpPr/>
          <p:nvPr/>
        </p:nvSpPr>
        <p:spPr>
          <a:xfrm>
            <a:off x="6766560" y="1143000"/>
            <a:ext cx="1920240" cy="1325880"/>
          </a:xfrm>
          <a:prstGeom prst="roundRect">
            <a:avLst>
              <a:gd name="adj" fmla="val 5517"/>
            </a:avLst>
          </a:prstGeom>
          <a:solidFill>
            <a:srgbClr val="F6E7DA"/>
          </a:solidFill>
          <a:ln w="19050">
            <a:solidFill>
              <a:srgbClr val="C8763A"/>
            </a:solidFill>
            <a:prstDash val="solid"/>
          </a:ln>
        </p:spPr>
      </p:sp>
      <p:sp>
        <p:nvSpPr>
          <p:cNvPr id="16" name="Shape 14"/>
          <p:cNvSpPr/>
          <p:nvPr/>
        </p:nvSpPr>
        <p:spPr>
          <a:xfrm>
            <a:off x="6903720" y="1280160"/>
            <a:ext cx="365760" cy="365760"/>
          </a:xfrm>
          <a:prstGeom prst="ellipse">
            <a:avLst/>
          </a:prstGeom>
          <a:solidFill>
            <a:srgbClr val="C8763A"/>
          </a:solidFill>
          <a:ln w="12700">
            <a:solidFill>
              <a:srgbClr val="C8763A"/>
            </a:solidFill>
            <a:prstDash val="solid"/>
          </a:ln>
        </p:spPr>
      </p:sp>
      <p:sp>
        <p:nvSpPr>
          <p:cNvPr id="17" name="Text 15"/>
          <p:cNvSpPr txBox="1"/>
          <p:nvPr/>
        </p:nvSpPr>
        <p:spPr>
          <a:xfrm>
            <a:off x="690372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6903720" y="17373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Inner spacers</a:t>
            </a:r>
            <a:endParaRPr lang="en-US" sz="1400" dirty="0"/>
          </a:p>
        </p:txBody>
      </p:sp>
      <p:sp>
        <p:nvSpPr>
          <p:cNvPr id="19" name="Shape 17"/>
          <p:cNvSpPr/>
          <p:nvPr/>
        </p:nvSpPr>
        <p:spPr>
          <a:xfrm>
            <a:off x="457200" y="2743200"/>
            <a:ext cx="1920240" cy="1325880"/>
          </a:xfrm>
          <a:prstGeom prst="roundRect">
            <a:avLst>
              <a:gd name="adj" fmla="val 5517"/>
            </a:avLst>
          </a:prstGeom>
          <a:solidFill>
            <a:srgbClr val="EEF2F6"/>
          </a:solidFill>
          <a:ln w="6350">
            <a:solidFill>
              <a:srgbClr val="EEF2F6"/>
            </a:solidFill>
            <a:prstDash val="solid"/>
          </a:ln>
        </p:spPr>
      </p:sp>
      <p:sp>
        <p:nvSpPr>
          <p:cNvPr id="20" name="Shape 18"/>
          <p:cNvSpPr/>
          <p:nvPr/>
        </p:nvSpPr>
        <p:spPr>
          <a:xfrm>
            <a:off x="594360" y="2880360"/>
            <a:ext cx="365760" cy="365760"/>
          </a:xfrm>
          <a:prstGeom prst="ellipse">
            <a:avLst/>
          </a:prstGeom>
          <a:solidFill>
            <a:srgbClr val="5B7083"/>
          </a:solidFill>
          <a:ln w="12700">
            <a:solidFill>
              <a:srgbClr val="5B7083"/>
            </a:solidFill>
            <a:prstDash val="solid"/>
          </a:ln>
        </p:spPr>
      </p:sp>
      <p:sp>
        <p:nvSpPr>
          <p:cNvPr id="21" name="Text 19"/>
          <p:cNvSpPr txBox="1"/>
          <p:nvPr/>
        </p:nvSpPr>
        <p:spPr>
          <a:xfrm>
            <a:off x="59436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2" name="Text 20"/>
          <p:cNvSpPr txBox="1"/>
          <p:nvPr/>
        </p:nvSpPr>
        <p:spPr>
          <a:xfrm>
            <a:off x="594360" y="33375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Source/drain epi</a:t>
            </a:r>
            <a:endParaRPr lang="en-US" sz="1400" dirty="0"/>
          </a:p>
        </p:txBody>
      </p:sp>
      <p:sp>
        <p:nvSpPr>
          <p:cNvPr id="23" name="Shape 21"/>
          <p:cNvSpPr/>
          <p:nvPr/>
        </p:nvSpPr>
        <p:spPr>
          <a:xfrm>
            <a:off x="2560320" y="2743200"/>
            <a:ext cx="1920240" cy="1325880"/>
          </a:xfrm>
          <a:prstGeom prst="roundRect">
            <a:avLst>
              <a:gd name="adj" fmla="val 5517"/>
            </a:avLst>
          </a:prstGeom>
          <a:solidFill>
            <a:srgbClr val="F6E7DA"/>
          </a:solidFill>
          <a:ln w="19050">
            <a:solidFill>
              <a:srgbClr val="C8763A"/>
            </a:solidFill>
            <a:prstDash val="solid"/>
          </a:ln>
        </p:spPr>
      </p:sp>
      <p:sp>
        <p:nvSpPr>
          <p:cNvPr id="24" name="Shape 22"/>
          <p:cNvSpPr/>
          <p:nvPr/>
        </p:nvSpPr>
        <p:spPr>
          <a:xfrm>
            <a:off x="2697480" y="2880360"/>
            <a:ext cx="365760" cy="365760"/>
          </a:xfrm>
          <a:prstGeom prst="ellipse">
            <a:avLst/>
          </a:prstGeom>
          <a:solidFill>
            <a:srgbClr val="C8763A"/>
          </a:solidFill>
          <a:ln w="12700">
            <a:solidFill>
              <a:srgbClr val="C8763A"/>
            </a:solidFill>
            <a:prstDash val="solid"/>
          </a:ln>
        </p:spPr>
      </p:sp>
      <p:sp>
        <p:nvSpPr>
          <p:cNvPr id="25" name="Text 23"/>
          <p:cNvSpPr txBox="1"/>
          <p:nvPr/>
        </p:nvSpPr>
        <p:spPr>
          <a:xfrm>
            <a:off x="269748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6" name="Text 24"/>
          <p:cNvSpPr txBox="1"/>
          <p:nvPr/>
        </p:nvSpPr>
        <p:spPr>
          <a:xfrm>
            <a:off x="2697480" y="33375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Channel release</a:t>
            </a:r>
            <a:endParaRPr lang="en-US" sz="1400" dirty="0"/>
          </a:p>
        </p:txBody>
      </p:sp>
      <p:sp>
        <p:nvSpPr>
          <p:cNvPr id="27" name="Shape 25"/>
          <p:cNvSpPr/>
          <p:nvPr/>
        </p:nvSpPr>
        <p:spPr>
          <a:xfrm>
            <a:off x="4663440" y="2743200"/>
            <a:ext cx="1920240" cy="1325880"/>
          </a:xfrm>
          <a:prstGeom prst="roundRect">
            <a:avLst>
              <a:gd name="adj" fmla="val 5517"/>
            </a:avLst>
          </a:prstGeom>
          <a:solidFill>
            <a:srgbClr val="F6E7DA"/>
          </a:solidFill>
          <a:ln w="19050">
            <a:solidFill>
              <a:srgbClr val="C8763A"/>
            </a:solidFill>
            <a:prstDash val="solid"/>
          </a:ln>
        </p:spPr>
      </p:sp>
      <p:sp>
        <p:nvSpPr>
          <p:cNvPr id="28" name="Shape 26"/>
          <p:cNvSpPr/>
          <p:nvPr/>
        </p:nvSpPr>
        <p:spPr>
          <a:xfrm>
            <a:off x="4800600" y="2880360"/>
            <a:ext cx="365760" cy="365760"/>
          </a:xfrm>
          <a:prstGeom prst="ellipse">
            <a:avLst/>
          </a:prstGeom>
          <a:solidFill>
            <a:srgbClr val="C8763A"/>
          </a:solidFill>
          <a:ln w="12700">
            <a:solidFill>
              <a:srgbClr val="C8763A"/>
            </a:solidFill>
            <a:prstDash val="solid"/>
          </a:ln>
        </p:spPr>
      </p:sp>
      <p:sp>
        <p:nvSpPr>
          <p:cNvPr id="29" name="Text 27"/>
          <p:cNvSpPr txBox="1"/>
          <p:nvPr/>
        </p:nvSpPr>
        <p:spPr>
          <a:xfrm>
            <a:off x="480060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0" name="Text 28"/>
          <p:cNvSpPr txBox="1"/>
          <p:nvPr/>
        </p:nvSpPr>
        <p:spPr>
          <a:xfrm>
            <a:off x="4800600" y="33375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Gate stack (ALD)</a:t>
            </a:r>
            <a:endParaRPr lang="en-US" sz="1400" dirty="0"/>
          </a:p>
        </p:txBody>
      </p:sp>
      <p:sp>
        <p:nvSpPr>
          <p:cNvPr id="31" name="Shape 29"/>
          <p:cNvSpPr/>
          <p:nvPr/>
        </p:nvSpPr>
        <p:spPr>
          <a:xfrm>
            <a:off x="6766560" y="2743200"/>
            <a:ext cx="1920240" cy="1325880"/>
          </a:xfrm>
          <a:prstGeom prst="roundRect">
            <a:avLst>
              <a:gd name="adj" fmla="val 5517"/>
            </a:avLst>
          </a:prstGeom>
          <a:solidFill>
            <a:srgbClr val="EEF2F6"/>
          </a:solidFill>
          <a:ln w="6350">
            <a:solidFill>
              <a:srgbClr val="EEF2F6"/>
            </a:solidFill>
            <a:prstDash val="solid"/>
          </a:ln>
        </p:spPr>
      </p:sp>
      <p:sp>
        <p:nvSpPr>
          <p:cNvPr id="32" name="Shape 30"/>
          <p:cNvSpPr/>
          <p:nvPr/>
        </p:nvSpPr>
        <p:spPr>
          <a:xfrm>
            <a:off x="6903720" y="2880360"/>
            <a:ext cx="365760" cy="365760"/>
          </a:xfrm>
          <a:prstGeom prst="ellipse">
            <a:avLst/>
          </a:prstGeom>
          <a:solidFill>
            <a:srgbClr val="5B7083"/>
          </a:solidFill>
          <a:ln w="12700">
            <a:solidFill>
              <a:srgbClr val="5B7083"/>
            </a:solidFill>
            <a:prstDash val="solid"/>
          </a:ln>
        </p:spPr>
      </p:sp>
      <p:sp>
        <p:nvSpPr>
          <p:cNvPr id="33" name="Text 31"/>
          <p:cNvSpPr txBox="1"/>
          <p:nvPr/>
        </p:nvSpPr>
        <p:spPr>
          <a:xfrm>
            <a:off x="690372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34" name="Text 32"/>
          <p:cNvSpPr txBox="1"/>
          <p:nvPr/>
        </p:nvSpPr>
        <p:spPr>
          <a:xfrm>
            <a:off x="6903720" y="3337560"/>
            <a:ext cx="1645920" cy="548640"/>
          </a:xfrm>
          <a:prstGeom prst="rect">
            <a:avLst/>
          </a:prstGeom>
          <a:noFill/>
          <a:ln/>
        </p:spPr>
        <p:txBody>
          <a:bodyPr wrap="square" lIns="0" tIns="0" rIns="0" bIns="0" rtlCol="0" anchor="t"/>
          <a:lstStyle/>
          <a:p>
            <a:pPr indent="0" marL="0">
              <a:buNone/>
            </a:pPr>
            <a:r>
              <a:rPr lang="en-US" sz="1400" b="1" dirty="0">
                <a:solidFill>
                  <a:srgbClr val="0B1F33"/>
                </a:solidFill>
                <a:latin typeface="Calibri" pitchFamily="34" charset="0"/>
                <a:ea typeface="Calibri" pitchFamily="34" charset="-122"/>
                <a:cs typeface="Calibri" pitchFamily="34" charset="-120"/>
              </a:rPr>
              <a:t>Contacts + BEOL</a:t>
            </a:r>
            <a:endParaRPr lang="en-US" sz="1400" dirty="0"/>
          </a:p>
        </p:txBody>
      </p:sp>
      <p:sp>
        <p:nvSpPr>
          <p:cNvPr id="35" name="Text 33"/>
          <p:cNvSpPr txBox="1"/>
          <p:nvPr/>
        </p:nvSpPr>
        <p:spPr>
          <a:xfrm>
            <a:off x="457200" y="4343400"/>
            <a:ext cx="8229600" cy="411480"/>
          </a:xfrm>
          <a:prstGeom prst="rect">
            <a:avLst/>
          </a:prstGeom>
          <a:noFill/>
          <a:ln/>
        </p:spPr>
        <p:txBody>
          <a:bodyPr wrap="square" lIns="0" tIns="0" rIns="0" bIns="0" rtlCol="0" anchor="t"/>
          <a:lstStyle/>
          <a:p>
            <a:pPr indent="0" marL="0">
              <a:buNone/>
            </a:pPr>
            <a:r>
              <a:rPr lang="en-US" sz="1200" dirty="0">
                <a:solidFill>
                  <a:srgbClr val="5B7083"/>
                </a:solidFill>
                <a:latin typeface="Calibri" pitchFamily="34" charset="0"/>
                <a:ea typeface="Calibri" pitchFamily="34" charset="-122"/>
                <a:cs typeface="Calibri" pitchFamily="34" charset="-120"/>
              </a:rPr>
              <a:t>Highlighted: lateral SiGe recess to nm control, selective SiGe removal, and fitting high-k + work-function metals into ~10 nm gaps (this limits Vt flavours).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Backside power: signals on top, power underneath</a:t>
            </a:r>
            <a:endParaRPr lang="en-US" sz="2800" dirty="0"/>
          </a:p>
        </p:txBody>
      </p:sp>
      <p:sp>
        <p:nvSpPr>
          <p:cNvPr id="3" name="Shape 1"/>
          <p:cNvSpPr/>
          <p:nvPr/>
        </p:nvSpPr>
        <p:spPr>
          <a:xfrm>
            <a:off x="457200" y="1188720"/>
            <a:ext cx="2011680" cy="1463040"/>
          </a:xfrm>
          <a:prstGeom prst="rect">
            <a:avLst/>
          </a:prstGeom>
          <a:solidFill>
            <a:srgbClr val="C8763A"/>
          </a:solidFill>
          <a:ln w="12700">
            <a:solidFill>
              <a:srgbClr val="FFFFFF"/>
            </a:solidFill>
            <a:prstDash val="solid"/>
          </a:ln>
        </p:spPr>
      </p:sp>
      <p:sp>
        <p:nvSpPr>
          <p:cNvPr id="4" name="Text 2"/>
          <p:cNvSpPr txBox="1"/>
          <p:nvPr/>
        </p:nvSpPr>
        <p:spPr>
          <a:xfrm>
            <a:off x="548640" y="1188720"/>
            <a:ext cx="1828800" cy="14630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Signal + power wiring</a:t>
            </a:r>
            <a:endParaRPr lang="en-US" sz="1100" dirty="0"/>
          </a:p>
        </p:txBody>
      </p:sp>
      <p:sp>
        <p:nvSpPr>
          <p:cNvPr id="5" name="Shape 3"/>
          <p:cNvSpPr/>
          <p:nvPr/>
        </p:nvSpPr>
        <p:spPr>
          <a:xfrm>
            <a:off x="457200" y="2651760"/>
            <a:ext cx="2011680" cy="411480"/>
          </a:xfrm>
          <a:prstGeom prst="rect">
            <a:avLst/>
          </a:prstGeom>
          <a:solidFill>
            <a:srgbClr val="2A9D8F"/>
          </a:solidFill>
          <a:ln w="12700">
            <a:solidFill>
              <a:srgbClr val="FFFFFF"/>
            </a:solidFill>
            <a:prstDash val="solid"/>
          </a:ln>
        </p:spPr>
      </p:sp>
      <p:sp>
        <p:nvSpPr>
          <p:cNvPr id="6" name="Text 4"/>
          <p:cNvSpPr txBox="1"/>
          <p:nvPr/>
        </p:nvSpPr>
        <p:spPr>
          <a:xfrm>
            <a:off x="548640" y="2651760"/>
            <a:ext cx="18288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Transistors</a:t>
            </a:r>
            <a:endParaRPr lang="en-US" sz="1100" dirty="0"/>
          </a:p>
        </p:txBody>
      </p:sp>
      <p:sp>
        <p:nvSpPr>
          <p:cNvPr id="7" name="Shape 5"/>
          <p:cNvSpPr/>
          <p:nvPr/>
        </p:nvSpPr>
        <p:spPr>
          <a:xfrm>
            <a:off x="457200" y="3063240"/>
            <a:ext cx="2011680" cy="914400"/>
          </a:xfrm>
          <a:prstGeom prst="rect">
            <a:avLst/>
          </a:prstGeom>
          <a:solidFill>
            <a:srgbClr val="5B7083"/>
          </a:solidFill>
          <a:ln w="12700">
            <a:solidFill>
              <a:srgbClr val="FFFFFF"/>
            </a:solidFill>
            <a:prstDash val="solid"/>
          </a:ln>
        </p:spPr>
      </p:sp>
      <p:sp>
        <p:nvSpPr>
          <p:cNvPr id="8" name="Text 6"/>
          <p:cNvSpPr txBox="1"/>
          <p:nvPr/>
        </p:nvSpPr>
        <p:spPr>
          <a:xfrm>
            <a:off x="548640" y="3063240"/>
            <a:ext cx="1828800" cy="9144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Silicon substrate</a:t>
            </a:r>
            <a:endParaRPr lang="en-US" sz="1100" dirty="0"/>
          </a:p>
        </p:txBody>
      </p:sp>
      <p:sp>
        <p:nvSpPr>
          <p:cNvPr id="9" name="Text 7"/>
          <p:cNvSpPr txBox="1"/>
          <p:nvPr/>
        </p:nvSpPr>
        <p:spPr>
          <a:xfrm>
            <a:off x="457200" y="4069080"/>
            <a:ext cx="2011680" cy="320040"/>
          </a:xfrm>
          <a:prstGeom prst="rect">
            <a:avLst/>
          </a:prstGeom>
          <a:noFill/>
          <a:ln/>
        </p:spPr>
        <p:txBody>
          <a:bodyPr wrap="square" lIns="0" tIns="0" rIns="0" bIns="0" rtlCol="0" anchor="t"/>
          <a:lstStyle/>
          <a:p>
            <a:pPr algn="ctr" indent="0" marL="0">
              <a:buNone/>
            </a:pPr>
            <a:r>
              <a:rPr lang="en-US" sz="1400" b="1" dirty="0">
                <a:solidFill>
                  <a:srgbClr val="0B1F33"/>
                </a:solidFill>
                <a:latin typeface="Calibri" pitchFamily="34" charset="0"/>
                <a:ea typeface="Calibri" pitchFamily="34" charset="-122"/>
                <a:cs typeface="Calibri" pitchFamily="34" charset="-120"/>
              </a:rPr>
              <a:t>Traditional</a:t>
            </a:r>
            <a:endParaRPr lang="en-US" sz="1400" dirty="0"/>
          </a:p>
        </p:txBody>
      </p:sp>
      <p:sp>
        <p:nvSpPr>
          <p:cNvPr id="10" name="Shape 8"/>
          <p:cNvSpPr/>
          <p:nvPr/>
        </p:nvSpPr>
        <p:spPr>
          <a:xfrm>
            <a:off x="2743200" y="1188720"/>
            <a:ext cx="2011680" cy="502920"/>
          </a:xfrm>
          <a:prstGeom prst="rect">
            <a:avLst/>
          </a:prstGeom>
          <a:solidFill>
            <a:srgbClr val="5B7083"/>
          </a:solidFill>
          <a:ln w="12700">
            <a:solidFill>
              <a:srgbClr val="FFFFFF"/>
            </a:solidFill>
            <a:prstDash val="solid"/>
          </a:ln>
        </p:spPr>
      </p:sp>
      <p:sp>
        <p:nvSpPr>
          <p:cNvPr id="11" name="Text 9"/>
          <p:cNvSpPr txBox="1"/>
          <p:nvPr/>
        </p:nvSpPr>
        <p:spPr>
          <a:xfrm>
            <a:off x="2834640" y="1188720"/>
            <a:ext cx="182880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Carrier wafer</a:t>
            </a:r>
            <a:endParaRPr lang="en-US" sz="1100" dirty="0"/>
          </a:p>
        </p:txBody>
      </p:sp>
      <p:sp>
        <p:nvSpPr>
          <p:cNvPr id="12" name="Shape 10"/>
          <p:cNvSpPr/>
          <p:nvPr/>
        </p:nvSpPr>
        <p:spPr>
          <a:xfrm>
            <a:off x="2743200" y="1691640"/>
            <a:ext cx="2011680" cy="1097280"/>
          </a:xfrm>
          <a:prstGeom prst="rect">
            <a:avLst/>
          </a:prstGeom>
          <a:solidFill>
            <a:srgbClr val="0B1F33"/>
          </a:solidFill>
          <a:ln w="12700">
            <a:solidFill>
              <a:srgbClr val="FFFFFF"/>
            </a:solidFill>
            <a:prstDash val="solid"/>
          </a:ln>
        </p:spPr>
      </p:sp>
      <p:sp>
        <p:nvSpPr>
          <p:cNvPr id="13" name="Text 11"/>
          <p:cNvSpPr txBox="1"/>
          <p:nvPr/>
        </p:nvSpPr>
        <p:spPr>
          <a:xfrm>
            <a:off x="2834640" y="1691640"/>
            <a:ext cx="1828800" cy="10972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Signal wiring only</a:t>
            </a:r>
            <a:endParaRPr lang="en-US" sz="1100" dirty="0"/>
          </a:p>
        </p:txBody>
      </p:sp>
      <p:sp>
        <p:nvSpPr>
          <p:cNvPr id="14" name="Shape 12"/>
          <p:cNvSpPr/>
          <p:nvPr/>
        </p:nvSpPr>
        <p:spPr>
          <a:xfrm>
            <a:off x="2743200" y="2788920"/>
            <a:ext cx="2011680" cy="411480"/>
          </a:xfrm>
          <a:prstGeom prst="rect">
            <a:avLst/>
          </a:prstGeom>
          <a:solidFill>
            <a:srgbClr val="2A9D8F"/>
          </a:solidFill>
          <a:ln w="12700">
            <a:solidFill>
              <a:srgbClr val="FFFFFF"/>
            </a:solidFill>
            <a:prstDash val="solid"/>
          </a:ln>
        </p:spPr>
      </p:sp>
      <p:sp>
        <p:nvSpPr>
          <p:cNvPr id="15" name="Text 13"/>
          <p:cNvSpPr txBox="1"/>
          <p:nvPr/>
        </p:nvSpPr>
        <p:spPr>
          <a:xfrm>
            <a:off x="2834640" y="2788920"/>
            <a:ext cx="1828800" cy="4114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Transistors</a:t>
            </a:r>
            <a:endParaRPr lang="en-US" sz="1100" dirty="0"/>
          </a:p>
        </p:txBody>
      </p:sp>
      <p:sp>
        <p:nvSpPr>
          <p:cNvPr id="16" name="Shape 14"/>
          <p:cNvSpPr/>
          <p:nvPr/>
        </p:nvSpPr>
        <p:spPr>
          <a:xfrm>
            <a:off x="2743200" y="3200400"/>
            <a:ext cx="2011680" cy="777240"/>
          </a:xfrm>
          <a:prstGeom prst="rect">
            <a:avLst/>
          </a:prstGeom>
          <a:solidFill>
            <a:srgbClr val="C8763A"/>
          </a:solidFill>
          <a:ln w="12700">
            <a:solidFill>
              <a:srgbClr val="FFFFFF"/>
            </a:solidFill>
            <a:prstDash val="solid"/>
          </a:ln>
        </p:spPr>
      </p:sp>
      <p:sp>
        <p:nvSpPr>
          <p:cNvPr id="17" name="Text 15"/>
          <p:cNvSpPr txBox="1"/>
          <p:nvPr/>
        </p:nvSpPr>
        <p:spPr>
          <a:xfrm>
            <a:off x="2834640" y="3200400"/>
            <a:ext cx="1828800" cy="7772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Power network</a:t>
            </a:r>
            <a:endParaRPr lang="en-US" sz="1100" dirty="0"/>
          </a:p>
        </p:txBody>
      </p:sp>
      <p:sp>
        <p:nvSpPr>
          <p:cNvPr id="18" name="Text 16"/>
          <p:cNvSpPr txBox="1"/>
          <p:nvPr/>
        </p:nvSpPr>
        <p:spPr>
          <a:xfrm>
            <a:off x="2743200" y="4069080"/>
            <a:ext cx="2011680" cy="320040"/>
          </a:xfrm>
          <a:prstGeom prst="rect">
            <a:avLst/>
          </a:prstGeom>
          <a:noFill/>
          <a:ln/>
        </p:spPr>
        <p:txBody>
          <a:bodyPr wrap="square" lIns="0" tIns="0" rIns="0" bIns="0" rtlCol="0" anchor="t"/>
          <a:lstStyle/>
          <a:p>
            <a:pPr algn="ctr" indent="0" marL="0">
              <a:buNone/>
            </a:pPr>
            <a:r>
              <a:rPr lang="en-US" sz="1400" b="1" dirty="0">
                <a:solidFill>
                  <a:srgbClr val="0B1F33"/>
                </a:solidFill>
                <a:latin typeface="Calibri" pitchFamily="34" charset="0"/>
                <a:ea typeface="Calibri" pitchFamily="34" charset="-122"/>
                <a:cs typeface="Calibri" pitchFamily="34" charset="-120"/>
              </a:rPr>
              <a:t>Backside power</a:t>
            </a:r>
            <a:endParaRPr lang="en-US" sz="1400" dirty="0"/>
          </a:p>
        </p:txBody>
      </p:sp>
      <p:sp>
        <p:nvSpPr>
          <p:cNvPr id="19" name="Shape 17"/>
          <p:cNvSpPr/>
          <p:nvPr/>
        </p:nvSpPr>
        <p:spPr>
          <a:xfrm>
            <a:off x="5120640" y="1188720"/>
            <a:ext cx="3566160" cy="1508760"/>
          </a:xfrm>
          <a:prstGeom prst="roundRect">
            <a:avLst>
              <a:gd name="adj" fmla="val 4848"/>
            </a:avLst>
          </a:prstGeom>
          <a:solidFill>
            <a:srgbClr val="DDF1EE"/>
          </a:solidFill>
          <a:ln w="12700">
            <a:solidFill>
              <a:srgbClr val="DDF1EE"/>
            </a:solidFill>
            <a:prstDash val="solid"/>
          </a:ln>
        </p:spPr>
      </p:sp>
      <p:sp>
        <p:nvSpPr>
          <p:cNvPr id="20" name="Text 18"/>
          <p:cNvSpPr txBox="1"/>
          <p:nvPr/>
        </p:nvSpPr>
        <p:spPr>
          <a:xfrm>
            <a:off x="5285232" y="1325880"/>
            <a:ext cx="326440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Gains</a:t>
            </a:r>
            <a:endParaRPr lang="en-US" sz="1500" dirty="0"/>
          </a:p>
        </p:txBody>
      </p:sp>
      <p:sp>
        <p:nvSpPr>
          <p:cNvPr id="21" name="Text 19"/>
          <p:cNvSpPr txBox="1"/>
          <p:nvPr/>
        </p:nvSpPr>
        <p:spPr>
          <a:xfrm>
            <a:off x="5285232" y="1755648"/>
            <a:ext cx="3236976" cy="82296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Lower IR drop · more routing tracks · higher density and clock for power-hungry AI chips</a:t>
            </a:r>
            <a:endParaRPr lang="en-US" sz="1300" dirty="0"/>
          </a:p>
        </p:txBody>
      </p:sp>
      <p:sp>
        <p:nvSpPr>
          <p:cNvPr id="22" name="Shape 20"/>
          <p:cNvSpPr/>
          <p:nvPr/>
        </p:nvSpPr>
        <p:spPr>
          <a:xfrm>
            <a:off x="5120640" y="2834640"/>
            <a:ext cx="3566160" cy="1508760"/>
          </a:xfrm>
          <a:prstGeom prst="roundRect">
            <a:avLst>
              <a:gd name="adj" fmla="val 4848"/>
            </a:avLst>
          </a:prstGeom>
          <a:solidFill>
            <a:srgbClr val="F6E7DA"/>
          </a:solidFill>
          <a:ln w="12700">
            <a:solidFill>
              <a:srgbClr val="F6E7DA"/>
            </a:solidFill>
            <a:prstDash val="solid"/>
          </a:ln>
        </p:spPr>
      </p:sp>
      <p:sp>
        <p:nvSpPr>
          <p:cNvPr id="23" name="Text 21"/>
          <p:cNvSpPr txBox="1"/>
          <p:nvPr/>
        </p:nvSpPr>
        <p:spPr>
          <a:xfrm>
            <a:off x="5285232" y="2971800"/>
            <a:ext cx="3264408" cy="36576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Costs</a:t>
            </a:r>
            <a:endParaRPr lang="en-US" sz="1500" dirty="0"/>
          </a:p>
        </p:txBody>
      </p:sp>
      <p:sp>
        <p:nvSpPr>
          <p:cNvPr id="24" name="Text 22"/>
          <p:cNvSpPr txBox="1"/>
          <p:nvPr/>
        </p:nvSpPr>
        <p:spPr>
          <a:xfrm>
            <a:off x="5285232" y="3401568"/>
            <a:ext cx="3236976" cy="82296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Wafer bonding and thinning · nano-TSVs · worse hotspots · new debug, PDK and EDA flows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The 2nm-class race to watch</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97280"/>
                <a:gridCol w="1188720"/>
                <a:gridCol w="1828800"/>
                <a:gridCol w="1737360"/>
                <a:gridCol w="23774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Transistor</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Backside power</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Watch for</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0B1F33"/>
                    </a:solidFill>
                  </a:tcPr>
                </a:tc>
              </a:tr>
              <a:tr h="566928">
                <a:tc>
                  <a:txBody>
                    <a:bodyPr/>
                    <a:lstStyle/>
                    <a:p>
                      <a:pPr indent="0" marL="0">
                        <a:buNone/>
                      </a:pPr>
                      <a:r>
                        <a:rPr lang="en-US" sz="1300" b="1" dirty="0">
                          <a:solidFill>
                            <a:srgbClr val="14202E"/>
                          </a:solidFill>
                          <a:latin typeface="Calibri" pitchFamily="34" charset="0"/>
                          <a:ea typeface="Calibri" pitchFamily="34" charset="-122"/>
                          <a:cs typeface="Calibri" pitchFamily="34" charset="-120"/>
                        </a:rPr>
                        <a:t>TSMC</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N2 → A16</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Nanosheet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Super Power Rail (A16)</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Volume ramp; Apple and HPC first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300" b="1" dirty="0">
                          <a:solidFill>
                            <a:srgbClr val="14202E"/>
                          </a:solidFill>
                          <a:latin typeface="Calibri" pitchFamily="34" charset="0"/>
                          <a:ea typeface="Calibri" pitchFamily="34" charset="-122"/>
                          <a:cs typeface="Calibri" pitchFamily="34" charset="-120"/>
                        </a:rPr>
                        <a:t>Intel</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18A</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RibbonFET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PowerVia (first)</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Can Intel Foundry win outside customers?</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4202E"/>
                          </a:solidFill>
                          <a:latin typeface="Calibri" pitchFamily="34" charset="0"/>
                          <a:ea typeface="Calibri" pitchFamily="34" charset="-122"/>
                          <a:cs typeface="Calibri" pitchFamily="34" charset="-120"/>
                        </a:rPr>
                        <a:t>Samsung</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SF3 → SF2</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MBCFET (first GAA, 2022)</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Planned (SF2Z)</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Yield and customer wins</a:t>
                      </a:r>
                      <a:endParaRPr lang="en-US" sz="1300" dirty="0">
                        <a:latin typeface="Calibri" charset="0"/>
                        <a:ea typeface="Calibri" charset="0"/>
                        <a:cs typeface="Calibri" charset="0"/>
                      </a:endParaRPr>
                    </a:p>
                  </a:txBody>
                  <a:tcPr marL="73152" marR="73152" marT="73152" marB="7315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EEF2F6"/>
                    </a:solidFill>
                  </a:tcPr>
                </a:tc>
              </a:tr>
            </a:tbl>
          </a:graphicData>
        </a:graphic>
      </p:graphicFrame>
      <p:sp>
        <p:nvSpPr>
          <p:cNvPr id="4" name="Text 1"/>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400" i="1" dirty="0">
                <a:solidFill>
                  <a:srgbClr val="C8763A"/>
                </a:solidFill>
                <a:latin typeface="Calibri" pitchFamily="34" charset="0"/>
                <a:ea typeface="Calibri" pitchFamily="34" charset="-122"/>
                <a:cs typeface="Calibri" pitchFamily="34" charset="-120"/>
              </a:rPr>
              <a:t>Don’t compare names: compare density, perf/W, SRAM cell area, yield and wafer price.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B1F33"/>
                </a:solidFill>
                <a:latin typeface="Cambria" pitchFamily="34" charset="0"/>
                <a:ea typeface="Cambria" pitchFamily="34" charset="-122"/>
                <a:cs typeface="Cambria" pitchFamily="34" charset="-120"/>
              </a:rPr>
              <a:t>Why this matters for you</a:t>
            </a:r>
            <a:endParaRPr lang="en-US" sz="2800" dirty="0"/>
          </a:p>
        </p:txBody>
      </p:sp>
      <p:sp>
        <p:nvSpPr>
          <p:cNvPr id="3" name="Shape 1"/>
          <p:cNvSpPr/>
          <p:nvPr/>
        </p:nvSpPr>
        <p:spPr>
          <a:xfrm>
            <a:off x="457200" y="1097280"/>
            <a:ext cx="3977640" cy="3108960"/>
          </a:xfrm>
          <a:prstGeom prst="roundRect">
            <a:avLst>
              <a:gd name="adj" fmla="val 2353"/>
            </a:avLst>
          </a:prstGeom>
          <a:solidFill>
            <a:srgbClr val="DDF1EE"/>
          </a:solidFill>
          <a:ln w="12700">
            <a:solidFill>
              <a:srgbClr val="DDF1EE"/>
            </a:solidFill>
            <a:prstDash val="solid"/>
          </a:ln>
        </p:spPr>
      </p:sp>
      <p:sp>
        <p:nvSpPr>
          <p:cNvPr id="4" name="Text 2"/>
          <p:cNvSpPr txBox="1"/>
          <p:nvPr/>
        </p:nvSpPr>
        <p:spPr>
          <a:xfrm>
            <a:off x="621792" y="1234440"/>
            <a:ext cx="3675888" cy="365760"/>
          </a:xfrm>
          <a:prstGeom prst="rect">
            <a:avLst/>
          </a:prstGeom>
          <a:noFill/>
          <a:ln/>
        </p:spPr>
        <p:txBody>
          <a:bodyPr wrap="square" lIns="0" tIns="0" rIns="0" bIns="0" rtlCol="0" anchor="ctr"/>
          <a:lstStyle/>
          <a:p>
            <a:pPr indent="0" marL="0">
              <a:buNone/>
            </a:pPr>
            <a:r>
              <a:rPr lang="en-US" sz="1700" b="1" dirty="0">
                <a:solidFill>
                  <a:srgbClr val="0B1F33"/>
                </a:solidFill>
                <a:latin typeface="Calibri" pitchFamily="34" charset="0"/>
                <a:ea typeface="Calibri" pitchFamily="34" charset="-122"/>
                <a:cs typeface="Calibri" pitchFamily="34" charset="-120"/>
              </a:rPr>
              <a:t>Career: design and AI hardware</a:t>
            </a:r>
            <a:endParaRPr lang="en-US" sz="1700" dirty="0"/>
          </a:p>
        </p:txBody>
      </p:sp>
      <p:sp>
        <p:nvSpPr>
          <p:cNvPr id="5" name="Text 3"/>
          <p:cNvSpPr txBox="1"/>
          <p:nvPr/>
        </p:nvSpPr>
        <p:spPr>
          <a:xfrm>
            <a:off x="621792" y="1664208"/>
            <a:ext cx="3648456" cy="242316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Roles at the process–design boundary are growing:</a:t>
            </a:r>
            <a:endParaRPr lang="en-US" sz="1300" dirty="0"/>
          </a:p>
          <a:p>
            <a:pPr indent="0" marL="0">
              <a:buNone/>
            </a:pP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Standard-cell library design and characterisation</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DTCO engineering</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PDK and EDA flow development</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IR/EM, thermal and power-integrity sign-off</a:t>
            </a:r>
            <a:endParaRPr lang="en-US" sz="1300" dirty="0"/>
          </a:p>
          <a:p>
            <a:pPr indent="0" marL="0">
              <a:buNone/>
            </a:pP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Much of this work happens in Indian design centres.</a:t>
            </a:r>
            <a:endParaRPr lang="en-US" sz="1300" dirty="0"/>
          </a:p>
        </p:txBody>
      </p:sp>
      <p:sp>
        <p:nvSpPr>
          <p:cNvPr id="6" name="Shape 4"/>
          <p:cNvSpPr/>
          <p:nvPr/>
        </p:nvSpPr>
        <p:spPr>
          <a:xfrm>
            <a:off x="4709160" y="1097280"/>
            <a:ext cx="3977640" cy="3108960"/>
          </a:xfrm>
          <a:prstGeom prst="roundRect">
            <a:avLst>
              <a:gd name="adj" fmla="val 2353"/>
            </a:avLst>
          </a:prstGeom>
          <a:solidFill>
            <a:srgbClr val="F6E7DA"/>
          </a:solidFill>
          <a:ln w="12700">
            <a:solidFill>
              <a:srgbClr val="F6E7DA"/>
            </a:solidFill>
            <a:prstDash val="solid"/>
          </a:ln>
        </p:spPr>
      </p:sp>
      <p:sp>
        <p:nvSpPr>
          <p:cNvPr id="7" name="Text 5"/>
          <p:cNvSpPr txBox="1"/>
          <p:nvPr/>
        </p:nvSpPr>
        <p:spPr>
          <a:xfrm>
            <a:off x="4873752" y="1234440"/>
            <a:ext cx="3675888" cy="365760"/>
          </a:xfrm>
          <a:prstGeom prst="rect">
            <a:avLst/>
          </a:prstGeom>
          <a:noFill/>
          <a:ln/>
        </p:spPr>
        <p:txBody>
          <a:bodyPr wrap="square" lIns="0" tIns="0" rIns="0" bIns="0" rtlCol="0" anchor="ctr"/>
          <a:lstStyle/>
          <a:p>
            <a:pPr indent="0" marL="0">
              <a:buNone/>
            </a:pPr>
            <a:r>
              <a:rPr lang="en-US" sz="1700" b="1" dirty="0">
                <a:solidFill>
                  <a:srgbClr val="0B1F33"/>
                </a:solidFill>
                <a:latin typeface="Calibri" pitchFamily="34" charset="0"/>
                <a:ea typeface="Calibri" pitchFamily="34" charset="-122"/>
                <a:cs typeface="Calibri" pitchFamily="34" charset="-120"/>
              </a:rPr>
              <a:t>Investing: who gains</a:t>
            </a:r>
            <a:endParaRPr lang="en-US" sz="1700" dirty="0"/>
          </a:p>
        </p:txBody>
      </p:sp>
      <p:sp>
        <p:nvSpPr>
          <p:cNvPr id="8" name="Text 6"/>
          <p:cNvSpPr txBox="1"/>
          <p:nvPr/>
        </p:nvSpPr>
        <p:spPr>
          <a:xfrm>
            <a:off x="4873752" y="1664208"/>
            <a:ext cx="3648456" cy="2423160"/>
          </a:xfrm>
          <a:prstGeom prst="rect">
            <a:avLst/>
          </a:prstGeom>
          <a:noFill/>
          <a:ln/>
        </p:spPr>
        <p:txBody>
          <a:bodyPr wrap="square" lIns="0" tIns="0" rIns="0" bIns="0" rtlCol="0" anchor="t"/>
          <a:lstStyle/>
          <a:p>
            <a:pPr indent="0" marL="0">
              <a:buNone/>
            </a:pPr>
            <a:r>
              <a:rPr lang="en-US" sz="1300" dirty="0">
                <a:solidFill>
                  <a:srgbClr val="14202E"/>
                </a:solidFill>
                <a:latin typeface="Calibri" pitchFamily="34" charset="0"/>
                <a:ea typeface="Calibri" pitchFamily="34" charset="-122"/>
                <a:cs typeface="Calibri" pitchFamily="34" charset="-120"/>
              </a:rPr>
              <a:t>• Foundries: higher wafer prices at the leading edge</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Equipment: more epi, etch, ALD, metrology steps (AMAT, Lam, TEL, KLA)</a:t>
            </a: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 EDA: more complex sign-off (Synopsys, Cadence)</a:t>
            </a:r>
            <a:endParaRPr lang="en-US" sz="1300" dirty="0"/>
          </a:p>
          <a:p>
            <a:pPr indent="0" marL="0">
              <a:buNone/>
            </a:pPr>
            <a:endParaRPr lang="en-US" sz="1300" dirty="0"/>
          </a:p>
          <a:p>
            <a:pPr indent="0" marL="0">
              <a:buNone/>
            </a:pPr>
            <a:r>
              <a:rPr lang="en-US" sz="1300" dirty="0">
                <a:solidFill>
                  <a:srgbClr val="14202E"/>
                </a:solidFill>
                <a:latin typeface="Calibri" pitchFamily="34" charset="0"/>
                <a:ea typeface="Calibri" pitchFamily="34" charset="-122"/>
                <a:cs typeface="Calibri" pitchFamily="34" charset="-120"/>
              </a:rPr>
              <a:t>Key risk: a slow or low-yield ramp hits margins and customer launches.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08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Five things to remember</a:t>
            </a:r>
            <a:endParaRPr lang="en-US" sz="3200" dirty="0"/>
          </a:p>
        </p:txBody>
      </p:sp>
      <p:sp>
        <p:nvSpPr>
          <p:cNvPr id="3" name="Shape 1"/>
          <p:cNvSpPr/>
          <p:nvPr/>
        </p:nvSpPr>
        <p:spPr>
          <a:xfrm>
            <a:off x="548640" y="1371600"/>
            <a:ext cx="384048" cy="384048"/>
          </a:xfrm>
          <a:prstGeom prst="ellipse">
            <a:avLst/>
          </a:prstGeom>
          <a:solidFill>
            <a:srgbClr val="C8763A"/>
          </a:solidFill>
          <a:ln w="12700">
            <a:solidFill>
              <a:srgbClr val="C8763A"/>
            </a:solidFill>
            <a:prstDash val="solid"/>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097280" y="1371600"/>
            <a:ext cx="758952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Node names are brands: compare pitches, density, SRAM, cost</a:t>
            </a:r>
            <a:endParaRPr lang="en-US" sz="1600" dirty="0"/>
          </a:p>
        </p:txBody>
      </p:sp>
      <p:sp>
        <p:nvSpPr>
          <p:cNvPr id="6" name="Shape 4"/>
          <p:cNvSpPr/>
          <p:nvPr/>
        </p:nvSpPr>
        <p:spPr>
          <a:xfrm>
            <a:off x="548640" y="1938528"/>
            <a:ext cx="384048" cy="384048"/>
          </a:xfrm>
          <a:prstGeom prst="ellipse">
            <a:avLst/>
          </a:prstGeom>
          <a:solidFill>
            <a:srgbClr val="C8763A"/>
          </a:solidFill>
          <a:ln w="12700">
            <a:solidFill>
              <a:srgbClr val="C8763A"/>
            </a:solidFill>
            <a:prstDash val="solid"/>
          </a:ln>
        </p:spPr>
      </p:sp>
      <p:sp>
        <p:nvSpPr>
          <p:cNvPr id="7" name="Text 5"/>
          <p:cNvSpPr txBox="1"/>
          <p:nvPr/>
        </p:nvSpPr>
        <p:spPr>
          <a:xfrm>
            <a:off x="54864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1097280" y="1938528"/>
            <a:ext cx="758952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Density now comes mostly from DTCO, not from shrinking pitches</a:t>
            </a:r>
            <a:endParaRPr lang="en-US" sz="1600" dirty="0"/>
          </a:p>
        </p:txBody>
      </p:sp>
      <p:sp>
        <p:nvSpPr>
          <p:cNvPr id="9" name="Shape 7"/>
          <p:cNvSpPr/>
          <p:nvPr/>
        </p:nvSpPr>
        <p:spPr>
          <a:xfrm>
            <a:off x="548640" y="2505456"/>
            <a:ext cx="384048" cy="384048"/>
          </a:xfrm>
          <a:prstGeom prst="ellipse">
            <a:avLst/>
          </a:prstGeom>
          <a:solidFill>
            <a:srgbClr val="C8763A"/>
          </a:solidFill>
          <a:ln w="12700">
            <a:solidFill>
              <a:srgbClr val="C8763A"/>
            </a:solidFill>
            <a:prstDash val="solid"/>
          </a:ln>
        </p:spPr>
      </p:sp>
      <p:sp>
        <p:nvSpPr>
          <p:cNvPr id="10" name="Text 8"/>
          <p:cNvSpPr txBox="1"/>
          <p:nvPr/>
        </p:nvSpPr>
        <p:spPr>
          <a:xfrm>
            <a:off x="548640" y="25054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1" name="Text 9"/>
          <p:cNvSpPr txBox="1"/>
          <p:nvPr/>
        </p:nvSpPr>
        <p:spPr>
          <a:xfrm>
            <a:off x="1097280" y="2505456"/>
            <a:ext cx="758952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More gate around the channel = better control = lower VDD</a:t>
            </a:r>
            <a:endParaRPr lang="en-US" sz="1600" dirty="0"/>
          </a:p>
        </p:txBody>
      </p:sp>
      <p:sp>
        <p:nvSpPr>
          <p:cNvPr id="12" name="Shape 10"/>
          <p:cNvSpPr/>
          <p:nvPr/>
        </p:nvSpPr>
        <p:spPr>
          <a:xfrm>
            <a:off x="548640" y="3072384"/>
            <a:ext cx="384048" cy="384048"/>
          </a:xfrm>
          <a:prstGeom prst="ellipse">
            <a:avLst/>
          </a:prstGeom>
          <a:solidFill>
            <a:srgbClr val="C8763A"/>
          </a:solidFill>
          <a:ln w="12700">
            <a:solidFill>
              <a:srgbClr val="C8763A"/>
            </a:solidFill>
            <a:prstDash val="solid"/>
          </a:ln>
        </p:spPr>
      </p:sp>
      <p:sp>
        <p:nvSpPr>
          <p:cNvPr id="13" name="Text 11"/>
          <p:cNvSpPr txBox="1"/>
          <p:nvPr/>
        </p:nvSpPr>
        <p:spPr>
          <a:xfrm>
            <a:off x="54864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4" name="Text 12"/>
          <p:cNvSpPr txBox="1"/>
          <p:nvPr/>
        </p:nvSpPr>
        <p:spPr>
          <a:xfrm>
            <a:off x="1097280" y="3072384"/>
            <a:ext cx="758952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Nanosheets: inner spacers, channel release and gate fill are the hard steps</a:t>
            </a:r>
            <a:endParaRPr lang="en-US" sz="1600" dirty="0"/>
          </a:p>
        </p:txBody>
      </p:sp>
      <p:sp>
        <p:nvSpPr>
          <p:cNvPr id="15" name="Shape 13"/>
          <p:cNvSpPr/>
          <p:nvPr/>
        </p:nvSpPr>
        <p:spPr>
          <a:xfrm>
            <a:off x="548640" y="3639312"/>
            <a:ext cx="384048" cy="384048"/>
          </a:xfrm>
          <a:prstGeom prst="ellipse">
            <a:avLst/>
          </a:prstGeom>
          <a:solidFill>
            <a:srgbClr val="C8763A"/>
          </a:solidFill>
          <a:ln w="12700">
            <a:solidFill>
              <a:srgbClr val="C8763A"/>
            </a:solidFill>
            <a:prstDash val="solid"/>
          </a:ln>
        </p:spPr>
      </p:sp>
      <p:sp>
        <p:nvSpPr>
          <p:cNvPr id="16" name="Text 14"/>
          <p:cNvSpPr txBox="1"/>
          <p:nvPr/>
        </p:nvSpPr>
        <p:spPr>
          <a:xfrm>
            <a:off x="548640" y="36393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7" name="Text 15"/>
          <p:cNvSpPr txBox="1"/>
          <p:nvPr/>
        </p:nvSpPr>
        <p:spPr>
          <a:xfrm>
            <a:off x="1097280" y="3639312"/>
            <a:ext cx="758952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Backside power frees routing and cuts IR drop, but adds thermal and flow work</a:t>
            </a:r>
            <a:endParaRPr lang="en-US" sz="1600" dirty="0"/>
          </a:p>
        </p:txBody>
      </p:sp>
      <p:sp>
        <p:nvSpPr>
          <p:cNvPr id="18" name="Text 16"/>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300" dirty="0">
                <a:solidFill>
                  <a:srgbClr val="8FB8DE"/>
                </a:solidFill>
                <a:latin typeface="Calibri" pitchFamily="34" charset="0"/>
                <a:ea typeface="Calibri" pitchFamily="34" charset="-122"/>
                <a:cs typeface="Calibri" pitchFamily="34" charset="-120"/>
              </a:rPr>
              <a:t>Next: exercises + quiz in notes/week-01  ·  Listen to the Week 1 podcast</a:t>
            </a:r>
            <a:endParaRPr lang="en-US" sz="1300" dirty="0"/>
          </a:p>
        </p:txBody>
      </p:sp>
    </p:spTree>
  </p:cSld>
  <p:clrMapOvr>
    <a:masterClrMapping/>
  </p:clrMapOvr>
</p:sld>
</file>

<file path=ppt/theme/theme1.xml><?xml version="1.0" encoding="utf-8"?>
<a:theme xmlns:a="http://schemas.openxmlformats.org/drawingml/2006/main" name="Silicon and Copper">
  <a:themeElements>
    <a:clrScheme name="Silicon and Copper">
      <a:dk1>
        <a:srgbClr val="14202E"/>
      </a:dk1>
      <a:lt1>
        <a:srgbClr val="FFFFFF"/>
      </a:lt1>
      <a:dk2>
        <a:srgbClr val="0B1F33"/>
      </a:dk2>
      <a:lt2>
        <a:srgbClr val="EEF2F6"/>
      </a:lt2>
      <a:accent1>
        <a:srgbClr val="C8763A"/>
      </a:accent1>
      <a:accent2>
        <a:srgbClr val="2A9D8F"/>
      </a:accent2>
      <a:accent3>
        <a:srgbClr val="E9C46A"/>
      </a:accent3>
      <a:accent4>
        <a:srgbClr val="5B7083"/>
      </a:accent4>
      <a:accent5>
        <a:srgbClr val="8FB8DE"/>
      </a:accent5>
      <a:accent6>
        <a:srgbClr val="B23A48"/>
      </a:accent6>
      <a:hlink>
        <a:srgbClr val="2A9D8F"/>
      </a:hlink>
      <a:folHlink>
        <a:srgbClr val="5B7083"/>
      </a:folHlink>
    </a:clrScheme>
    <a:fontScheme name="Silicon and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deep dive — Node names, FinFET to GAA</dc:title>
  <dc:subject>PptxGenJS Presentation</dc:subject>
  <dc:creator>Semiconductor learning track</dc:creator>
  <cp:lastModifiedBy>Semiconductor learning track</cp:lastModifiedBy>
  <cp:revision>1</cp:revision>
  <dcterms:created xsi:type="dcterms:W3CDTF">2026-10-28T17:26:57Z</dcterms:created>
  <dcterms:modified xsi:type="dcterms:W3CDTF">2026-10-28T17:26:57Z</dcterms:modified>
</cp:coreProperties>
</file>