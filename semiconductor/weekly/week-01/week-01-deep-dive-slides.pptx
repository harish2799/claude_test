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Gate pitch CPP (nm)</c:v>
                </c:pt>
              </c:strCache>
            </c:strRef>
          </c:tx>
          <c:spPr>
            <a:solidFill>
              <a:srgbClr val="0B1F33"/>
            </a:solidFill>
            <a:effectLst/>
          </c:spPr>
          <c:invertIfNegative val="0"/>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Sheet1!$A$2:$A$7</c:f>
              <c:multiLvlStrCache>
                <c:ptCount val="6"/>
                <c:lvl>
                  <c:pt idx="0">
                    <c:v>Intel 22nm</c:v>
                  </c:pt>
                  <c:pt idx="1">
                    <c:v>Intel 14nm</c:v>
                  </c:pt>
                  <c:pt idx="2">
                    <c:v>TSMC N7</c:v>
                  </c:pt>
                  <c:pt idx="3">
                    <c:v>TSMC N5</c:v>
                  </c:pt>
                  <c:pt idx="4">
                    <c:v>TSMC N3E</c:v>
                  </c:pt>
                  <c:pt idx="5">
                    <c:v>TSMC N2 (est.)</c:v>
                  </c:pt>
                </c:lvl>
              </c:multiLvlStrCache>
            </c:multiLvlStrRef>
          </c:cat>
          <c:val>
            <c:numRef>
              <c:f>Sheet1!$B$2:$B$7</c:f>
              <c:numCache>
                <c:formatCode>General</c:formatCode>
                <c:ptCount val="6"/>
                <c:pt idx="0">
                  <c:v>90</c:v>
                </c:pt>
                <c:pt idx="1">
                  <c:v>70</c:v>
                </c:pt>
                <c:pt idx="2">
                  <c:v>57</c:v>
                </c:pt>
                <c:pt idx="3">
                  <c:v>51</c:v>
                </c:pt>
                <c:pt idx="4">
                  <c:v>48</c:v>
                </c:pt>
                <c:pt idx="5">
                  <c:v>45</c:v>
                </c:pt>
              </c:numCache>
            </c:numRef>
          </c:val>
        </c:ser>
        <c:ser>
          <c:idx val="1"/>
          <c:order val="1"/>
          <c:tx>
            <c:strRef>
              <c:f>Sheet1!$C$1</c:f>
              <c:strCache>
                <c:ptCount val="1"/>
                <c:pt idx="0">
                  <c:v>Metal pitch MMP (nm)</c:v>
                </c:pt>
              </c:strCache>
            </c:strRef>
          </c:tx>
          <c:spPr>
            <a:solidFill>
              <a:srgbClr val="C8763A"/>
            </a:solidFill>
            <a:effectLst/>
          </c:spPr>
          <c:invertIfNegative val="0"/>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Sheet1!$A$2:$A$7</c:f>
              <c:multiLvlStrCache>
                <c:ptCount val="6"/>
                <c:lvl>
                  <c:pt idx="0">
                    <c:v>Intel 22nm</c:v>
                  </c:pt>
                  <c:pt idx="1">
                    <c:v>Intel 14nm</c:v>
                  </c:pt>
                  <c:pt idx="2">
                    <c:v>TSMC N7</c:v>
                  </c:pt>
                  <c:pt idx="3">
                    <c:v>TSMC N5</c:v>
                  </c:pt>
                  <c:pt idx="4">
                    <c:v>TSMC N3E</c:v>
                  </c:pt>
                  <c:pt idx="5">
                    <c:v>TSMC N2 (est.)</c:v>
                  </c:pt>
                </c:lvl>
              </c:multiLvlStrCache>
            </c:multiLvlStrRef>
          </c:cat>
          <c:val>
            <c:numRef>
              <c:f>Sheet1!$C$2:$C$7</c:f>
              <c:numCache>
                <c:formatCode>General</c:formatCode>
                <c:ptCount val="6"/>
                <c:pt idx="0">
                  <c:v>80</c:v>
                </c:pt>
                <c:pt idx="1">
                  <c:v>52</c:v>
                </c:pt>
                <c:pt idx="2">
                  <c:v>40</c:v>
                </c:pt>
                <c:pt idx="3">
                  <c:v>28</c:v>
                </c:pt>
                <c:pt idx="4">
                  <c:v>23</c:v>
                </c:pt>
                <c:pt idx="5">
                  <c:v>21</c:v>
                </c:pt>
              </c:numCache>
            </c:numRef>
          </c:val>
        </c:ser>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D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420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02E"/>
                </a:solidFill>
                <a:latin typeface="+mn-lt"/>
              </a:defRPr>
            </a:pPr>
            <a:r>
              <a:rPr sz="1300" b="0" i="0" u="none" strike="noStrike">
                <a:solidFill>
                  <a:srgbClr val="14202E"/>
                </a:solidFill>
                <a:latin typeface="+mn-lt"/>
              </a:rPr>
              <a:t>Same pitch, fewer tracks</a:t>
            </a:r>
          </a:p>
        </c:rich>
      </c:tx>
      <c:layout/>
      <c:overlay val="0"/>
    </c:title>
    <c:autoTitleDeleted val="0"/>
    <c:plotArea>
      <c:layout/>
      <c:barChart>
        <c:barDir val="col"/>
        <c:grouping val="clustered"/>
        <c:varyColors val="0"/>
        <c:ser>
          <c:idx val="0"/>
          <c:order val="0"/>
          <c:tx>
            <c:strRef>
              <c:f>Sheet1!$B$1</c:f>
              <c:strCache>
                <c:ptCount val="1"/>
                <c:pt idx="0">
                  <c:v>Cell height (nm) at MMP = 23 nm</c:v>
                </c:pt>
              </c:strCache>
            </c:strRef>
          </c:tx>
          <c:spPr>
            <a:solidFill>
              <a:srgbClr val="2A9D8F"/>
            </a:solidFill>
            <a:effectLst/>
          </c:spPr>
          <c:invertIfNegative val="0"/>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cat>
            <c:multiLvlStrRef>
              <c:f>Sheet1!$A$2:$A$4</c:f>
              <c:multiLvlStrCache>
                <c:ptCount val="3"/>
                <c:lvl>
                  <c:pt idx="0">
                    <c:v>7.5 tracks</c:v>
                  </c:pt>
                  <c:pt idx="1">
                    <c:v>6 tracks</c:v>
                  </c:pt>
                  <c:pt idx="2">
                    <c:v>5 tracks</c:v>
                  </c:pt>
                </c:lvl>
              </c:multiLvlStrCache>
            </c:multiLvlStrRef>
          </c:cat>
          <c:val>
            <c:numRef>
              <c:f>Sheet1!$B$2:$B$4</c:f>
              <c:numCache>
                <c:formatCode>General</c:formatCode>
                <c:ptCount val="3"/>
                <c:pt idx="0">
                  <c:v>172.5</c:v>
                </c:pt>
                <c:pt idx="1">
                  <c:v>138</c:v>
                </c:pt>
                <c:pt idx="2">
                  <c:v>115</c:v>
                </c:pt>
              </c:numCache>
            </c:numRef>
          </c:val>
        </c:ser>
        <c:dLbls>
          <c:numFmt formatCode="#,##0" sourceLinked="0"/>
          <c:txPr>
            <a:bodyPr/>
            <a:lstStyle/>
            <a:p>
              <a:pPr>
                <a:defRPr b="0" i="0" strike="noStrike" sz="11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D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708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 dive for week 1. Read or watch the beginner deck first. Here we go one level deeper on each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Each one has a diagram, the plain-words version, and the real numbers engineers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what physically happens inside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MOSFET stands for metal-oxide-semiconductor field-effect transistor. The source and drain are silicon with extra electrons added. The body in between is p-type, which has almost no free electrons, so nothing flows. Put a positive voltage on the gate and its electric field pulls electrons to the surface just under the gate oxide. Once enough gather, they form a thin conducting layer called the channel, and current flows from source to drain.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handy. These six terms come back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how engineers grade a transistor, and why shrinking it hurts.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plots drain current against gate voltage on a logarithmic scale, where each grid line is ten times more current. Three things matter. The OFF current at zero volts is leakage. The ON current at VDD is how hard the switch drives. The slope in between is how sharply it turns on. The red device has the same ON current but leaks about 160 times more when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 stands for subthreshold swing. Physics sets a floor of about 60 millivolts per decade at room temperature, because of the thermal spread of electron energies.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electron energy as height. The source is a reservoir, the drain is lower ground, and the gate controls a dam in between. In a long channel only the gate sets the dam height. In a short channel the drain is so close that its voltage pulls the dam down and thins it. Electrons spill over even when the gate says off. That's drain-induced barrier lowering, DIBL.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natural-length formula just says: thin body, good insulator, and many gate sides all help the gate dominate the drain.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the real dimensions of a process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Chips are built from standard cells: pre-designed blocks like a NAND gate or a flip-flop. Their width is a whole number of gate pitches, called CPP. Their height is a whole number of metal tracks times the metal pitch, called MMP. A six-track cell at 23 nanometre pitch is about 138 nanometres 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Rounded, approximate figures. The trend is what matters: pitch scaling has slowed sharply.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Cell height equals tracks times metal pitch. Cutting tracks shrinks area even when the pitch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SRAM scaling stalling is one of the most important trends of the decade. Figures are as reported publicly and 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the 3D structures and the manufacturing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FinFET channel is a tall thin fin with the gate on three sides. A nanosheet transistor uses a stack of three thin horizontal sheets with the gate wrapped all the way around each. Effective width is the total perimeter the gate controls: two times height plus width for a fin, and two times width plus thickness, times the number of sheets, for nanosheets.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Effective width sets drive current. FinFETs come in whole fins; nanosheets can be tuned continuously.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trick is to build everything around placeholders. Grow alternating silicon and silicon-germanium layers. Put a dummy gate on top. Cut away the sides, notch the silicon-germanium ends and fill them with insulator, grow the source and drain. Then remove the dummy gate and dissolve the silicon-germanium, leaving floating silicon sheets. Finally coat everything with the real gate stack and add contacts.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Vt flavours are the different threshold voltages designers pick from: low Vt for speed, high Vt for low leakage. Each needs a slightly different metal stack, and nanosheets leave little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Investing angle: a new transistor architecture increases equipment spending per wafer, especially deposition and 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five: the metal layers above the transistors.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chip has over ten metal layers above the transistors. The bottom layers are only tens of nanometres wide and very resistive. Traditionally power comes in from the top and squeezes down through those thin wires, losing voltage, which is IR drop. Backside power flips the wafer, thins it, and builds the power network underneath. Intel's PowerVia uses thin nano-TSV pillars beside the transistors. TSMC's Super Power Rail connects directly into each transistor's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stands for electromigration: high current slowly pushes metal atoms and can break a wire. Sign-off means the final checks before a chip is manufactured.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logic gate pairs n-type and p-type transistors. Today they sit side by side with a gap. Forksheet, proposed by the research centre imec, puts an insulating wall between them so they can sit closer. CFET, complementary FET, stacks one on top of the other, roughly halving the footprint. CFET is expected in the 2030s.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six: companies, careers, and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Yield is the share of chips on a wafer that work. A low-yield ramp hurts foundry margins and delays customers'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Tape-out is when the final design is sent to the factory. Many of these roles are hiring in Bengaluru, Hyderabad and Noida design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use only the formulas from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got these, you understand week one at an engineer's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full week one. Next week: lithography, how chips are printed with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1F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1463040"/>
          </a:xfrm>
          <a:prstGeom prst="rect">
            <a:avLst/>
          </a:prstGeom>
          <a:noFill/>
          <a:ln/>
        </p:spPr>
        <p:txBody>
          <a:bodyPr wrap="square" rtlCol="0"/>
          <a:lstStyle>
            <a:lvl1pPr algn="l" indent="0" marL="0">
              <a:buNone/>
              <a:defRPr lang="en-US" sz="3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548640" y="2971800"/>
            <a:ext cx="4937760" cy="1097280"/>
          </a:xfrm>
          <a:prstGeom prst="rect">
            <a:avLst/>
          </a:prstGeom>
          <a:noFill/>
          <a:ln/>
        </p:spPr>
        <p:txBody>
          <a:bodyPr wrap="square" rtlCol="0"/>
          <a:lstStyle>
            <a:lvl1pPr algn="l" indent="0" marL="0">
              <a:buNone/>
              <a:defRPr lang="en-US" sz="1600" dirty="0">
                <a:solidFill>
                  <a:srgbClr val="8FB8DE"/>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B1F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rtlCol="0"/>
          <a:lstStyle>
            <a:lvl1pPr algn="l" indent="0" marL="0">
              <a:buNone/>
              <a:defRPr lang="en-US" sz="3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600" dirty="0">
                <a:solidFill>
                  <a:srgbClr val="8FB8DE"/>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RECAP_DARK">
    <p:bg>
      <p:bgPr>
        <a:solidFill>
          <a:srgbClr val="0B1F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rtlCol="0"/>
          <a:lstStyle>
            <a:lvl1pPr algn="l" indent="0" marL="0">
              <a:buNone/>
              <a:defRPr lang="en-US" sz="32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rgbClr val="0B1F33"/>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Semiconductor Track  ·  Week 1</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14630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Week 1 deep dive:</a:t>
            </a:r>
            <a:endParaRPr lang="en-US" sz="3600" dirty="0"/>
          </a:p>
          <a:p>
            <a:pPr algn="l" indent="0" marL="0">
              <a:buNone/>
            </a:pPr>
            <a:r>
              <a:rPr lang="en-US" sz="3600" b="1" dirty="0">
                <a:solidFill>
                  <a:srgbClr val="FFFFFF"/>
                </a:solidFill>
                <a:latin typeface="Cambria" pitchFamily="34" charset="0"/>
                <a:ea typeface="Cambria" pitchFamily="34" charset="-122"/>
                <a:cs typeface="Cambria" pitchFamily="34" charset="-120"/>
              </a:rPr>
              <a:t>inside the transistor</a:t>
            </a:r>
            <a:endParaRPr lang="en-US" sz="3600" dirty="0"/>
          </a:p>
        </p:txBody>
      </p:sp>
      <p:sp>
        <p:nvSpPr>
          <p:cNvPr id="3" name="Text 0"/>
          <p:cNvSpPr/>
          <p:nvPr>
            <p:ph idx="101" type="body" hasCustomPrompt="1"/>
          </p:nvPr>
        </p:nvSpPr>
        <p:spPr>
          <a:xfrm>
            <a:off x="548640" y="2971800"/>
            <a:ext cx="4937760" cy="109728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Part 2 of week 1. The real physics, measurements and manufacturing behind “smaller chips”, with every term explained the first time it appears.</a:t>
            </a:r>
            <a:endParaRPr lang="en-US" sz="1600" dirty="0"/>
          </a:p>
        </p:txBody>
      </p:sp>
      <p:pic>
        <p:nvPicPr>
          <p:cNvPr id="4" name="Image 0" descr="FinFET and nanosheet in 3D">    </p:cNvPr>
          <p:cNvPicPr>
            <a:picLocks noChangeAspect="1"/>
          </p:cNvPicPr>
          <p:nvPr/>
        </p:nvPicPr>
        <p:blipFill>
          <a:blip r:embed="rId1"/>
          <a:stretch>
            <a:fillRect/>
          </a:stretch>
        </p:blipFill>
        <p:spPr>
          <a:xfrm>
            <a:off x="5669280" y="1371600"/>
            <a:ext cx="3200400" cy="14630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The six parts of this deep dive</a:t>
            </a:r>
            <a:endParaRPr lang="en-US" sz="2800" dirty="0"/>
          </a:p>
        </p:txBody>
      </p:sp>
      <p:sp>
        <p:nvSpPr>
          <p:cNvPr id="3" name="Shape 1"/>
          <p:cNvSpPr/>
          <p:nvPr/>
        </p:nvSpPr>
        <p:spPr>
          <a:xfrm>
            <a:off x="457200" y="1051560"/>
            <a:ext cx="4023360" cy="1051560"/>
          </a:xfrm>
          <a:prstGeom prst="roundRect">
            <a:avLst>
              <a:gd name="adj" fmla="val 6957"/>
            </a:avLst>
          </a:prstGeom>
          <a:solidFill>
            <a:srgbClr val="DDF1EE"/>
          </a:solidFill>
          <a:ln w="12700">
            <a:solidFill>
              <a:srgbClr val="DDF1EE"/>
            </a:solidFill>
            <a:prstDash val="solid"/>
          </a:ln>
        </p:spPr>
      </p:sp>
      <p:sp>
        <p:nvSpPr>
          <p:cNvPr id="4" name="Shape 2"/>
          <p:cNvSpPr/>
          <p:nvPr/>
        </p:nvSpPr>
        <p:spPr>
          <a:xfrm>
            <a:off x="594360" y="1188720"/>
            <a:ext cx="347472" cy="347472"/>
          </a:xfrm>
          <a:prstGeom prst="ellipse">
            <a:avLst/>
          </a:prstGeom>
          <a:solidFill>
            <a:srgbClr val="C8763A"/>
          </a:solidFill>
          <a:ln w="12700">
            <a:solidFill>
              <a:srgbClr val="C8763A"/>
            </a:solidFill>
            <a:prstDash val="solid"/>
          </a:ln>
        </p:spPr>
      </p:sp>
      <p:sp>
        <p:nvSpPr>
          <p:cNvPr id="5" name="Text 3"/>
          <p:cNvSpPr txBox="1"/>
          <p:nvPr/>
        </p:nvSpPr>
        <p:spPr>
          <a:xfrm>
            <a:off x="594360"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051560" y="1188720"/>
            <a:ext cx="32918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How a transistor really works</a:t>
            </a:r>
            <a:endParaRPr lang="en-US" sz="1500" dirty="0"/>
          </a:p>
        </p:txBody>
      </p:sp>
      <p:sp>
        <p:nvSpPr>
          <p:cNvPr id="7" name="Text 5"/>
          <p:cNvSpPr txBox="1"/>
          <p:nvPr/>
        </p:nvSpPr>
        <p:spPr>
          <a:xfrm>
            <a:off x="621792" y="1618488"/>
            <a:ext cx="3694176" cy="3657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Electrons, doping, the channel, threshold voltage</a:t>
            </a:r>
            <a:endParaRPr lang="en-US" sz="1300" dirty="0"/>
          </a:p>
        </p:txBody>
      </p:sp>
      <p:sp>
        <p:nvSpPr>
          <p:cNvPr id="8" name="Shape 6"/>
          <p:cNvSpPr/>
          <p:nvPr/>
        </p:nvSpPr>
        <p:spPr>
          <a:xfrm>
            <a:off x="4663440" y="1051560"/>
            <a:ext cx="4023360" cy="1051560"/>
          </a:xfrm>
          <a:prstGeom prst="roundRect">
            <a:avLst>
              <a:gd name="adj" fmla="val 6957"/>
            </a:avLst>
          </a:prstGeom>
          <a:solidFill>
            <a:srgbClr val="EEF2F6"/>
          </a:solidFill>
          <a:ln w="12700">
            <a:solidFill>
              <a:srgbClr val="EEF2F6"/>
            </a:solidFill>
            <a:prstDash val="solid"/>
          </a:ln>
        </p:spPr>
      </p:sp>
      <p:sp>
        <p:nvSpPr>
          <p:cNvPr id="9" name="Shape 7"/>
          <p:cNvSpPr/>
          <p:nvPr/>
        </p:nvSpPr>
        <p:spPr>
          <a:xfrm>
            <a:off x="4800600" y="1188720"/>
            <a:ext cx="347472" cy="347472"/>
          </a:xfrm>
          <a:prstGeom prst="ellipse">
            <a:avLst/>
          </a:prstGeom>
          <a:solidFill>
            <a:srgbClr val="C8763A"/>
          </a:solidFill>
          <a:ln w="12700">
            <a:solidFill>
              <a:srgbClr val="C8763A"/>
            </a:solidFill>
            <a:prstDash val="solid"/>
          </a:ln>
        </p:spPr>
      </p:sp>
      <p:sp>
        <p:nvSpPr>
          <p:cNvPr id="10" name="Text 8"/>
          <p:cNvSpPr txBox="1"/>
          <p:nvPr/>
        </p:nvSpPr>
        <p:spPr>
          <a:xfrm>
            <a:off x="4800600"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5257800" y="1188720"/>
            <a:ext cx="32918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Why small transistors leak</a:t>
            </a:r>
            <a:endParaRPr lang="en-US" sz="1500" dirty="0"/>
          </a:p>
        </p:txBody>
      </p:sp>
      <p:sp>
        <p:nvSpPr>
          <p:cNvPr id="12" name="Text 10"/>
          <p:cNvSpPr txBox="1"/>
          <p:nvPr/>
        </p:nvSpPr>
        <p:spPr>
          <a:xfrm>
            <a:off x="4828032" y="1618488"/>
            <a:ext cx="3694176" cy="3657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The I-V curve, 60 mV/decade, the 'dam' picture</a:t>
            </a:r>
            <a:endParaRPr lang="en-US" sz="1300" dirty="0"/>
          </a:p>
        </p:txBody>
      </p:sp>
      <p:sp>
        <p:nvSpPr>
          <p:cNvPr id="13" name="Shape 11"/>
          <p:cNvSpPr/>
          <p:nvPr/>
        </p:nvSpPr>
        <p:spPr>
          <a:xfrm>
            <a:off x="457200" y="2240280"/>
            <a:ext cx="4023360" cy="1051560"/>
          </a:xfrm>
          <a:prstGeom prst="roundRect">
            <a:avLst>
              <a:gd name="adj" fmla="val 6957"/>
            </a:avLst>
          </a:prstGeom>
          <a:solidFill>
            <a:srgbClr val="DDF1EE"/>
          </a:solidFill>
          <a:ln w="12700">
            <a:solidFill>
              <a:srgbClr val="DDF1EE"/>
            </a:solidFill>
            <a:prstDash val="solid"/>
          </a:ln>
        </p:spPr>
      </p:sp>
      <p:sp>
        <p:nvSpPr>
          <p:cNvPr id="14" name="Shape 12"/>
          <p:cNvSpPr/>
          <p:nvPr/>
        </p:nvSpPr>
        <p:spPr>
          <a:xfrm>
            <a:off x="594360" y="2377440"/>
            <a:ext cx="347472" cy="347472"/>
          </a:xfrm>
          <a:prstGeom prst="ellipse">
            <a:avLst/>
          </a:prstGeom>
          <a:solidFill>
            <a:srgbClr val="C8763A"/>
          </a:solidFill>
          <a:ln w="12700">
            <a:solidFill>
              <a:srgbClr val="C8763A"/>
            </a:solidFill>
            <a:prstDash val="solid"/>
          </a:ln>
        </p:spPr>
      </p:sp>
      <p:sp>
        <p:nvSpPr>
          <p:cNvPr id="15" name="Text 13"/>
          <p:cNvSpPr txBox="1"/>
          <p:nvPr/>
        </p:nvSpPr>
        <p:spPr>
          <a:xfrm>
            <a:off x="594360" y="23774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1051560" y="2377440"/>
            <a:ext cx="32918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How a node is measured</a:t>
            </a:r>
            <a:endParaRPr lang="en-US" sz="1500" dirty="0"/>
          </a:p>
        </p:txBody>
      </p:sp>
      <p:sp>
        <p:nvSpPr>
          <p:cNvPr id="17" name="Text 15"/>
          <p:cNvSpPr txBox="1"/>
          <p:nvPr/>
        </p:nvSpPr>
        <p:spPr>
          <a:xfrm>
            <a:off x="621792" y="2807208"/>
            <a:ext cx="3694176" cy="3657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Gate pitch, metal pitch, tracks, density, SRAM</a:t>
            </a:r>
            <a:endParaRPr lang="en-US" sz="1300" dirty="0"/>
          </a:p>
        </p:txBody>
      </p:sp>
      <p:sp>
        <p:nvSpPr>
          <p:cNvPr id="18" name="Shape 16"/>
          <p:cNvSpPr/>
          <p:nvPr/>
        </p:nvSpPr>
        <p:spPr>
          <a:xfrm>
            <a:off x="4663440" y="2240280"/>
            <a:ext cx="4023360" cy="1051560"/>
          </a:xfrm>
          <a:prstGeom prst="roundRect">
            <a:avLst>
              <a:gd name="adj" fmla="val 6957"/>
            </a:avLst>
          </a:prstGeom>
          <a:solidFill>
            <a:srgbClr val="EEF2F6"/>
          </a:solidFill>
          <a:ln w="12700">
            <a:solidFill>
              <a:srgbClr val="EEF2F6"/>
            </a:solidFill>
            <a:prstDash val="solid"/>
          </a:ln>
        </p:spPr>
      </p:sp>
      <p:sp>
        <p:nvSpPr>
          <p:cNvPr id="19" name="Shape 17"/>
          <p:cNvSpPr/>
          <p:nvPr/>
        </p:nvSpPr>
        <p:spPr>
          <a:xfrm>
            <a:off x="4800600" y="2377440"/>
            <a:ext cx="347472" cy="347472"/>
          </a:xfrm>
          <a:prstGeom prst="ellipse">
            <a:avLst/>
          </a:prstGeom>
          <a:solidFill>
            <a:srgbClr val="C8763A"/>
          </a:solidFill>
          <a:ln w="12700">
            <a:solidFill>
              <a:srgbClr val="C8763A"/>
            </a:solidFill>
            <a:prstDash val="solid"/>
          </a:ln>
        </p:spPr>
      </p:sp>
      <p:sp>
        <p:nvSpPr>
          <p:cNvPr id="20" name="Text 18"/>
          <p:cNvSpPr txBox="1"/>
          <p:nvPr/>
        </p:nvSpPr>
        <p:spPr>
          <a:xfrm>
            <a:off x="4800600" y="23774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1" name="Text 19"/>
          <p:cNvSpPr txBox="1"/>
          <p:nvPr/>
        </p:nvSpPr>
        <p:spPr>
          <a:xfrm>
            <a:off x="5257800" y="2377440"/>
            <a:ext cx="32918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FinFET → nanosheet</a:t>
            </a:r>
            <a:endParaRPr lang="en-US" sz="1500" dirty="0"/>
          </a:p>
        </p:txBody>
      </p:sp>
      <p:sp>
        <p:nvSpPr>
          <p:cNvPr id="22" name="Text 20"/>
          <p:cNvSpPr txBox="1"/>
          <p:nvPr/>
        </p:nvSpPr>
        <p:spPr>
          <a:xfrm>
            <a:off x="4828032" y="2807208"/>
            <a:ext cx="3694176" cy="3657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3D shapes, effective width, the 8 build steps</a:t>
            </a:r>
            <a:endParaRPr lang="en-US" sz="1300" dirty="0"/>
          </a:p>
        </p:txBody>
      </p:sp>
      <p:sp>
        <p:nvSpPr>
          <p:cNvPr id="23" name="Shape 21"/>
          <p:cNvSpPr/>
          <p:nvPr/>
        </p:nvSpPr>
        <p:spPr>
          <a:xfrm>
            <a:off x="457200" y="3429000"/>
            <a:ext cx="4023360" cy="1051560"/>
          </a:xfrm>
          <a:prstGeom prst="roundRect">
            <a:avLst>
              <a:gd name="adj" fmla="val 6957"/>
            </a:avLst>
          </a:prstGeom>
          <a:solidFill>
            <a:srgbClr val="DDF1EE"/>
          </a:solidFill>
          <a:ln w="12700">
            <a:solidFill>
              <a:srgbClr val="DDF1EE"/>
            </a:solidFill>
            <a:prstDash val="solid"/>
          </a:ln>
        </p:spPr>
      </p:sp>
      <p:sp>
        <p:nvSpPr>
          <p:cNvPr id="24" name="Shape 22"/>
          <p:cNvSpPr/>
          <p:nvPr/>
        </p:nvSpPr>
        <p:spPr>
          <a:xfrm>
            <a:off x="594360" y="3566160"/>
            <a:ext cx="347472" cy="347472"/>
          </a:xfrm>
          <a:prstGeom prst="ellipse">
            <a:avLst/>
          </a:prstGeom>
          <a:solidFill>
            <a:srgbClr val="C8763A"/>
          </a:solidFill>
          <a:ln w="12700">
            <a:solidFill>
              <a:srgbClr val="C8763A"/>
            </a:solidFill>
            <a:prstDash val="solid"/>
          </a:ln>
        </p:spPr>
      </p:sp>
      <p:sp>
        <p:nvSpPr>
          <p:cNvPr id="25" name="Text 23"/>
          <p:cNvSpPr txBox="1"/>
          <p:nvPr/>
        </p:nvSpPr>
        <p:spPr>
          <a:xfrm>
            <a:off x="594360" y="3566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6" name="Text 24"/>
          <p:cNvSpPr txBox="1"/>
          <p:nvPr/>
        </p:nvSpPr>
        <p:spPr>
          <a:xfrm>
            <a:off x="1051560" y="3566160"/>
            <a:ext cx="32918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Wiring and backside power</a:t>
            </a:r>
            <a:endParaRPr lang="en-US" sz="1500" dirty="0"/>
          </a:p>
        </p:txBody>
      </p:sp>
      <p:sp>
        <p:nvSpPr>
          <p:cNvPr id="27" name="Text 25"/>
          <p:cNvSpPr txBox="1"/>
          <p:nvPr/>
        </p:nvSpPr>
        <p:spPr>
          <a:xfrm>
            <a:off x="621792" y="3995928"/>
            <a:ext cx="3694176" cy="3657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Why wires are now the bottleneck</a:t>
            </a:r>
            <a:endParaRPr lang="en-US" sz="1300" dirty="0"/>
          </a:p>
        </p:txBody>
      </p:sp>
      <p:sp>
        <p:nvSpPr>
          <p:cNvPr id="28" name="Shape 26"/>
          <p:cNvSpPr/>
          <p:nvPr/>
        </p:nvSpPr>
        <p:spPr>
          <a:xfrm>
            <a:off x="4663440" y="3429000"/>
            <a:ext cx="4023360" cy="1051560"/>
          </a:xfrm>
          <a:prstGeom prst="roundRect">
            <a:avLst>
              <a:gd name="adj" fmla="val 6957"/>
            </a:avLst>
          </a:prstGeom>
          <a:solidFill>
            <a:srgbClr val="EEF2F6"/>
          </a:solidFill>
          <a:ln w="12700">
            <a:solidFill>
              <a:srgbClr val="EEF2F6"/>
            </a:solidFill>
            <a:prstDash val="solid"/>
          </a:ln>
        </p:spPr>
      </p:sp>
      <p:sp>
        <p:nvSpPr>
          <p:cNvPr id="29" name="Shape 27"/>
          <p:cNvSpPr/>
          <p:nvPr/>
        </p:nvSpPr>
        <p:spPr>
          <a:xfrm>
            <a:off x="4800600" y="3566160"/>
            <a:ext cx="347472" cy="347472"/>
          </a:xfrm>
          <a:prstGeom prst="ellipse">
            <a:avLst/>
          </a:prstGeom>
          <a:solidFill>
            <a:srgbClr val="C8763A"/>
          </a:solidFill>
          <a:ln w="12700">
            <a:solidFill>
              <a:srgbClr val="C8763A"/>
            </a:solidFill>
            <a:prstDash val="solid"/>
          </a:ln>
        </p:spPr>
      </p:sp>
      <p:sp>
        <p:nvSpPr>
          <p:cNvPr id="30" name="Text 28"/>
          <p:cNvSpPr txBox="1"/>
          <p:nvPr/>
        </p:nvSpPr>
        <p:spPr>
          <a:xfrm>
            <a:off x="4800600" y="3566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1" name="Text 29"/>
          <p:cNvSpPr txBox="1"/>
          <p:nvPr/>
        </p:nvSpPr>
        <p:spPr>
          <a:xfrm>
            <a:off x="5257800" y="3566160"/>
            <a:ext cx="32918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The industry view</a:t>
            </a:r>
            <a:endParaRPr lang="en-US" sz="1500" dirty="0"/>
          </a:p>
        </p:txBody>
      </p:sp>
      <p:sp>
        <p:nvSpPr>
          <p:cNvPr id="32" name="Text 30"/>
          <p:cNvSpPr txBox="1"/>
          <p:nvPr/>
        </p:nvSpPr>
        <p:spPr>
          <a:xfrm>
            <a:off x="4828032" y="3995928"/>
            <a:ext cx="3694176" cy="3657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Who's racing, who sells the tools, which jobs grow</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1 · How a transistor really works</a:t>
            </a: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From silicon atoms to an on/off switch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Inside a MOSFET: OFF vs ON</a:t>
            </a:r>
            <a:endParaRPr lang="en-US" sz="2800" dirty="0"/>
          </a:p>
        </p:txBody>
      </p:sp>
      <p:pic>
        <p:nvPicPr>
          <p:cNvPr id="3" name="Image 0" descr="Inside a MOSFET: OFF vs ON">    </p:cNvPr>
          <p:cNvPicPr>
            <a:picLocks noChangeAspect="1"/>
          </p:cNvPicPr>
          <p:nvPr/>
        </p:nvPicPr>
        <p:blipFill>
          <a:blip r:embed="rId1"/>
          <a:stretch>
            <a:fillRect/>
          </a:stretch>
        </p:blipFill>
        <p:spPr>
          <a:xfrm>
            <a:off x="971550" y="1005840"/>
            <a:ext cx="7200900"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ctr"/>
          <a:lstStyle/>
          <a:p>
            <a:pPr algn="ctr" indent="0" marL="0">
              <a:buNone/>
            </a:pPr>
            <a:r>
              <a:rPr lang="en-US" sz="1500" b="1" dirty="0">
                <a:solidFill>
                  <a:srgbClr val="C8763A"/>
                </a:solidFill>
                <a:latin typeface="Calibri" pitchFamily="34" charset="0"/>
                <a:ea typeface="Calibri" pitchFamily="34" charset="-122"/>
                <a:cs typeface="Calibri" pitchFamily="34" charset="-120"/>
              </a:rPr>
              <a:t>A gate voltage above Vt pulls electrons up and creates the channel</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Six terms, in plain words</a:t>
            </a:r>
            <a:endParaRPr lang="en-US" sz="2800" dirty="0"/>
          </a:p>
        </p:txBody>
      </p:sp>
      <p:sp>
        <p:nvSpPr>
          <p:cNvPr id="3" name="Shape 1"/>
          <p:cNvSpPr/>
          <p:nvPr/>
        </p:nvSpPr>
        <p:spPr>
          <a:xfrm>
            <a:off x="457200" y="1005840"/>
            <a:ext cx="4023360" cy="1097280"/>
          </a:xfrm>
          <a:prstGeom prst="roundRect">
            <a:avLst>
              <a:gd name="adj" fmla="val 6667"/>
            </a:avLst>
          </a:prstGeom>
          <a:solidFill>
            <a:srgbClr val="DDF1EE"/>
          </a:solidFill>
          <a:ln w="12700">
            <a:solidFill>
              <a:srgbClr val="DDF1EE"/>
            </a:solidFill>
            <a:prstDash val="solid"/>
          </a:ln>
        </p:spPr>
      </p:sp>
      <p:sp>
        <p:nvSpPr>
          <p:cNvPr id="4" name="Text 2"/>
          <p:cNvSpPr txBox="1"/>
          <p:nvPr/>
        </p:nvSpPr>
        <p:spPr>
          <a:xfrm>
            <a:off x="621792" y="1143000"/>
            <a:ext cx="37216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Doping</a:t>
            </a:r>
            <a:endParaRPr lang="en-US" sz="1500" dirty="0"/>
          </a:p>
        </p:txBody>
      </p:sp>
      <p:sp>
        <p:nvSpPr>
          <p:cNvPr id="5" name="Text 3"/>
          <p:cNvSpPr txBox="1"/>
          <p:nvPr/>
        </p:nvSpPr>
        <p:spPr>
          <a:xfrm>
            <a:off x="621792" y="1572768"/>
            <a:ext cx="3694176" cy="41148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Adding a pinch of another element to silicon. n-type gives spare electrons; p-type leaves “holes”.</a:t>
            </a:r>
            <a:endParaRPr lang="en-US" sz="1250" dirty="0"/>
          </a:p>
        </p:txBody>
      </p:sp>
      <p:sp>
        <p:nvSpPr>
          <p:cNvPr id="6" name="Shape 4"/>
          <p:cNvSpPr/>
          <p:nvPr/>
        </p:nvSpPr>
        <p:spPr>
          <a:xfrm>
            <a:off x="4663440" y="1005840"/>
            <a:ext cx="4023360" cy="1097280"/>
          </a:xfrm>
          <a:prstGeom prst="roundRect">
            <a:avLst>
              <a:gd name="adj" fmla="val 6667"/>
            </a:avLst>
          </a:prstGeom>
          <a:solidFill>
            <a:srgbClr val="EEF2F6"/>
          </a:solidFill>
          <a:ln w="12700">
            <a:solidFill>
              <a:srgbClr val="EEF2F6"/>
            </a:solidFill>
            <a:prstDash val="solid"/>
          </a:ln>
        </p:spPr>
      </p:sp>
      <p:sp>
        <p:nvSpPr>
          <p:cNvPr id="7" name="Text 5"/>
          <p:cNvSpPr txBox="1"/>
          <p:nvPr/>
        </p:nvSpPr>
        <p:spPr>
          <a:xfrm>
            <a:off x="4828032" y="1143000"/>
            <a:ext cx="37216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Channel</a:t>
            </a:r>
            <a:endParaRPr lang="en-US" sz="1500" dirty="0"/>
          </a:p>
        </p:txBody>
      </p:sp>
      <p:sp>
        <p:nvSpPr>
          <p:cNvPr id="8" name="Text 6"/>
          <p:cNvSpPr txBox="1"/>
          <p:nvPr/>
        </p:nvSpPr>
        <p:spPr>
          <a:xfrm>
            <a:off x="4828032" y="1572768"/>
            <a:ext cx="3694176" cy="41148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The thin layer of electrons the gate pulls up. Only exists when the switch is ON. About 1–2 nm deep.</a:t>
            </a:r>
            <a:endParaRPr lang="en-US" sz="1250" dirty="0"/>
          </a:p>
        </p:txBody>
      </p:sp>
      <p:sp>
        <p:nvSpPr>
          <p:cNvPr id="9" name="Shape 7"/>
          <p:cNvSpPr/>
          <p:nvPr/>
        </p:nvSpPr>
        <p:spPr>
          <a:xfrm>
            <a:off x="457200" y="2240280"/>
            <a:ext cx="4023360" cy="1097280"/>
          </a:xfrm>
          <a:prstGeom prst="roundRect">
            <a:avLst>
              <a:gd name="adj" fmla="val 6667"/>
            </a:avLst>
          </a:prstGeom>
          <a:solidFill>
            <a:srgbClr val="EEF2F6"/>
          </a:solidFill>
          <a:ln w="12700">
            <a:solidFill>
              <a:srgbClr val="EEF2F6"/>
            </a:solidFill>
            <a:prstDash val="solid"/>
          </a:ln>
        </p:spPr>
      </p:sp>
      <p:sp>
        <p:nvSpPr>
          <p:cNvPr id="10" name="Text 8"/>
          <p:cNvSpPr txBox="1"/>
          <p:nvPr/>
        </p:nvSpPr>
        <p:spPr>
          <a:xfrm>
            <a:off x="621792" y="2377440"/>
            <a:ext cx="37216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Threshold voltage (Vt)</a:t>
            </a:r>
            <a:endParaRPr lang="en-US" sz="1500" dirty="0"/>
          </a:p>
        </p:txBody>
      </p:sp>
      <p:sp>
        <p:nvSpPr>
          <p:cNvPr id="11" name="Text 9"/>
          <p:cNvSpPr txBox="1"/>
          <p:nvPr/>
        </p:nvSpPr>
        <p:spPr>
          <a:xfrm>
            <a:off x="621792" y="2807208"/>
            <a:ext cx="3694176" cy="41148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The gate voltage where the channel appears. Typically ~0.25–0.35 V today.</a:t>
            </a:r>
            <a:endParaRPr lang="en-US" sz="1250" dirty="0"/>
          </a:p>
        </p:txBody>
      </p:sp>
      <p:sp>
        <p:nvSpPr>
          <p:cNvPr id="12" name="Shape 10"/>
          <p:cNvSpPr/>
          <p:nvPr/>
        </p:nvSpPr>
        <p:spPr>
          <a:xfrm>
            <a:off x="4663440" y="2240280"/>
            <a:ext cx="4023360" cy="1097280"/>
          </a:xfrm>
          <a:prstGeom prst="roundRect">
            <a:avLst>
              <a:gd name="adj" fmla="val 6667"/>
            </a:avLst>
          </a:prstGeom>
          <a:solidFill>
            <a:srgbClr val="DDF1EE"/>
          </a:solidFill>
          <a:ln w="12700">
            <a:solidFill>
              <a:srgbClr val="DDF1EE"/>
            </a:solidFill>
            <a:prstDash val="solid"/>
          </a:ln>
        </p:spPr>
      </p:sp>
      <p:sp>
        <p:nvSpPr>
          <p:cNvPr id="13" name="Text 11"/>
          <p:cNvSpPr txBox="1"/>
          <p:nvPr/>
        </p:nvSpPr>
        <p:spPr>
          <a:xfrm>
            <a:off x="4828032" y="2377440"/>
            <a:ext cx="37216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Gate oxide / high-k</a:t>
            </a:r>
            <a:endParaRPr lang="en-US" sz="1500" dirty="0"/>
          </a:p>
        </p:txBody>
      </p:sp>
      <p:sp>
        <p:nvSpPr>
          <p:cNvPr id="14" name="Text 12"/>
          <p:cNvSpPr txBox="1"/>
          <p:nvPr/>
        </p:nvSpPr>
        <p:spPr>
          <a:xfrm>
            <a:off x="4828032" y="2807208"/>
            <a:ext cx="3694176" cy="41148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The insulator under the gate, ~1 nm. Hafnium oxide (“high-k”) replaced SiO₂ around 2007 to stop it leaking.</a:t>
            </a:r>
            <a:endParaRPr lang="en-US" sz="1250" dirty="0"/>
          </a:p>
        </p:txBody>
      </p:sp>
      <p:sp>
        <p:nvSpPr>
          <p:cNvPr id="15" name="Shape 13"/>
          <p:cNvSpPr/>
          <p:nvPr/>
        </p:nvSpPr>
        <p:spPr>
          <a:xfrm>
            <a:off x="457200" y="3474720"/>
            <a:ext cx="4023360" cy="1097280"/>
          </a:xfrm>
          <a:prstGeom prst="roundRect">
            <a:avLst>
              <a:gd name="adj" fmla="val 6667"/>
            </a:avLst>
          </a:prstGeom>
          <a:solidFill>
            <a:srgbClr val="EEF2F6"/>
          </a:solidFill>
          <a:ln w="12700">
            <a:solidFill>
              <a:srgbClr val="EEF2F6"/>
            </a:solidFill>
            <a:prstDash val="solid"/>
          </a:ln>
        </p:spPr>
      </p:sp>
      <p:sp>
        <p:nvSpPr>
          <p:cNvPr id="16" name="Text 14"/>
          <p:cNvSpPr txBox="1"/>
          <p:nvPr/>
        </p:nvSpPr>
        <p:spPr>
          <a:xfrm>
            <a:off x="621792" y="3611880"/>
            <a:ext cx="37216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VDD (supply voltage)</a:t>
            </a:r>
            <a:endParaRPr lang="en-US" sz="1500" dirty="0"/>
          </a:p>
        </p:txBody>
      </p:sp>
      <p:sp>
        <p:nvSpPr>
          <p:cNvPr id="17" name="Text 15"/>
          <p:cNvSpPr txBox="1"/>
          <p:nvPr/>
        </p:nvSpPr>
        <p:spPr>
          <a:xfrm>
            <a:off x="621792" y="4041648"/>
            <a:ext cx="3694176" cy="41148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The voltage that runs the chip, ~0.7 V today. Lower VDD = less power, but the switch must still turn fully on.</a:t>
            </a:r>
            <a:endParaRPr lang="en-US" sz="1250" dirty="0"/>
          </a:p>
        </p:txBody>
      </p:sp>
      <p:sp>
        <p:nvSpPr>
          <p:cNvPr id="18" name="Shape 16"/>
          <p:cNvSpPr/>
          <p:nvPr/>
        </p:nvSpPr>
        <p:spPr>
          <a:xfrm>
            <a:off x="4663440" y="3474720"/>
            <a:ext cx="4023360" cy="1097280"/>
          </a:xfrm>
          <a:prstGeom prst="roundRect">
            <a:avLst>
              <a:gd name="adj" fmla="val 6667"/>
            </a:avLst>
          </a:prstGeom>
          <a:solidFill>
            <a:srgbClr val="EEF2F6"/>
          </a:solidFill>
          <a:ln w="12700">
            <a:solidFill>
              <a:srgbClr val="EEF2F6"/>
            </a:solidFill>
            <a:prstDash val="solid"/>
          </a:ln>
        </p:spPr>
      </p:sp>
      <p:sp>
        <p:nvSpPr>
          <p:cNvPr id="19" name="Text 17"/>
          <p:cNvSpPr txBox="1"/>
          <p:nvPr/>
        </p:nvSpPr>
        <p:spPr>
          <a:xfrm>
            <a:off x="4828032" y="3611880"/>
            <a:ext cx="37216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nMOS + pMOS = CMOS</a:t>
            </a:r>
            <a:endParaRPr lang="en-US" sz="1500" dirty="0"/>
          </a:p>
        </p:txBody>
      </p:sp>
      <p:sp>
        <p:nvSpPr>
          <p:cNvPr id="20" name="Text 18"/>
          <p:cNvSpPr txBox="1"/>
          <p:nvPr/>
        </p:nvSpPr>
        <p:spPr>
          <a:xfrm>
            <a:off x="4828032" y="4041648"/>
            <a:ext cx="3694176" cy="41148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Every logic gate pairs an n-type and a p-type transistor, so almost no current flows when idle.</a:t>
            </a:r>
            <a:endParaRPr lang="en-US" sz="12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2 · Why small transistors leak</a:t>
            </a: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Reading the switch's report card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The I–V curve: a transistor's report card</a:t>
            </a:r>
            <a:endParaRPr lang="en-US" sz="2800" dirty="0"/>
          </a:p>
        </p:txBody>
      </p:sp>
      <p:pic>
        <p:nvPicPr>
          <p:cNvPr id="3" name="Image 0" descr="The I–V curve: a transistor's report card">    </p:cNvPr>
          <p:cNvPicPr>
            <a:picLocks noChangeAspect="1"/>
          </p:cNvPicPr>
          <p:nvPr/>
        </p:nvPicPr>
        <p:blipFill>
          <a:blip r:embed="rId1"/>
          <a:stretch>
            <a:fillRect/>
          </a:stretch>
        </p:blipFill>
        <p:spPr>
          <a:xfrm>
            <a:off x="971550" y="1005840"/>
            <a:ext cx="7200900"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ctr"/>
          <a:lstStyle/>
          <a:p>
            <a:pPr algn="ctr" indent="0" marL="0">
              <a:buNone/>
            </a:pPr>
            <a:r>
              <a:rPr lang="en-US" sz="1500" b="1" dirty="0">
                <a:solidFill>
                  <a:srgbClr val="C8763A"/>
                </a:solidFill>
                <a:latin typeface="Calibri" pitchFamily="34" charset="0"/>
                <a:ea typeface="Calibri" pitchFamily="34" charset="-122"/>
                <a:cs typeface="Calibri" pitchFamily="34" charset="-120"/>
              </a:rPr>
              <a:t>Good switch: tiny OFF leak, big ON current, steep in between</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The three numbers that grade a switch</a:t>
            </a:r>
            <a:endParaRPr lang="en-US" sz="2800" dirty="0"/>
          </a:p>
        </p:txBody>
      </p:sp>
      <p:sp>
        <p:nvSpPr>
          <p:cNvPr id="3" name="Text 1"/>
          <p:cNvSpPr txBox="1"/>
          <p:nvPr/>
        </p:nvSpPr>
        <p:spPr>
          <a:xfrm>
            <a:off x="457200" y="1005840"/>
            <a:ext cx="2651760" cy="777240"/>
          </a:xfrm>
          <a:prstGeom prst="rect">
            <a:avLst/>
          </a:prstGeom>
          <a:noFill/>
          <a:ln/>
        </p:spPr>
        <p:txBody>
          <a:bodyPr wrap="square" lIns="0" tIns="0" rIns="0" bIns="0" rtlCol="0" anchor="b"/>
          <a:lstStyle/>
          <a:p>
            <a:pPr indent="0" marL="0">
              <a:buNone/>
            </a:pPr>
            <a:r>
              <a:rPr lang="en-US" sz="4000" b="1" dirty="0">
                <a:solidFill>
                  <a:srgbClr val="2A9D8F"/>
                </a:solidFill>
                <a:latin typeface="Cambria" pitchFamily="34" charset="0"/>
                <a:ea typeface="Cambria" pitchFamily="34" charset="-122"/>
                <a:cs typeface="Cambria" pitchFamily="34" charset="-120"/>
              </a:rPr>
              <a:t>I_on</a:t>
            </a:r>
            <a:endParaRPr lang="en-US" sz="4000" dirty="0"/>
          </a:p>
        </p:txBody>
      </p:sp>
      <p:sp>
        <p:nvSpPr>
          <p:cNvPr id="4" name="Text 2"/>
          <p:cNvSpPr txBox="1"/>
          <p:nvPr/>
        </p:nvSpPr>
        <p:spPr>
          <a:xfrm>
            <a:off x="457200" y="1828800"/>
            <a:ext cx="265176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ON current. Higher = faster chip.</a:t>
            </a:r>
            <a:endParaRPr lang="en-US" sz="1300" dirty="0"/>
          </a:p>
        </p:txBody>
      </p:sp>
      <p:sp>
        <p:nvSpPr>
          <p:cNvPr id="5" name="Text 3"/>
          <p:cNvSpPr txBox="1"/>
          <p:nvPr/>
        </p:nvSpPr>
        <p:spPr>
          <a:xfrm>
            <a:off x="3246120" y="1005840"/>
            <a:ext cx="2651760" cy="777240"/>
          </a:xfrm>
          <a:prstGeom prst="rect">
            <a:avLst/>
          </a:prstGeom>
          <a:noFill/>
          <a:ln/>
        </p:spPr>
        <p:txBody>
          <a:bodyPr wrap="square" lIns="0" tIns="0" rIns="0" bIns="0" rtlCol="0" anchor="b"/>
          <a:lstStyle/>
          <a:p>
            <a:pPr indent="0" marL="0">
              <a:buNone/>
            </a:pPr>
            <a:r>
              <a:rPr lang="en-US" sz="4000" b="1" dirty="0">
                <a:solidFill>
                  <a:srgbClr val="B23A48"/>
                </a:solidFill>
                <a:latin typeface="Cambria" pitchFamily="34" charset="0"/>
                <a:ea typeface="Cambria" pitchFamily="34" charset="-122"/>
                <a:cs typeface="Cambria" pitchFamily="34" charset="-120"/>
              </a:rPr>
              <a:t>I_off</a:t>
            </a:r>
            <a:endParaRPr lang="en-US" sz="4000" dirty="0"/>
          </a:p>
        </p:txBody>
      </p:sp>
      <p:sp>
        <p:nvSpPr>
          <p:cNvPr id="6" name="Text 4"/>
          <p:cNvSpPr txBox="1"/>
          <p:nvPr/>
        </p:nvSpPr>
        <p:spPr>
          <a:xfrm>
            <a:off x="3246120" y="1828800"/>
            <a:ext cx="265176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OFF leakage. Lower = better battery and less heat.</a:t>
            </a:r>
            <a:endParaRPr lang="en-US" sz="1300" dirty="0"/>
          </a:p>
        </p:txBody>
      </p:sp>
      <p:sp>
        <p:nvSpPr>
          <p:cNvPr id="7" name="Text 5"/>
          <p:cNvSpPr txBox="1"/>
          <p:nvPr/>
        </p:nvSpPr>
        <p:spPr>
          <a:xfrm>
            <a:off x="6035040" y="1005840"/>
            <a:ext cx="2651760" cy="777240"/>
          </a:xfrm>
          <a:prstGeom prst="rect">
            <a:avLst/>
          </a:prstGeom>
          <a:noFill/>
          <a:ln/>
        </p:spPr>
        <p:txBody>
          <a:bodyPr wrap="square" lIns="0" tIns="0" rIns="0" bIns="0" rtlCol="0" anchor="b"/>
          <a:lstStyle/>
          <a:p>
            <a:pPr indent="0" marL="0">
              <a:buNone/>
            </a:pPr>
            <a:r>
              <a:rPr lang="en-US" sz="4000" b="1" dirty="0">
                <a:solidFill>
                  <a:srgbClr val="C8763A"/>
                </a:solidFill>
                <a:latin typeface="Cambria" pitchFamily="34" charset="0"/>
                <a:ea typeface="Cambria" pitchFamily="34" charset="-122"/>
                <a:cs typeface="Cambria" pitchFamily="34" charset="-120"/>
              </a:rPr>
              <a:t>SS</a:t>
            </a:r>
            <a:endParaRPr lang="en-US" sz="4000" dirty="0"/>
          </a:p>
        </p:txBody>
      </p:sp>
      <p:sp>
        <p:nvSpPr>
          <p:cNvPr id="8" name="Text 6"/>
          <p:cNvSpPr txBox="1"/>
          <p:nvPr/>
        </p:nvSpPr>
        <p:spPr>
          <a:xfrm>
            <a:off x="6035040" y="1828800"/>
            <a:ext cx="265176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Subthreshold swing: mV of gate voltage for 10× current.</a:t>
            </a:r>
            <a:endParaRPr lang="en-US" sz="1300" dirty="0"/>
          </a:p>
        </p:txBody>
      </p:sp>
      <p:sp>
        <p:nvSpPr>
          <p:cNvPr id="9" name="Shape 7"/>
          <p:cNvSpPr/>
          <p:nvPr/>
        </p:nvSpPr>
        <p:spPr>
          <a:xfrm>
            <a:off x="457200" y="2743200"/>
            <a:ext cx="8229600" cy="1783080"/>
          </a:xfrm>
          <a:prstGeom prst="roundRect">
            <a:avLst>
              <a:gd name="adj" fmla="val 4103"/>
            </a:avLst>
          </a:prstGeom>
          <a:solidFill>
            <a:srgbClr val="F6E7DA"/>
          </a:solidFill>
          <a:ln w="12700">
            <a:solidFill>
              <a:srgbClr val="F6E7DA"/>
            </a:solidFill>
            <a:prstDash val="solid"/>
          </a:ln>
        </p:spPr>
      </p:sp>
      <p:sp>
        <p:nvSpPr>
          <p:cNvPr id="10" name="Text 8"/>
          <p:cNvSpPr txBox="1"/>
          <p:nvPr/>
        </p:nvSpPr>
        <p:spPr>
          <a:xfrm>
            <a:off x="621792" y="2880360"/>
            <a:ext cx="792784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Why can't SS go below ~60 mV per decade?</a:t>
            </a:r>
            <a:endParaRPr lang="en-US" sz="1500" dirty="0"/>
          </a:p>
        </p:txBody>
      </p:sp>
      <p:sp>
        <p:nvSpPr>
          <p:cNvPr id="11" name="Text 9"/>
          <p:cNvSpPr txBox="1"/>
          <p:nvPr/>
        </p:nvSpPr>
        <p:spPr>
          <a:xfrm>
            <a:off x="621792" y="3310128"/>
            <a:ext cx="7900416" cy="109728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Electrons have a spread of energies set by temperature, like water molecules in a warm pond. At room temperature the thermal voltage kT/q ≈ 26 mV, and turning current up 10× needs ln(10) ≈ 2.3 times that: 26 × 2.3 ≈ 60 mV. No ordinary transistor beats this. Real ones are ~65–75 mV/decade. The worse the gate control, the bigger the number.</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Why short channels leak: the dam picture</a:t>
            </a:r>
            <a:endParaRPr lang="en-US" sz="2800" dirty="0"/>
          </a:p>
        </p:txBody>
      </p:sp>
      <p:pic>
        <p:nvPicPr>
          <p:cNvPr id="3" name="Image 0" descr="Why short channels leak: the dam picture">    </p:cNvPr>
          <p:cNvPicPr>
            <a:picLocks noChangeAspect="1"/>
          </p:cNvPicPr>
          <p:nvPr/>
        </p:nvPicPr>
        <p:blipFill>
          <a:blip r:embed="rId1"/>
          <a:stretch>
            <a:fillRect/>
          </a:stretch>
        </p:blipFill>
        <p:spPr>
          <a:xfrm>
            <a:off x="971550" y="1005840"/>
            <a:ext cx="7200900"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ctr"/>
          <a:lstStyle/>
          <a:p>
            <a:pPr algn="ctr" indent="0" marL="0">
              <a:buNone/>
            </a:pPr>
            <a:r>
              <a:rPr lang="en-US" sz="1500" b="1" dirty="0">
                <a:solidFill>
                  <a:srgbClr val="C8763A"/>
                </a:solidFill>
                <a:latin typeface="Calibri" pitchFamily="34" charset="0"/>
                <a:ea typeface="Calibri" pitchFamily="34" charset="-122"/>
                <a:cs typeface="Calibri" pitchFamily="34" charset="-120"/>
              </a:rPr>
              <a:t>In a short channel the drain helps lower the barrier: that's DIBL</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Three ways to give the gate back control</a:t>
            </a:r>
            <a:endParaRPr lang="en-US" sz="2800" dirty="0"/>
          </a:p>
        </p:txBody>
      </p:sp>
      <p:sp>
        <p:nvSpPr>
          <p:cNvPr id="3" name="Shape 1"/>
          <p:cNvSpPr/>
          <p:nvPr/>
        </p:nvSpPr>
        <p:spPr>
          <a:xfrm>
            <a:off x="457200" y="1005840"/>
            <a:ext cx="3749040" cy="2011680"/>
          </a:xfrm>
          <a:prstGeom prst="roundRect">
            <a:avLst>
              <a:gd name="adj" fmla="val 3636"/>
            </a:avLst>
          </a:prstGeom>
          <a:solidFill>
            <a:srgbClr val="F6E7DA"/>
          </a:solidFill>
          <a:ln w="12700">
            <a:solidFill>
              <a:srgbClr val="F6E7DA"/>
            </a:solidFill>
            <a:prstDash val="solid"/>
          </a:ln>
        </p:spPr>
      </p:sp>
      <p:sp>
        <p:nvSpPr>
          <p:cNvPr id="4" name="Text 2"/>
          <p:cNvSpPr txBox="1"/>
          <p:nvPr/>
        </p:nvSpPr>
        <p:spPr>
          <a:xfrm>
            <a:off x="621792" y="1143000"/>
            <a:ext cx="344728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The rule of thumb</a:t>
            </a:r>
            <a:endParaRPr lang="en-US" sz="1500" dirty="0"/>
          </a:p>
        </p:txBody>
      </p:sp>
      <p:sp>
        <p:nvSpPr>
          <p:cNvPr id="5" name="Text 3"/>
          <p:cNvSpPr txBox="1"/>
          <p:nvPr/>
        </p:nvSpPr>
        <p:spPr>
          <a:xfrm>
            <a:off x="621792" y="1572768"/>
            <a:ext cx="3419856" cy="132588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Engineers use a “natural length” λ:</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λ ≈ √(ε_si · t_si · t_ox / (N · ε_ox))</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The gate length must be several λ. So shrink λ.</a:t>
            </a:r>
            <a:endParaRPr lang="en-US" sz="1300" dirty="0"/>
          </a:p>
        </p:txBody>
      </p:sp>
      <p:sp>
        <p:nvSpPr>
          <p:cNvPr id="6" name="Text 4"/>
          <p:cNvSpPr txBox="1"/>
          <p:nvPr/>
        </p:nvSpPr>
        <p:spPr>
          <a:xfrm>
            <a:off x="457200" y="3154680"/>
            <a:ext cx="3749040" cy="640080"/>
          </a:xfrm>
          <a:prstGeom prst="rect">
            <a:avLst/>
          </a:prstGeom>
          <a:noFill/>
          <a:ln/>
        </p:spPr>
        <p:txBody>
          <a:bodyPr wrap="square" lIns="0" tIns="0" rIns="0" bIns="0" rtlCol="0" anchor="t"/>
          <a:lstStyle/>
          <a:p>
            <a:pPr indent="0" marL="0">
              <a:buNone/>
            </a:pPr>
            <a:r>
              <a:rPr lang="en-US" sz="1400" i="1" dirty="0">
                <a:solidFill>
                  <a:srgbClr val="5B7083"/>
                </a:solidFill>
                <a:latin typeface="Calibri" pitchFamily="34" charset="0"/>
                <a:ea typeface="Calibri" pitchFamily="34" charset="-122"/>
                <a:cs typeface="Calibri" pitchFamily="34" charset="-120"/>
              </a:rPr>
              <a:t>In plain words: thinner silicon, a better insulator, or more gate around the channel.</a:t>
            </a:r>
            <a:endParaRPr lang="en-US" sz="1400" dirty="0"/>
          </a:p>
        </p:txBody>
      </p:sp>
      <p:sp>
        <p:nvSpPr>
          <p:cNvPr id="7" name="Shape 5"/>
          <p:cNvSpPr/>
          <p:nvPr/>
        </p:nvSpPr>
        <p:spPr>
          <a:xfrm>
            <a:off x="4480560" y="1005840"/>
            <a:ext cx="4206240" cy="868680"/>
          </a:xfrm>
          <a:prstGeom prst="roundRect">
            <a:avLst>
              <a:gd name="adj" fmla="val 8421"/>
            </a:avLst>
          </a:prstGeom>
          <a:solidFill>
            <a:srgbClr val="EEF2F6"/>
          </a:solidFill>
          <a:ln w="12700">
            <a:solidFill>
              <a:srgbClr val="EEF2F6"/>
            </a:solidFill>
            <a:prstDash val="solid"/>
          </a:ln>
        </p:spPr>
      </p:sp>
      <p:sp>
        <p:nvSpPr>
          <p:cNvPr id="8" name="Shape 6"/>
          <p:cNvSpPr/>
          <p:nvPr/>
        </p:nvSpPr>
        <p:spPr>
          <a:xfrm>
            <a:off x="4617720" y="1143000"/>
            <a:ext cx="347472" cy="347472"/>
          </a:xfrm>
          <a:prstGeom prst="ellipse">
            <a:avLst/>
          </a:prstGeom>
          <a:solidFill>
            <a:srgbClr val="C8763A"/>
          </a:solidFill>
          <a:ln w="12700">
            <a:solidFill>
              <a:srgbClr val="C8763A"/>
            </a:solidFill>
            <a:prstDash val="solid"/>
          </a:ln>
        </p:spPr>
      </p:sp>
      <p:sp>
        <p:nvSpPr>
          <p:cNvPr id="9" name="Text 7"/>
          <p:cNvSpPr txBox="1"/>
          <p:nvPr/>
        </p:nvSpPr>
        <p:spPr>
          <a:xfrm>
            <a:off x="4617720" y="1143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0" name="Text 8"/>
          <p:cNvSpPr txBox="1"/>
          <p:nvPr/>
        </p:nvSpPr>
        <p:spPr>
          <a:xfrm>
            <a:off x="5074920" y="1143000"/>
            <a:ext cx="3474720" cy="36576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Thinner silicon body (t_si)</a:t>
            </a:r>
            <a:endParaRPr lang="en-US" sz="1400" dirty="0"/>
          </a:p>
        </p:txBody>
      </p:sp>
      <p:sp>
        <p:nvSpPr>
          <p:cNvPr id="11" name="Text 9"/>
          <p:cNvSpPr txBox="1"/>
          <p:nvPr/>
        </p:nvSpPr>
        <p:spPr>
          <a:xfrm>
            <a:off x="4645152" y="1572768"/>
            <a:ext cx="3877056" cy="182880"/>
          </a:xfrm>
          <a:prstGeom prst="rect">
            <a:avLst/>
          </a:prstGeom>
          <a:noFill/>
          <a:ln/>
        </p:spPr>
        <p:txBody>
          <a:bodyPr wrap="square" lIns="0" tIns="0" rIns="0" bIns="0" rtlCol="0" anchor="t"/>
          <a:lstStyle/>
          <a:p>
            <a:pPr indent="0" marL="0">
              <a:buNone/>
            </a:pPr>
            <a:r>
              <a:rPr lang="en-US" sz="1200" dirty="0">
                <a:solidFill>
                  <a:srgbClr val="14202E"/>
                </a:solidFill>
                <a:latin typeface="Calibri" pitchFamily="34" charset="0"/>
                <a:ea typeface="Calibri" pitchFamily="34" charset="-122"/>
                <a:cs typeface="Calibri" pitchFamily="34" charset="-120"/>
              </a:rPr>
              <a:t>Less room for the drain's field to sneak under (5 nm sheets).</a:t>
            </a:r>
            <a:endParaRPr lang="en-US" sz="1200" dirty="0"/>
          </a:p>
        </p:txBody>
      </p:sp>
      <p:sp>
        <p:nvSpPr>
          <p:cNvPr id="12" name="Shape 10"/>
          <p:cNvSpPr/>
          <p:nvPr/>
        </p:nvSpPr>
        <p:spPr>
          <a:xfrm>
            <a:off x="4480560" y="1965960"/>
            <a:ext cx="4206240" cy="868680"/>
          </a:xfrm>
          <a:prstGeom prst="roundRect">
            <a:avLst>
              <a:gd name="adj" fmla="val 8421"/>
            </a:avLst>
          </a:prstGeom>
          <a:solidFill>
            <a:srgbClr val="EEF2F6"/>
          </a:solidFill>
          <a:ln w="12700">
            <a:solidFill>
              <a:srgbClr val="EEF2F6"/>
            </a:solidFill>
            <a:prstDash val="solid"/>
          </a:ln>
        </p:spPr>
      </p:sp>
      <p:sp>
        <p:nvSpPr>
          <p:cNvPr id="13" name="Shape 11"/>
          <p:cNvSpPr/>
          <p:nvPr/>
        </p:nvSpPr>
        <p:spPr>
          <a:xfrm>
            <a:off x="4617720" y="2103120"/>
            <a:ext cx="347472" cy="347472"/>
          </a:xfrm>
          <a:prstGeom prst="ellipse">
            <a:avLst/>
          </a:prstGeom>
          <a:solidFill>
            <a:srgbClr val="C8763A"/>
          </a:solidFill>
          <a:ln w="12700">
            <a:solidFill>
              <a:srgbClr val="C8763A"/>
            </a:solidFill>
            <a:prstDash val="solid"/>
          </a:ln>
        </p:spPr>
      </p:sp>
      <p:sp>
        <p:nvSpPr>
          <p:cNvPr id="14" name="Text 12"/>
          <p:cNvSpPr txBox="1"/>
          <p:nvPr/>
        </p:nvSpPr>
        <p:spPr>
          <a:xfrm>
            <a:off x="4617720" y="21031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5" name="Text 13"/>
          <p:cNvSpPr txBox="1"/>
          <p:nvPr/>
        </p:nvSpPr>
        <p:spPr>
          <a:xfrm>
            <a:off x="5074920" y="2103120"/>
            <a:ext cx="3474720" cy="36576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Better insulator (t_ox, ε)</a:t>
            </a:r>
            <a:endParaRPr lang="en-US" sz="1400" dirty="0"/>
          </a:p>
        </p:txBody>
      </p:sp>
      <p:sp>
        <p:nvSpPr>
          <p:cNvPr id="16" name="Text 14"/>
          <p:cNvSpPr txBox="1"/>
          <p:nvPr/>
        </p:nvSpPr>
        <p:spPr>
          <a:xfrm>
            <a:off x="4645152" y="2532888"/>
            <a:ext cx="3877056" cy="182880"/>
          </a:xfrm>
          <a:prstGeom prst="rect">
            <a:avLst/>
          </a:prstGeom>
          <a:noFill/>
          <a:ln/>
        </p:spPr>
        <p:txBody>
          <a:bodyPr wrap="square" lIns="0" tIns="0" rIns="0" bIns="0" rtlCol="0" anchor="t"/>
          <a:lstStyle/>
          <a:p>
            <a:pPr indent="0" marL="0">
              <a:buNone/>
            </a:pPr>
            <a:r>
              <a:rPr lang="en-US" sz="1200" dirty="0">
                <a:solidFill>
                  <a:srgbClr val="14202E"/>
                </a:solidFill>
                <a:latin typeface="Calibri" pitchFamily="34" charset="0"/>
                <a:ea typeface="Calibri" pitchFamily="34" charset="-122"/>
                <a:cs typeface="Calibri" pitchFamily="34" charset="-120"/>
              </a:rPr>
              <a:t>High-k hafnium oxide since ~2007: thicker but more effective.</a:t>
            </a:r>
            <a:endParaRPr lang="en-US" sz="1200" dirty="0"/>
          </a:p>
        </p:txBody>
      </p:sp>
      <p:sp>
        <p:nvSpPr>
          <p:cNvPr id="17" name="Shape 15"/>
          <p:cNvSpPr/>
          <p:nvPr/>
        </p:nvSpPr>
        <p:spPr>
          <a:xfrm>
            <a:off x="4480560" y="2926080"/>
            <a:ext cx="4206240" cy="868680"/>
          </a:xfrm>
          <a:prstGeom prst="roundRect">
            <a:avLst>
              <a:gd name="adj" fmla="val 8421"/>
            </a:avLst>
          </a:prstGeom>
          <a:solidFill>
            <a:srgbClr val="DDF1EE"/>
          </a:solidFill>
          <a:ln w="12700">
            <a:solidFill>
              <a:srgbClr val="DDF1EE"/>
            </a:solidFill>
            <a:prstDash val="solid"/>
          </a:ln>
        </p:spPr>
      </p:sp>
      <p:sp>
        <p:nvSpPr>
          <p:cNvPr id="18" name="Shape 16"/>
          <p:cNvSpPr/>
          <p:nvPr/>
        </p:nvSpPr>
        <p:spPr>
          <a:xfrm>
            <a:off x="4617720" y="3063240"/>
            <a:ext cx="347472" cy="347472"/>
          </a:xfrm>
          <a:prstGeom prst="ellipse">
            <a:avLst/>
          </a:prstGeom>
          <a:solidFill>
            <a:srgbClr val="C8763A"/>
          </a:solidFill>
          <a:ln w="12700">
            <a:solidFill>
              <a:srgbClr val="C8763A"/>
            </a:solidFill>
            <a:prstDash val="solid"/>
          </a:ln>
        </p:spPr>
      </p:sp>
      <p:sp>
        <p:nvSpPr>
          <p:cNvPr id="19" name="Text 17"/>
          <p:cNvSpPr txBox="1"/>
          <p:nvPr/>
        </p:nvSpPr>
        <p:spPr>
          <a:xfrm>
            <a:off x="4617720" y="30632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0" name="Text 18"/>
          <p:cNvSpPr txBox="1"/>
          <p:nvPr/>
        </p:nvSpPr>
        <p:spPr>
          <a:xfrm>
            <a:off x="5074920" y="3063240"/>
            <a:ext cx="3474720" cy="36576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More gates around it (N)</a:t>
            </a:r>
            <a:endParaRPr lang="en-US" sz="1400" dirty="0"/>
          </a:p>
        </p:txBody>
      </p:sp>
      <p:sp>
        <p:nvSpPr>
          <p:cNvPr id="21" name="Text 19"/>
          <p:cNvSpPr txBox="1"/>
          <p:nvPr/>
        </p:nvSpPr>
        <p:spPr>
          <a:xfrm>
            <a:off x="4645152" y="3493008"/>
            <a:ext cx="3877056" cy="182880"/>
          </a:xfrm>
          <a:prstGeom prst="rect">
            <a:avLst/>
          </a:prstGeom>
          <a:noFill/>
          <a:ln/>
        </p:spPr>
        <p:txBody>
          <a:bodyPr wrap="square" lIns="0" tIns="0" rIns="0" bIns="0" rtlCol="0" anchor="t"/>
          <a:lstStyle/>
          <a:p>
            <a:pPr indent="0" marL="0">
              <a:buNone/>
            </a:pPr>
            <a:r>
              <a:rPr lang="en-US" sz="1200" dirty="0">
                <a:solidFill>
                  <a:srgbClr val="14202E"/>
                </a:solidFill>
                <a:latin typeface="Calibri" pitchFamily="34" charset="0"/>
                <a:ea typeface="Calibri" pitchFamily="34" charset="-122"/>
                <a:cs typeface="Calibri" pitchFamily="34" charset="-120"/>
              </a:rPr>
              <a:t>1 side → 3 sides (FinFET) → 4 sides (nanosheet).</a:t>
            </a:r>
            <a:endParaRPr lang="en-US" sz="1200" dirty="0"/>
          </a:p>
        </p:txBody>
      </p:sp>
      <p:sp>
        <p:nvSpPr>
          <p:cNvPr id="22" name="Text 20"/>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Worked example: with SS = 75 mV/dec, cutting leakage 10× needs Vt +75 mV. At 60 mV/dec, only +60 mV. Steeper = lower VDD = less power.</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3 · How a node is measured</a:t>
            </a: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Forget the name: measure the pitches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A standard cell from above</a:t>
            </a:r>
            <a:endParaRPr lang="en-US" sz="2800" dirty="0"/>
          </a:p>
        </p:txBody>
      </p:sp>
      <p:pic>
        <p:nvPicPr>
          <p:cNvPr id="3" name="Image 0" descr="A standard cell from above">    </p:cNvPr>
          <p:cNvPicPr>
            <a:picLocks noChangeAspect="1"/>
          </p:cNvPicPr>
          <p:nvPr/>
        </p:nvPicPr>
        <p:blipFill>
          <a:blip r:embed="rId1"/>
          <a:stretch>
            <a:fillRect/>
          </a:stretch>
        </p:blipFill>
        <p:spPr>
          <a:xfrm>
            <a:off x="914400" y="1005840"/>
            <a:ext cx="7315200"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ctr"/>
          <a:lstStyle/>
          <a:p>
            <a:pPr algn="ctr" indent="0" marL="0">
              <a:buNone/>
            </a:pPr>
            <a:r>
              <a:rPr lang="en-US" sz="1500" b="1" dirty="0">
                <a:solidFill>
                  <a:srgbClr val="C8763A"/>
                </a:solidFill>
                <a:latin typeface="Calibri" pitchFamily="34" charset="0"/>
                <a:ea typeface="Calibri" pitchFamily="34" charset="-122"/>
                <a:cs typeface="Calibri" pitchFamily="34" charset="-120"/>
              </a:rPr>
              <a:t>Cell width is counted in gate pitches; cell height in metal tracks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Pitches have nearly stopped shrinking</a:t>
            </a:r>
            <a:endParaRPr lang="en-US" sz="2800" dirty="0"/>
          </a:p>
        </p:txBody>
      </p:sp>
      <p:graphicFrame>
        <p:nvGraphicFramePr>
          <p:cNvPr id="3" name="Chart 0" descr=""/>
          <p:cNvGraphicFramePr/>
          <p:nvPr/>
        </p:nvGraphicFramePr>
        <p:xfrm>
          <a:off x="365760" y="1005840"/>
          <a:ext cx="5577840" cy="36576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217920" y="1097280"/>
            <a:ext cx="2468880" cy="2103120"/>
          </a:xfrm>
          <a:prstGeom prst="roundRect">
            <a:avLst>
              <a:gd name="adj" fmla="val 3478"/>
            </a:avLst>
          </a:prstGeom>
          <a:solidFill>
            <a:srgbClr val="F6E7DA"/>
          </a:solidFill>
          <a:ln w="12700">
            <a:solidFill>
              <a:srgbClr val="F6E7DA"/>
            </a:solidFill>
            <a:prstDash val="solid"/>
          </a:ln>
        </p:spPr>
      </p:sp>
      <p:sp>
        <p:nvSpPr>
          <p:cNvPr id="5" name="Text 2"/>
          <p:cNvSpPr txBox="1"/>
          <p:nvPr/>
        </p:nvSpPr>
        <p:spPr>
          <a:xfrm>
            <a:off x="6382512" y="1234440"/>
            <a:ext cx="216712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Read the chart</a:t>
            </a:r>
            <a:endParaRPr lang="en-US" sz="1500" dirty="0"/>
          </a:p>
        </p:txBody>
      </p:sp>
      <p:sp>
        <p:nvSpPr>
          <p:cNvPr id="6" name="Text 3"/>
          <p:cNvSpPr txBox="1"/>
          <p:nvPr/>
        </p:nvSpPr>
        <p:spPr>
          <a:xfrm>
            <a:off x="6382512" y="1664208"/>
            <a:ext cx="2139696" cy="141732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From N5 to N2, gate pitch moved only ~6 nm. Density still improves, mostly through DTCO (next slide).</a:t>
            </a:r>
            <a:endParaRPr lang="en-US" sz="1300" dirty="0"/>
          </a:p>
        </p:txBody>
      </p:sp>
      <p:sp>
        <p:nvSpPr>
          <p:cNvPr id="7" name="Text 4"/>
          <p:cNvSpPr txBox="1"/>
          <p:nvPr/>
        </p:nvSpPr>
        <p:spPr>
          <a:xfrm>
            <a:off x="6217920" y="3383280"/>
            <a:ext cx="2468880" cy="731520"/>
          </a:xfrm>
          <a:prstGeom prst="rect">
            <a:avLst/>
          </a:prstGeom>
          <a:noFill/>
          <a:ln/>
        </p:spPr>
        <p:txBody>
          <a:bodyPr wrap="square" lIns="0" tIns="0" rIns="0" bIns="0" rtlCol="0" anchor="t"/>
          <a:lstStyle/>
          <a:p>
            <a:pPr indent="0" marL="0">
              <a:buNone/>
            </a:pPr>
            <a:r>
              <a:rPr lang="en-US" sz="1100" i="1" dirty="0">
                <a:solidFill>
                  <a:srgbClr val="5B7083"/>
                </a:solidFill>
                <a:latin typeface="Calibri" pitchFamily="34" charset="0"/>
                <a:ea typeface="Calibri" pitchFamily="34" charset="-122"/>
                <a:cs typeface="Calibri" pitchFamily="34" charset="-120"/>
              </a:rPr>
              <a:t>Approximate published/analyst figures; they vary by source and process variant.</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DTCO: shrink the cell, not the pitch</a:t>
            </a:r>
            <a:endParaRPr lang="en-US" sz="2800" dirty="0"/>
          </a:p>
        </p:txBody>
      </p:sp>
      <p:graphicFrame>
        <p:nvGraphicFramePr>
          <p:cNvPr id="3" name="Chart 0" descr=""/>
          <p:cNvGraphicFramePr/>
          <p:nvPr/>
        </p:nvGraphicFramePr>
        <p:xfrm>
          <a:off x="365760" y="1005840"/>
          <a:ext cx="420624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846320" y="1051560"/>
            <a:ext cx="3840480" cy="64008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DTCO = design-technology co-optimisation: process and cell designers change the rules together.</a:t>
            </a:r>
            <a:endParaRPr lang="en-US" sz="1400" dirty="0"/>
          </a:p>
        </p:txBody>
      </p:sp>
      <p:sp>
        <p:nvSpPr>
          <p:cNvPr id="5" name="Text 2"/>
          <p:cNvSpPr txBox="1"/>
          <p:nvPr/>
        </p:nvSpPr>
        <p:spPr>
          <a:xfrm>
            <a:off x="4846320" y="1783080"/>
            <a:ext cx="3840480" cy="27432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4202E"/>
                </a:solidFill>
                <a:latin typeface="Calibri" pitchFamily="34" charset="0"/>
                <a:ea typeface="Calibri" pitchFamily="34" charset="-122"/>
                <a:cs typeface="Calibri" pitchFamily="34" charset="-120"/>
              </a:rPr>
              <a:t>Fewer tracks per cell (7.5 → 6 → 5): −33% height</a:t>
            </a:r>
            <a:endParaRPr lang="en-US" sz="1300" dirty="0"/>
          </a:p>
          <a:p>
            <a:pPr marL="177800" indent="-177800">
              <a:spcAft>
                <a:spcPts val="600"/>
              </a:spcAft>
              <a:buSzPct val="100000"/>
              <a:buChar char="•"/>
            </a:pPr>
            <a:r>
              <a:rPr lang="en-US" sz="1300" dirty="0">
                <a:solidFill>
                  <a:srgbClr val="14202E"/>
                </a:solidFill>
                <a:latin typeface="Calibri" pitchFamily="34" charset="0"/>
                <a:ea typeface="Calibri" pitchFamily="34" charset="-122"/>
                <a:cs typeface="Calibri" pitchFamily="34" charset="-120"/>
              </a:rPr>
              <a:t>Fin depopulation: 3 → 2 → 1 fin per transistor</a:t>
            </a:r>
            <a:endParaRPr lang="en-US" sz="1300" dirty="0"/>
          </a:p>
          <a:p>
            <a:pPr marL="177800" indent="-177800">
              <a:spcAft>
                <a:spcPts val="600"/>
              </a:spcAft>
              <a:buSzPct val="100000"/>
              <a:buChar char="•"/>
            </a:pPr>
            <a:r>
              <a:rPr lang="en-US" sz="1300" dirty="0">
                <a:solidFill>
                  <a:srgbClr val="14202E"/>
                </a:solidFill>
                <a:latin typeface="Calibri" pitchFamily="34" charset="0"/>
                <a:ea typeface="Calibri" pitchFamily="34" charset="-122"/>
                <a:cs typeface="Calibri" pitchFamily="34" charset="-120"/>
              </a:rPr>
              <a:t>Contact over active gate (COAG): put the gate contact right on top of the transistor</a:t>
            </a:r>
            <a:endParaRPr lang="en-US" sz="1300" dirty="0"/>
          </a:p>
          <a:p>
            <a:pPr marL="177800" indent="-177800">
              <a:spcAft>
                <a:spcPts val="600"/>
              </a:spcAft>
              <a:buSzPct val="100000"/>
              <a:buChar char="•"/>
            </a:pPr>
            <a:r>
              <a:rPr lang="en-US" sz="1300" dirty="0">
                <a:solidFill>
                  <a:srgbClr val="14202E"/>
                </a:solidFill>
                <a:latin typeface="Calibri" pitchFamily="34" charset="0"/>
                <a:ea typeface="Calibri" pitchFamily="34" charset="-122"/>
                <a:cs typeface="Calibri" pitchFamily="34" charset="-120"/>
              </a:rPr>
              <a:t>Single diffusion break: thinner gaps between cells</a:t>
            </a:r>
            <a:endParaRPr lang="en-US" sz="1300" dirty="0"/>
          </a:p>
          <a:p>
            <a:pPr marL="177800" indent="-177800">
              <a:spcAft>
                <a:spcPts val="600"/>
              </a:spcAft>
              <a:buSzPct val="100000"/>
              <a:buChar char="•"/>
            </a:pPr>
            <a:r>
              <a:rPr lang="en-US" sz="1300" dirty="0">
                <a:solidFill>
                  <a:srgbClr val="14202E"/>
                </a:solidFill>
                <a:latin typeface="Calibri" pitchFamily="34" charset="0"/>
                <a:ea typeface="Calibri" pitchFamily="34" charset="-122"/>
                <a:cs typeface="Calibri" pitchFamily="34" charset="-120"/>
              </a:rPr>
              <a:t>Backside power: frees the tracks used by power rails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Density and the SRAM problem</a:t>
            </a:r>
            <a:endParaRPr lang="en-US" sz="2800" dirty="0"/>
          </a:p>
        </p:txBody>
      </p:sp>
      <p:sp>
        <p:nvSpPr>
          <p:cNvPr id="3" name="Shape 1"/>
          <p:cNvSpPr/>
          <p:nvPr/>
        </p:nvSpPr>
        <p:spPr>
          <a:xfrm>
            <a:off x="457200" y="1005840"/>
            <a:ext cx="3931920" cy="3520440"/>
          </a:xfrm>
          <a:prstGeom prst="roundRect">
            <a:avLst>
              <a:gd name="adj" fmla="val 2078"/>
            </a:avLst>
          </a:prstGeom>
          <a:solidFill>
            <a:srgbClr val="EEF2F6"/>
          </a:solidFill>
          <a:ln w="12700">
            <a:solidFill>
              <a:srgbClr val="EEF2F6"/>
            </a:solidFill>
            <a:prstDash val="solid"/>
          </a:ln>
        </p:spPr>
      </p:sp>
      <p:sp>
        <p:nvSpPr>
          <p:cNvPr id="4" name="Text 2"/>
          <p:cNvSpPr txBox="1"/>
          <p:nvPr/>
        </p:nvSpPr>
        <p:spPr>
          <a:xfrm>
            <a:off x="621792" y="1143000"/>
            <a:ext cx="363016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Logic density (MTr/mm²)</a:t>
            </a:r>
            <a:endParaRPr lang="en-US" sz="1500" dirty="0"/>
          </a:p>
        </p:txBody>
      </p:sp>
      <p:sp>
        <p:nvSpPr>
          <p:cNvPr id="5" name="Text 3"/>
          <p:cNvSpPr txBox="1"/>
          <p:nvPr/>
        </p:nvSpPr>
        <p:spPr>
          <a:xfrm>
            <a:off x="621792" y="1572768"/>
            <a:ext cx="3602736" cy="283464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Million transistors per square millimetre. One common formula weights a small and a large cell:</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0.6 × NAND2 density + 0.4 × scan flip-flop density</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Useful for comparing processes, but real chips vary a lot with design and libraries.</a:t>
            </a:r>
            <a:endParaRPr lang="en-US" sz="1300" dirty="0"/>
          </a:p>
        </p:txBody>
      </p:sp>
      <p:sp>
        <p:nvSpPr>
          <p:cNvPr id="6" name="Shape 4"/>
          <p:cNvSpPr/>
          <p:nvPr/>
        </p:nvSpPr>
        <p:spPr>
          <a:xfrm>
            <a:off x="4663440" y="1005840"/>
            <a:ext cx="4023360" cy="3520440"/>
          </a:xfrm>
          <a:prstGeom prst="roundRect">
            <a:avLst>
              <a:gd name="adj" fmla="val 2078"/>
            </a:avLst>
          </a:prstGeom>
          <a:solidFill>
            <a:srgbClr val="F6E7DA"/>
          </a:solidFill>
          <a:ln w="12700">
            <a:solidFill>
              <a:srgbClr val="F6E7DA"/>
            </a:solidFill>
            <a:prstDash val="solid"/>
          </a:ln>
        </p:spPr>
      </p:sp>
      <p:sp>
        <p:nvSpPr>
          <p:cNvPr id="7" name="Text 5"/>
          <p:cNvSpPr txBox="1"/>
          <p:nvPr/>
        </p:nvSpPr>
        <p:spPr>
          <a:xfrm>
            <a:off x="4828032" y="1143000"/>
            <a:ext cx="37216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SRAM has stopped shrinking</a:t>
            </a:r>
            <a:endParaRPr lang="en-US" sz="1500" dirty="0"/>
          </a:p>
        </p:txBody>
      </p:sp>
      <p:sp>
        <p:nvSpPr>
          <p:cNvPr id="8" name="Text 6"/>
          <p:cNvSpPr txBox="1"/>
          <p:nvPr/>
        </p:nvSpPr>
        <p:spPr>
          <a:xfrm>
            <a:off x="4828032" y="1572768"/>
            <a:ext cx="3694176" cy="283464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SRAM is the fast memory (cache) on every chip. A bit cell uses 6 transistors.</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TSMC's reported high-density SRAM cell: ~0.021 µm² at N5 and roughly the same at N3E. N2 reportedly gets only a modest shrink.</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AI chips need huge caches, so this pushes designs toward chiplets and stacked cache (week 5).</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4 · From FinFET to nanosheet</a:t>
            </a: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Shapes, sizes, and how they're built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FinFET vs nanosheet in 3D</a:t>
            </a:r>
            <a:endParaRPr lang="en-US" sz="2800" dirty="0"/>
          </a:p>
        </p:txBody>
      </p:sp>
      <p:pic>
        <p:nvPicPr>
          <p:cNvPr id="3" name="Image 0" descr="FinFET vs nanosheet in 3D">    </p:cNvPr>
          <p:cNvPicPr>
            <a:picLocks noChangeAspect="1"/>
          </p:cNvPicPr>
          <p:nvPr/>
        </p:nvPicPr>
        <p:blipFill>
          <a:blip r:embed="rId1"/>
          <a:stretch>
            <a:fillRect/>
          </a:stretch>
        </p:blipFill>
        <p:spPr>
          <a:xfrm>
            <a:off x="971550" y="1005840"/>
            <a:ext cx="7200900"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ctr"/>
          <a:lstStyle/>
          <a:p>
            <a:pPr algn="ctr" indent="0" marL="0">
              <a:buNone/>
            </a:pPr>
            <a:r>
              <a:rPr lang="en-US" sz="1500" b="1" dirty="0">
                <a:solidFill>
                  <a:srgbClr val="C8763A"/>
                </a:solidFill>
                <a:latin typeface="Calibri" pitchFamily="34" charset="0"/>
                <a:ea typeface="Calibri" pitchFamily="34" charset="-122"/>
                <a:cs typeface="Calibri" pitchFamily="34" charset="-120"/>
              </a:rPr>
              <a:t>Similar total width, but nanosheets wrap every side and can be any width</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Worked example: sizing a transistor</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120640" cy="914400"/>
        </p:xfrm>
        <a:graphic>
          <a:graphicData uri="http://schemas.openxmlformats.org/drawingml/2006/table">
            <a:tbl>
              <a:tblPr/>
              <a:tblGrid>
                <a:gridCol w="1828800"/>
                <a:gridCol w="1828800"/>
                <a:gridCol w="14630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Device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Formula</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Effective width</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r>
              <a:tr h="457200">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1 fin (H 50, W 6)</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 × (2·50 + 6)</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106 nm</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2 fins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 × (2·50 + 6)</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212 nm</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3 fins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 × (2·50 + 6)</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318 nm</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3 sheets, 15 nm wide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 × 2·(15 + 5)</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120 nm</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3 sheets, 30 nm wide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 × 2·(30 + 5)</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210 nm</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3 sheets, 45 nm wide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 × 2·(45 + 5)</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300 nm</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bl>
          </a:graphicData>
        </a:graphic>
      </p:graphicFrame>
      <p:sp>
        <p:nvSpPr>
          <p:cNvPr id="4" name="Shape 1"/>
          <p:cNvSpPr/>
          <p:nvPr/>
        </p:nvSpPr>
        <p:spPr>
          <a:xfrm>
            <a:off x="5852160" y="1051560"/>
            <a:ext cx="2834640" cy="3200400"/>
          </a:xfrm>
          <a:prstGeom prst="roundRect">
            <a:avLst>
              <a:gd name="adj" fmla="val 2581"/>
            </a:avLst>
          </a:prstGeom>
          <a:solidFill>
            <a:srgbClr val="DDF1EE"/>
          </a:solidFill>
          <a:ln w="12700">
            <a:solidFill>
              <a:srgbClr val="DDF1EE"/>
            </a:solidFill>
            <a:prstDash val="solid"/>
          </a:ln>
        </p:spPr>
      </p:sp>
      <p:sp>
        <p:nvSpPr>
          <p:cNvPr id="5" name="Text 2"/>
          <p:cNvSpPr txBox="1"/>
          <p:nvPr/>
        </p:nvSpPr>
        <p:spPr>
          <a:xfrm>
            <a:off x="6016752" y="1188720"/>
            <a:ext cx="253288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Why it matters</a:t>
            </a:r>
            <a:endParaRPr lang="en-US" sz="1500" dirty="0"/>
          </a:p>
        </p:txBody>
      </p:sp>
      <p:sp>
        <p:nvSpPr>
          <p:cNvPr id="6" name="Text 3"/>
          <p:cNvSpPr txBox="1"/>
          <p:nvPr/>
        </p:nvSpPr>
        <p:spPr>
          <a:xfrm>
            <a:off x="6016752" y="1618488"/>
            <a:ext cx="2505456" cy="251460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Fins only come in steps of 106 nm. Sheet width can be anything in between.</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Library designers get back fine control: narrow sheets for low-power cells, wide sheets for fast ones.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How a nanosheet transistor is built</a:t>
            </a:r>
            <a:endParaRPr lang="en-US" sz="2800" dirty="0"/>
          </a:p>
        </p:txBody>
      </p:sp>
      <p:pic>
        <p:nvPicPr>
          <p:cNvPr id="3" name="Image 0" descr="How a nanosheet transistor is built">    </p:cNvPr>
          <p:cNvPicPr>
            <a:picLocks noChangeAspect="1"/>
          </p:cNvPicPr>
          <p:nvPr/>
        </p:nvPicPr>
        <p:blipFill>
          <a:blip r:embed="rId1"/>
          <a:stretch>
            <a:fillRect/>
          </a:stretch>
        </p:blipFill>
        <p:spPr>
          <a:xfrm>
            <a:off x="1415441" y="1005840"/>
            <a:ext cx="6313118"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ctr"/>
          <a:lstStyle/>
          <a:p>
            <a:pPr algn="ctr" indent="0" marL="0">
              <a:buNone/>
            </a:pPr>
            <a:r>
              <a:rPr lang="en-US" sz="1500" b="1" dirty="0">
                <a:solidFill>
                  <a:srgbClr val="C8763A"/>
                </a:solidFill>
                <a:latin typeface="Calibri" pitchFamily="34" charset="0"/>
                <a:ea typeface="Calibri" pitchFamily="34" charset="-122"/>
                <a:cs typeface="Calibri" pitchFamily="34" charset="-120"/>
              </a:rPr>
              <a:t>Build with a temporary material, then swap it for the real gate</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The three hardest steps, explained</a:t>
            </a:r>
            <a:endParaRPr lang="en-US" sz="2800" dirty="0"/>
          </a:p>
        </p:txBody>
      </p:sp>
      <p:sp>
        <p:nvSpPr>
          <p:cNvPr id="3" name="Shape 1"/>
          <p:cNvSpPr/>
          <p:nvPr/>
        </p:nvSpPr>
        <p:spPr>
          <a:xfrm>
            <a:off x="457200" y="1051560"/>
            <a:ext cx="2606040" cy="3429000"/>
          </a:xfrm>
          <a:prstGeom prst="roundRect">
            <a:avLst>
              <a:gd name="adj" fmla="val 2807"/>
            </a:avLst>
          </a:prstGeom>
          <a:solidFill>
            <a:srgbClr val="F6E7DA"/>
          </a:solidFill>
          <a:ln w="12700">
            <a:solidFill>
              <a:srgbClr val="F6E7DA"/>
            </a:solidFill>
            <a:prstDash val="solid"/>
          </a:ln>
        </p:spPr>
      </p:sp>
      <p:sp>
        <p:nvSpPr>
          <p:cNvPr id="4" name="Shape 2"/>
          <p:cNvSpPr/>
          <p:nvPr/>
        </p:nvSpPr>
        <p:spPr>
          <a:xfrm>
            <a:off x="594360" y="1188720"/>
            <a:ext cx="347472" cy="347472"/>
          </a:xfrm>
          <a:prstGeom prst="ellipse">
            <a:avLst/>
          </a:prstGeom>
          <a:solidFill>
            <a:srgbClr val="C8763A"/>
          </a:solidFill>
          <a:ln w="12700">
            <a:solidFill>
              <a:srgbClr val="C8763A"/>
            </a:solidFill>
            <a:prstDash val="solid"/>
          </a:ln>
        </p:spPr>
      </p:sp>
      <p:sp>
        <p:nvSpPr>
          <p:cNvPr id="5" name="Text 3"/>
          <p:cNvSpPr txBox="1"/>
          <p:nvPr/>
        </p:nvSpPr>
        <p:spPr>
          <a:xfrm>
            <a:off x="594360"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051560" y="1188720"/>
            <a:ext cx="1874520" cy="36576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Inner spacers (step 4)</a:t>
            </a:r>
            <a:endParaRPr lang="en-US" sz="1400" dirty="0"/>
          </a:p>
        </p:txBody>
      </p:sp>
      <p:sp>
        <p:nvSpPr>
          <p:cNvPr id="7" name="Text 5"/>
          <p:cNvSpPr txBox="1"/>
          <p:nvPr/>
        </p:nvSpPr>
        <p:spPr>
          <a:xfrm>
            <a:off x="621792" y="1618488"/>
            <a:ext cx="2276856" cy="274320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Etch a few nanometres sideways into each SiGe layer and fill the notch with insulator. Stops the gate shorting to source/drain and cuts unwanted capacitance. Needs ~1 nm control, uniformly, on billions of devices.</a:t>
            </a:r>
            <a:endParaRPr lang="en-US" sz="1250" dirty="0"/>
          </a:p>
        </p:txBody>
      </p:sp>
      <p:sp>
        <p:nvSpPr>
          <p:cNvPr id="8" name="Shape 6"/>
          <p:cNvSpPr/>
          <p:nvPr/>
        </p:nvSpPr>
        <p:spPr>
          <a:xfrm>
            <a:off x="3246120" y="1051560"/>
            <a:ext cx="2606040" cy="3429000"/>
          </a:xfrm>
          <a:prstGeom prst="roundRect">
            <a:avLst>
              <a:gd name="adj" fmla="val 2807"/>
            </a:avLst>
          </a:prstGeom>
          <a:solidFill>
            <a:srgbClr val="F6E7DA"/>
          </a:solidFill>
          <a:ln w="12700">
            <a:solidFill>
              <a:srgbClr val="F6E7DA"/>
            </a:solidFill>
            <a:prstDash val="solid"/>
          </a:ln>
        </p:spPr>
      </p:sp>
      <p:sp>
        <p:nvSpPr>
          <p:cNvPr id="9" name="Shape 7"/>
          <p:cNvSpPr/>
          <p:nvPr/>
        </p:nvSpPr>
        <p:spPr>
          <a:xfrm>
            <a:off x="3383280" y="1188720"/>
            <a:ext cx="347472" cy="347472"/>
          </a:xfrm>
          <a:prstGeom prst="ellipse">
            <a:avLst/>
          </a:prstGeom>
          <a:solidFill>
            <a:srgbClr val="C8763A"/>
          </a:solidFill>
          <a:ln w="12700">
            <a:solidFill>
              <a:srgbClr val="C8763A"/>
            </a:solidFill>
            <a:prstDash val="solid"/>
          </a:ln>
        </p:spPr>
      </p:sp>
      <p:sp>
        <p:nvSpPr>
          <p:cNvPr id="10" name="Text 8"/>
          <p:cNvSpPr txBox="1"/>
          <p:nvPr/>
        </p:nvSpPr>
        <p:spPr>
          <a:xfrm>
            <a:off x="3383280"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3840480" y="1188720"/>
            <a:ext cx="1874520" cy="36576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Channel release (step 6)</a:t>
            </a:r>
            <a:endParaRPr lang="en-US" sz="1400" dirty="0"/>
          </a:p>
        </p:txBody>
      </p:sp>
      <p:sp>
        <p:nvSpPr>
          <p:cNvPr id="12" name="Text 10"/>
          <p:cNvSpPr txBox="1"/>
          <p:nvPr/>
        </p:nvSpPr>
        <p:spPr>
          <a:xfrm>
            <a:off x="3410712" y="1618488"/>
            <a:ext cx="2276856" cy="274320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A chemical must dissolve SiGe but barely touch silicon: a selectivity of 100:1 or more. Too little and SiGe remains; too much and the sheets get thinned or damaged.</a:t>
            </a:r>
            <a:endParaRPr lang="en-US" sz="1250" dirty="0"/>
          </a:p>
        </p:txBody>
      </p:sp>
      <p:sp>
        <p:nvSpPr>
          <p:cNvPr id="13" name="Shape 11"/>
          <p:cNvSpPr/>
          <p:nvPr/>
        </p:nvSpPr>
        <p:spPr>
          <a:xfrm>
            <a:off x="6035040" y="1051560"/>
            <a:ext cx="2606040" cy="3429000"/>
          </a:xfrm>
          <a:prstGeom prst="roundRect">
            <a:avLst>
              <a:gd name="adj" fmla="val 2807"/>
            </a:avLst>
          </a:prstGeom>
          <a:solidFill>
            <a:srgbClr val="F6E7DA"/>
          </a:solidFill>
          <a:ln w="12700">
            <a:solidFill>
              <a:srgbClr val="F6E7DA"/>
            </a:solidFill>
            <a:prstDash val="solid"/>
          </a:ln>
        </p:spPr>
      </p:sp>
      <p:sp>
        <p:nvSpPr>
          <p:cNvPr id="14" name="Shape 12"/>
          <p:cNvSpPr/>
          <p:nvPr/>
        </p:nvSpPr>
        <p:spPr>
          <a:xfrm>
            <a:off x="6172200" y="1188720"/>
            <a:ext cx="347472" cy="347472"/>
          </a:xfrm>
          <a:prstGeom prst="ellipse">
            <a:avLst/>
          </a:prstGeom>
          <a:solidFill>
            <a:srgbClr val="C8763A"/>
          </a:solidFill>
          <a:ln w="12700">
            <a:solidFill>
              <a:srgbClr val="C8763A"/>
            </a:solidFill>
            <a:prstDash val="solid"/>
          </a:ln>
        </p:spPr>
      </p:sp>
      <p:sp>
        <p:nvSpPr>
          <p:cNvPr id="15" name="Text 13"/>
          <p:cNvSpPr txBox="1"/>
          <p:nvPr/>
        </p:nvSpPr>
        <p:spPr>
          <a:xfrm>
            <a:off x="6172200"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6629400" y="1188720"/>
            <a:ext cx="1874520" cy="365760"/>
          </a:xfrm>
          <a:prstGeom prst="rect">
            <a:avLst/>
          </a:prstGeom>
          <a:noFill/>
          <a:ln/>
        </p:spPr>
        <p:txBody>
          <a:bodyPr wrap="square" lIns="0" tIns="0" rIns="0" bIns="0" rtlCol="0" anchor="ctr"/>
          <a:lstStyle/>
          <a:p>
            <a:pPr indent="0" marL="0">
              <a:buNone/>
            </a:pPr>
            <a:r>
              <a:rPr lang="en-US" sz="1400" b="1" dirty="0">
                <a:solidFill>
                  <a:srgbClr val="0B1F33"/>
                </a:solidFill>
                <a:latin typeface="Calibri" pitchFamily="34" charset="0"/>
                <a:ea typeface="Calibri" pitchFamily="34" charset="-122"/>
                <a:cs typeface="Calibri" pitchFamily="34" charset="-120"/>
              </a:rPr>
              <a:t>Gate fill (step 7)</a:t>
            </a:r>
            <a:endParaRPr lang="en-US" sz="1400" dirty="0"/>
          </a:p>
        </p:txBody>
      </p:sp>
      <p:sp>
        <p:nvSpPr>
          <p:cNvPr id="17" name="Text 15"/>
          <p:cNvSpPr txBox="1"/>
          <p:nvPr/>
        </p:nvSpPr>
        <p:spPr>
          <a:xfrm>
            <a:off x="6199632" y="1618488"/>
            <a:ext cx="2276856" cy="2743200"/>
          </a:xfrm>
          <a:prstGeom prst="rect">
            <a:avLst/>
          </a:prstGeom>
          <a:noFill/>
          <a:ln/>
        </p:spPr>
        <p:txBody>
          <a:bodyPr wrap="square" lIns="0" tIns="0" rIns="0" bIns="0" rtlCol="0" anchor="t"/>
          <a:lstStyle/>
          <a:p>
            <a:pPr indent="0" marL="0">
              <a:buNone/>
            </a:pPr>
            <a:r>
              <a:rPr lang="en-US" sz="1250" dirty="0">
                <a:solidFill>
                  <a:srgbClr val="14202E"/>
                </a:solidFill>
                <a:latin typeface="Calibri" pitchFamily="34" charset="0"/>
                <a:ea typeface="Calibri" pitchFamily="34" charset="-122"/>
                <a:cs typeface="Calibri" pitchFamily="34" charset="-120"/>
              </a:rPr>
              <a:t>Insulator plus several metal layers must coat all sides of every sheet inside ~10 nm gaps, using atomic layer deposition (ALD). Little room means fewer threshold-voltage options (Vt flavours) for designers.</a:t>
            </a:r>
            <a:endParaRPr lang="en-US" sz="12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Who sells the tools for each step</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3474720"/>
                <a:gridCol w="2926080"/>
              </a:tblGrid>
              <a:tr h="53035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Step type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does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Main toolmakers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r>
              <a:tr h="530352">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Lithography</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Prints the patterns with light (week 2)</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ASML (EUV: sole supplier)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530352">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Epitaxy</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Grows perfect crystal layers (Si/SiGe, S/D)</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Applied Materials, ASM International</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r h="530352">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Deposition / ALD</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Coats films one atomic layer at a time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ASM International, Lam, Tokyo Electron, AMAT</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530352">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Etch</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Removes material, incl. selective SiGe etch</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Lam Research, Tokyo Electron, AMAT</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r h="530352">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Metrology / inspection</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Measures and finds defects at nm scale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KLA, Applied Materials, Onto</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bl>
          </a:graphicData>
        </a:graphic>
      </p:graphicFrame>
      <p:sp>
        <p:nvSpPr>
          <p:cNvPr id="4" name="Text 1"/>
          <p:cNvSpPr txBox="1"/>
          <p:nvPr/>
        </p:nvSpPr>
        <p:spPr>
          <a:xfrm>
            <a:off x="457200" y="4251960"/>
            <a:ext cx="8229600" cy="411480"/>
          </a:xfrm>
          <a:prstGeom prst="rect">
            <a:avLst/>
          </a:prstGeom>
          <a:noFill/>
          <a:ln/>
        </p:spPr>
        <p:txBody>
          <a:bodyPr wrap="square" lIns="0" tIns="0" rIns="0" bIns="0" rtlCol="0" anchor="t"/>
          <a:lstStyle/>
          <a:p>
            <a:pPr indent="0" marL="0">
              <a:buNone/>
            </a:pPr>
            <a:r>
              <a:rPr lang="en-US" sz="1300" i="1" dirty="0">
                <a:solidFill>
                  <a:srgbClr val="C8763A"/>
                </a:solidFill>
                <a:latin typeface="Calibri" pitchFamily="34" charset="0"/>
                <a:ea typeface="Calibri" pitchFamily="34" charset="-122"/>
                <a:cs typeface="Calibri" pitchFamily="34" charset="-120"/>
              </a:rPr>
              <a:t>GAA adds many epi, ALD, etch and metrology steps compared with FinFET, so these companies call it a growth driver.</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5 · Wiring and backside power</a:t>
            </a: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The wires are now the bottleneck</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Three ways to deliver power</a:t>
            </a:r>
            <a:endParaRPr lang="en-US" sz="2800" dirty="0"/>
          </a:p>
        </p:txBody>
      </p:sp>
      <p:pic>
        <p:nvPicPr>
          <p:cNvPr id="3" name="Image 0" descr="Three ways to deliver power">    </p:cNvPr>
          <p:cNvPicPr>
            <a:picLocks noChangeAspect="1"/>
          </p:cNvPicPr>
          <p:nvPr/>
        </p:nvPicPr>
        <p:blipFill>
          <a:blip r:embed="rId1"/>
          <a:stretch>
            <a:fillRect/>
          </a:stretch>
        </p:blipFill>
        <p:spPr>
          <a:xfrm>
            <a:off x="1026942" y="1005840"/>
            <a:ext cx="7090117"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ctr"/>
          <a:lstStyle/>
          <a:p>
            <a:pPr algn="ctr" indent="0" marL="0">
              <a:buNone/>
            </a:pPr>
            <a:r>
              <a:rPr lang="en-US" sz="1500" b="1" dirty="0">
                <a:solidFill>
                  <a:srgbClr val="C8763A"/>
                </a:solidFill>
                <a:latin typeface="Calibri" pitchFamily="34" charset="0"/>
                <a:ea typeface="Calibri" pitchFamily="34" charset="-122"/>
                <a:cs typeface="Calibri" pitchFamily="34" charset="-120"/>
              </a:rPr>
              <a:t>Moving power under the transistors cuts voltage loss and frees space for signals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Backside power: gains, costs, design impact</a:t>
            </a:r>
            <a:endParaRPr lang="en-US" sz="2800" dirty="0"/>
          </a:p>
        </p:txBody>
      </p:sp>
      <p:sp>
        <p:nvSpPr>
          <p:cNvPr id="3" name="Shape 1"/>
          <p:cNvSpPr/>
          <p:nvPr/>
        </p:nvSpPr>
        <p:spPr>
          <a:xfrm>
            <a:off x="457200" y="1005840"/>
            <a:ext cx="2651760" cy="3520440"/>
          </a:xfrm>
          <a:prstGeom prst="roundRect">
            <a:avLst>
              <a:gd name="adj" fmla="val 2759"/>
            </a:avLst>
          </a:prstGeom>
          <a:solidFill>
            <a:srgbClr val="DDF1EE"/>
          </a:solidFill>
          <a:ln w="12700">
            <a:solidFill>
              <a:srgbClr val="DDF1EE"/>
            </a:solidFill>
            <a:prstDash val="solid"/>
          </a:ln>
        </p:spPr>
      </p:sp>
      <p:sp>
        <p:nvSpPr>
          <p:cNvPr id="4" name="Text 2"/>
          <p:cNvSpPr txBox="1"/>
          <p:nvPr/>
        </p:nvSpPr>
        <p:spPr>
          <a:xfrm>
            <a:off x="621792" y="1143000"/>
            <a:ext cx="23500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Gains</a:t>
            </a:r>
            <a:endParaRPr lang="en-US" sz="1500" dirty="0"/>
          </a:p>
        </p:txBody>
      </p:sp>
      <p:sp>
        <p:nvSpPr>
          <p:cNvPr id="5" name="Text 3"/>
          <p:cNvSpPr txBox="1"/>
          <p:nvPr/>
        </p:nvSpPr>
        <p:spPr>
          <a:xfrm>
            <a:off x="621792" y="1572768"/>
            <a:ext cx="2322576" cy="283464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 Less IR drop (voltage lost in wires)</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Power rails leave the cell: ~1 more signal track</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Higher density and clock speed</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Big win for power-hungry AI chips</a:t>
            </a:r>
            <a:endParaRPr lang="en-US" sz="1300" dirty="0"/>
          </a:p>
        </p:txBody>
      </p:sp>
      <p:sp>
        <p:nvSpPr>
          <p:cNvPr id="6" name="Shape 4"/>
          <p:cNvSpPr/>
          <p:nvPr/>
        </p:nvSpPr>
        <p:spPr>
          <a:xfrm>
            <a:off x="3246120" y="1005840"/>
            <a:ext cx="2651760" cy="3520440"/>
          </a:xfrm>
          <a:prstGeom prst="roundRect">
            <a:avLst>
              <a:gd name="adj" fmla="val 2759"/>
            </a:avLst>
          </a:prstGeom>
          <a:solidFill>
            <a:srgbClr val="F6E7DA"/>
          </a:solidFill>
          <a:ln w="12700">
            <a:solidFill>
              <a:srgbClr val="F6E7DA"/>
            </a:solidFill>
            <a:prstDash val="solid"/>
          </a:ln>
        </p:spPr>
      </p:sp>
      <p:sp>
        <p:nvSpPr>
          <p:cNvPr id="7" name="Text 5"/>
          <p:cNvSpPr txBox="1"/>
          <p:nvPr/>
        </p:nvSpPr>
        <p:spPr>
          <a:xfrm>
            <a:off x="3410712" y="1143000"/>
            <a:ext cx="23500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Costs</a:t>
            </a:r>
            <a:endParaRPr lang="en-US" sz="1500" dirty="0"/>
          </a:p>
        </p:txBody>
      </p:sp>
      <p:sp>
        <p:nvSpPr>
          <p:cNvPr id="8" name="Text 6"/>
          <p:cNvSpPr txBox="1"/>
          <p:nvPr/>
        </p:nvSpPr>
        <p:spPr>
          <a:xfrm>
            <a:off x="3410712" y="1572768"/>
            <a:ext cx="2322576" cy="283464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 Wafer bonding and thinning to ~µm</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Nano-TSVs or backside contacts</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Hotspots: less silicon to spread heat</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Debugging from the back gets harder</a:t>
            </a:r>
            <a:endParaRPr lang="en-US" sz="1300" dirty="0"/>
          </a:p>
        </p:txBody>
      </p:sp>
      <p:sp>
        <p:nvSpPr>
          <p:cNvPr id="9" name="Shape 7"/>
          <p:cNvSpPr/>
          <p:nvPr/>
        </p:nvSpPr>
        <p:spPr>
          <a:xfrm>
            <a:off x="6035040" y="1005840"/>
            <a:ext cx="2651760" cy="3520440"/>
          </a:xfrm>
          <a:prstGeom prst="roundRect">
            <a:avLst>
              <a:gd name="adj" fmla="val 2759"/>
            </a:avLst>
          </a:prstGeom>
          <a:solidFill>
            <a:srgbClr val="EEF2F6"/>
          </a:solidFill>
          <a:ln w="12700">
            <a:solidFill>
              <a:srgbClr val="EEF2F6"/>
            </a:solidFill>
            <a:prstDash val="solid"/>
          </a:ln>
        </p:spPr>
      </p:sp>
      <p:sp>
        <p:nvSpPr>
          <p:cNvPr id="10" name="Text 8"/>
          <p:cNvSpPr txBox="1"/>
          <p:nvPr/>
        </p:nvSpPr>
        <p:spPr>
          <a:xfrm>
            <a:off x="6199632" y="1143000"/>
            <a:ext cx="23500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For chip designers</a:t>
            </a:r>
            <a:endParaRPr lang="en-US" sz="1500" dirty="0"/>
          </a:p>
        </p:txBody>
      </p:sp>
      <p:sp>
        <p:nvSpPr>
          <p:cNvPr id="11" name="Text 9"/>
          <p:cNvSpPr txBox="1"/>
          <p:nvPr/>
        </p:nvSpPr>
        <p:spPr>
          <a:xfrm>
            <a:off x="6199632" y="1572768"/>
            <a:ext cx="2322576" cy="283464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 New power-grid design and IR/EM sign-off (EM = electromigration, wires wearing out)</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New thermal analysis</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New PDK and EDA tool flows</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demand for physical-design skills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What comes after nanosheets</a:t>
            </a:r>
            <a:endParaRPr lang="en-US" sz="2800" dirty="0"/>
          </a:p>
        </p:txBody>
      </p:sp>
      <p:pic>
        <p:nvPicPr>
          <p:cNvPr id="3" name="Image 0" descr="What comes after nanosheets">    </p:cNvPr>
          <p:cNvPicPr>
            <a:picLocks noChangeAspect="1"/>
          </p:cNvPicPr>
          <p:nvPr/>
        </p:nvPicPr>
        <p:blipFill>
          <a:blip r:embed="rId1"/>
          <a:stretch>
            <a:fillRect/>
          </a:stretch>
        </p:blipFill>
        <p:spPr>
          <a:xfrm>
            <a:off x="794479" y="1005840"/>
            <a:ext cx="7555043"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ctr"/>
          <a:lstStyle/>
          <a:p>
            <a:pPr algn="ctr" indent="0" marL="0">
              <a:buNone/>
            </a:pPr>
            <a:r>
              <a:rPr lang="en-US" sz="1500" b="1" dirty="0">
                <a:solidFill>
                  <a:srgbClr val="C8763A"/>
                </a:solidFill>
                <a:latin typeface="Calibri" pitchFamily="34" charset="0"/>
                <a:ea typeface="Calibri" pitchFamily="34" charset="-122"/>
                <a:cs typeface="Calibri" pitchFamily="34" charset="-120"/>
              </a:rPr>
              <a:t>Forksheet, then CFET: put n and p closer, then on top of each other</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6 · The industry view</a:t>
            </a: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Who's racing, and what it means for you</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The 2nm-class race</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188720"/>
                <a:gridCol w="1828800"/>
                <a:gridCol w="1737360"/>
                <a:gridCol w="237744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Node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Transistor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Backside power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Watch for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TSMC</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N2 → A16</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Nanosheet</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Super Power Rail (A16)</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Volume ramp; Apple and HPC first</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Intel</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18A</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RibbonFET</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PowerVia (first)</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Outside foundry customers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Samsung</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SF3 → SF2</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MBCFET (first GAA, 2022)</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Planned (SF2Z)</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Yield and customer wins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bl>
          </a:graphicData>
        </a:graphic>
      </p:graphicFrame>
      <p:sp>
        <p:nvSpPr>
          <p:cNvPr id="4" name="Text 1"/>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400" i="1" dirty="0">
                <a:solidFill>
                  <a:srgbClr val="C8763A"/>
                </a:solidFill>
                <a:latin typeface="Calibri" pitchFamily="34" charset="0"/>
                <a:ea typeface="Calibri" pitchFamily="34" charset="-122"/>
                <a:cs typeface="Calibri" pitchFamily="34" charset="-120"/>
              </a:rPr>
              <a:t>Compare density, performance per watt, SRAM cell area, yield and wafer price, not node names.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Career map: where this week's topics become jobs</a:t>
            </a:r>
            <a:endParaRPr 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3017520"/>
                <a:gridCol w="301752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they do</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GAA/backside power matter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Standard-cell library designer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Designs and characterises the logic “Lego bricks”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New sheet-width and Vt options; new cell rules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DTCO engineer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Co-optimises process rules and cell layouts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Track reduction, backside rails</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Physical design engineer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Places and routes blocks into a chip layout</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New power grids, fewer tracks, congestion</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Power-integrity / IR-EM engineer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Signs off voltage drop and wire wear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Backside power changes everything here</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Verification engineer</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Proves the design works before tape-out</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More complex chips = more verification</a:t>
                      </a:r>
                      <a:endParaRPr lang="en-US" sz="1300" dirty="0">
                        <a:latin typeface="Calibri" charset="0"/>
                        <a:ea typeface="Calibri" charset="0"/>
                        <a:cs typeface="Calibri" charset="0"/>
                      </a:endParaRPr>
                    </a:p>
                  </a:txBody>
                  <a:tcPr marL="64008" marR="64008" marT="64008" marB="64008"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bl>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Practice problems</a:t>
            </a:r>
            <a:endParaRPr lang="en-US" sz="2800" dirty="0"/>
          </a:p>
        </p:txBody>
      </p:sp>
      <p:sp>
        <p:nvSpPr>
          <p:cNvPr id="3" name="Shape 1"/>
          <p:cNvSpPr/>
          <p:nvPr/>
        </p:nvSpPr>
        <p:spPr>
          <a:xfrm>
            <a:off x="548640" y="1097280"/>
            <a:ext cx="402336" cy="402336"/>
          </a:xfrm>
          <a:prstGeom prst="ellipse">
            <a:avLst/>
          </a:prstGeom>
          <a:solidFill>
            <a:srgbClr val="2A9D8F"/>
          </a:solidFill>
          <a:ln w="12700">
            <a:solidFill>
              <a:srgbClr val="2A9D8F"/>
            </a:solidFill>
            <a:prstDash val="solid"/>
          </a:ln>
        </p:spPr>
      </p:sp>
      <p:sp>
        <p:nvSpPr>
          <p:cNvPr id="4" name="Text 2"/>
          <p:cNvSpPr txBox="1"/>
          <p:nvPr/>
        </p:nvSpPr>
        <p:spPr>
          <a:xfrm>
            <a:off x="548640" y="10972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5" name="Text 3"/>
          <p:cNvSpPr txBox="1"/>
          <p:nvPr/>
        </p:nvSpPr>
        <p:spPr>
          <a:xfrm>
            <a:off x="1188720" y="1051560"/>
            <a:ext cx="7498080" cy="502920"/>
          </a:xfrm>
          <a:prstGeom prst="rect">
            <a:avLst/>
          </a:prstGeom>
          <a:noFill/>
          <a:ln/>
        </p:spPr>
        <p:txBody>
          <a:bodyPr wrap="square" lIns="0" tIns="0" rIns="0" bIns="0" rtlCol="0" anchor="ctr"/>
          <a:lstStyle/>
          <a:p>
            <a:pPr indent="0" marL="0">
              <a:buNone/>
            </a:pPr>
            <a:r>
              <a:rPr lang="en-US" sz="1600" dirty="0">
                <a:solidFill>
                  <a:srgbClr val="14202E"/>
                </a:solidFill>
                <a:latin typeface="Calibri" pitchFamily="34" charset="0"/>
                <a:ea typeface="Calibri" pitchFamily="34" charset="-122"/>
                <a:cs typeface="Calibri" pitchFamily="34" charset="-120"/>
              </a:rPr>
              <a:t>A 6-track cell at MMP = 21 nm: how tall?</a:t>
            </a:r>
            <a:endParaRPr lang="en-US" sz="1600" dirty="0"/>
          </a:p>
        </p:txBody>
      </p:sp>
      <p:sp>
        <p:nvSpPr>
          <p:cNvPr id="6" name="Shape 4"/>
          <p:cNvSpPr/>
          <p:nvPr/>
        </p:nvSpPr>
        <p:spPr>
          <a:xfrm>
            <a:off x="548640" y="1755648"/>
            <a:ext cx="402336" cy="402336"/>
          </a:xfrm>
          <a:prstGeom prst="ellipse">
            <a:avLst/>
          </a:prstGeom>
          <a:solidFill>
            <a:srgbClr val="2A9D8F"/>
          </a:solidFill>
          <a:ln w="12700">
            <a:solidFill>
              <a:srgbClr val="2A9D8F"/>
            </a:solidFill>
            <a:prstDash val="solid"/>
          </a:ln>
        </p:spPr>
      </p:sp>
      <p:sp>
        <p:nvSpPr>
          <p:cNvPr id="7" name="Text 5"/>
          <p:cNvSpPr txBox="1"/>
          <p:nvPr/>
        </p:nvSpPr>
        <p:spPr>
          <a:xfrm>
            <a:off x="548640"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8" name="Text 6"/>
          <p:cNvSpPr txBox="1"/>
          <p:nvPr/>
        </p:nvSpPr>
        <p:spPr>
          <a:xfrm>
            <a:off x="1188720" y="1709928"/>
            <a:ext cx="7498080" cy="502920"/>
          </a:xfrm>
          <a:prstGeom prst="rect">
            <a:avLst/>
          </a:prstGeom>
          <a:noFill/>
          <a:ln/>
        </p:spPr>
        <p:txBody>
          <a:bodyPr wrap="square" lIns="0" tIns="0" rIns="0" bIns="0" rtlCol="0" anchor="ctr"/>
          <a:lstStyle/>
          <a:p>
            <a:pPr indent="0" marL="0">
              <a:buNone/>
            </a:pPr>
            <a:r>
              <a:rPr lang="en-US" sz="1600" dirty="0">
                <a:solidFill>
                  <a:srgbClr val="14202E"/>
                </a:solidFill>
                <a:latin typeface="Calibri" pitchFamily="34" charset="0"/>
                <a:ea typeface="Calibri" pitchFamily="34" charset="-122"/>
                <a:cs typeface="Calibri" pitchFamily="34" charset="-120"/>
              </a:rPr>
              <a:t>Going from 6 to 5 tracks at the same pitch saves what % of cell area?</a:t>
            </a:r>
            <a:endParaRPr lang="en-US" sz="1600" dirty="0"/>
          </a:p>
        </p:txBody>
      </p:sp>
      <p:sp>
        <p:nvSpPr>
          <p:cNvPr id="9" name="Shape 7"/>
          <p:cNvSpPr/>
          <p:nvPr/>
        </p:nvSpPr>
        <p:spPr>
          <a:xfrm>
            <a:off x="548640" y="2414016"/>
            <a:ext cx="402336" cy="402336"/>
          </a:xfrm>
          <a:prstGeom prst="ellipse">
            <a:avLst/>
          </a:prstGeom>
          <a:solidFill>
            <a:srgbClr val="2A9D8F"/>
          </a:solidFill>
          <a:ln w="12700">
            <a:solidFill>
              <a:srgbClr val="2A9D8F"/>
            </a:solidFill>
            <a:prstDash val="solid"/>
          </a:ln>
        </p:spPr>
      </p:sp>
      <p:sp>
        <p:nvSpPr>
          <p:cNvPr id="10" name="Text 8"/>
          <p:cNvSpPr txBox="1"/>
          <p:nvPr/>
        </p:nvSpPr>
        <p:spPr>
          <a:xfrm>
            <a:off x="548640" y="241401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1" name="Text 9"/>
          <p:cNvSpPr txBox="1"/>
          <p:nvPr/>
        </p:nvSpPr>
        <p:spPr>
          <a:xfrm>
            <a:off x="1188720" y="2368296"/>
            <a:ext cx="7498080" cy="502920"/>
          </a:xfrm>
          <a:prstGeom prst="rect">
            <a:avLst/>
          </a:prstGeom>
          <a:noFill/>
          <a:ln/>
        </p:spPr>
        <p:txBody>
          <a:bodyPr wrap="square" lIns="0" tIns="0" rIns="0" bIns="0" rtlCol="0" anchor="ctr"/>
          <a:lstStyle/>
          <a:p>
            <a:pPr indent="0" marL="0">
              <a:buNone/>
            </a:pPr>
            <a:r>
              <a:rPr lang="en-US" sz="1600" dirty="0">
                <a:solidFill>
                  <a:srgbClr val="14202E"/>
                </a:solidFill>
                <a:latin typeface="Calibri" pitchFamily="34" charset="0"/>
                <a:ea typeface="Calibri" pitchFamily="34" charset="-122"/>
                <a:cs typeface="Calibri" pitchFamily="34" charset="-120"/>
              </a:rPr>
              <a:t>SS = 70 mV/dec. How much must Vt rise to cut leakage 100×?</a:t>
            </a:r>
            <a:endParaRPr lang="en-US" sz="1600" dirty="0"/>
          </a:p>
        </p:txBody>
      </p:sp>
      <p:sp>
        <p:nvSpPr>
          <p:cNvPr id="12" name="Shape 10"/>
          <p:cNvSpPr/>
          <p:nvPr/>
        </p:nvSpPr>
        <p:spPr>
          <a:xfrm>
            <a:off x="548640" y="3072384"/>
            <a:ext cx="402336" cy="402336"/>
          </a:xfrm>
          <a:prstGeom prst="ellipse">
            <a:avLst/>
          </a:prstGeom>
          <a:solidFill>
            <a:srgbClr val="2A9D8F"/>
          </a:solidFill>
          <a:ln w="12700">
            <a:solidFill>
              <a:srgbClr val="2A9D8F"/>
            </a:solidFill>
            <a:prstDash val="solid"/>
          </a:ln>
        </p:spPr>
      </p:sp>
      <p:sp>
        <p:nvSpPr>
          <p:cNvPr id="13" name="Text 11"/>
          <p:cNvSpPr txBox="1"/>
          <p:nvPr/>
        </p:nvSpPr>
        <p:spPr>
          <a:xfrm>
            <a:off x="548640" y="30723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4" name="Text 12"/>
          <p:cNvSpPr txBox="1"/>
          <p:nvPr/>
        </p:nvSpPr>
        <p:spPr>
          <a:xfrm>
            <a:off x="1188720" y="3026664"/>
            <a:ext cx="7498080" cy="502920"/>
          </a:xfrm>
          <a:prstGeom prst="rect">
            <a:avLst/>
          </a:prstGeom>
          <a:noFill/>
          <a:ln/>
        </p:spPr>
        <p:txBody>
          <a:bodyPr wrap="square" lIns="0" tIns="0" rIns="0" bIns="0" rtlCol="0" anchor="ctr"/>
          <a:lstStyle/>
          <a:p>
            <a:pPr indent="0" marL="0">
              <a:buNone/>
            </a:pPr>
            <a:r>
              <a:rPr lang="en-US" sz="1600" dirty="0">
                <a:solidFill>
                  <a:srgbClr val="14202E"/>
                </a:solidFill>
                <a:latin typeface="Calibri" pitchFamily="34" charset="0"/>
                <a:ea typeface="Calibri" pitchFamily="34" charset="-122"/>
                <a:cs typeface="Calibri" pitchFamily="34" charset="-120"/>
              </a:rPr>
              <a:t>Effective width of 4 sheets, 25 nm wide, 5 nm thick?</a:t>
            </a:r>
            <a:endParaRPr lang="en-US" sz="1600" dirty="0"/>
          </a:p>
        </p:txBody>
      </p:sp>
      <p:sp>
        <p:nvSpPr>
          <p:cNvPr id="15" name="Shape 13"/>
          <p:cNvSpPr/>
          <p:nvPr/>
        </p:nvSpPr>
        <p:spPr>
          <a:xfrm>
            <a:off x="548640" y="3730752"/>
            <a:ext cx="402336" cy="402336"/>
          </a:xfrm>
          <a:prstGeom prst="ellipse">
            <a:avLst/>
          </a:prstGeom>
          <a:solidFill>
            <a:srgbClr val="2A9D8F"/>
          </a:solidFill>
          <a:ln w="12700">
            <a:solidFill>
              <a:srgbClr val="2A9D8F"/>
            </a:solidFill>
            <a:prstDash val="solid"/>
          </a:ln>
        </p:spPr>
      </p:sp>
      <p:sp>
        <p:nvSpPr>
          <p:cNvPr id="16" name="Text 14"/>
          <p:cNvSpPr txBox="1"/>
          <p:nvPr/>
        </p:nvSpPr>
        <p:spPr>
          <a:xfrm>
            <a:off x="548640" y="37307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7" name="Text 15"/>
          <p:cNvSpPr txBox="1"/>
          <p:nvPr/>
        </p:nvSpPr>
        <p:spPr>
          <a:xfrm>
            <a:off x="1188720" y="3685032"/>
            <a:ext cx="7498080" cy="502920"/>
          </a:xfrm>
          <a:prstGeom prst="rect">
            <a:avLst/>
          </a:prstGeom>
          <a:noFill/>
          <a:ln/>
        </p:spPr>
        <p:txBody>
          <a:bodyPr wrap="square" lIns="0" tIns="0" rIns="0" bIns="0" rtlCol="0" anchor="ctr"/>
          <a:lstStyle/>
          <a:p>
            <a:pPr indent="0" marL="0">
              <a:buNone/>
            </a:pPr>
            <a:r>
              <a:rPr lang="en-US" sz="1600" dirty="0">
                <a:solidFill>
                  <a:srgbClr val="14202E"/>
                </a:solidFill>
                <a:latin typeface="Calibri" pitchFamily="34" charset="0"/>
                <a:ea typeface="Calibri" pitchFamily="34" charset="-122"/>
                <a:cs typeface="Calibri" pitchFamily="34" charset="-120"/>
              </a:rPr>
              <a:t>Why does nanosheet gate fill limit Vt flavours?</a:t>
            </a:r>
            <a:endParaRPr lang="en-US" sz="1600" dirty="0"/>
          </a:p>
        </p:txBody>
      </p:sp>
      <p:sp>
        <p:nvSpPr>
          <p:cNvPr id="18" name="Text 16"/>
          <p:cNvSpPr txBox="1"/>
          <p:nvPr/>
        </p:nvSpPr>
        <p:spPr>
          <a:xfrm>
            <a:off x="457200" y="4389120"/>
            <a:ext cx="8229600" cy="320040"/>
          </a:xfrm>
          <a:prstGeom prst="rect">
            <a:avLst/>
          </a:prstGeom>
          <a:noFill/>
          <a:ln/>
        </p:spPr>
        <p:txBody>
          <a:bodyPr wrap="square" lIns="0" tIns="0" rIns="0" bIns="0" rtlCol="0" anchor="t"/>
          <a:lstStyle/>
          <a:p>
            <a:pPr indent="0" marL="0">
              <a:buNone/>
            </a:pPr>
            <a:r>
              <a:rPr lang="en-US" sz="1300" i="1" dirty="0">
                <a:solidFill>
                  <a:srgbClr val="5B7083"/>
                </a:solidFill>
                <a:latin typeface="Calibri" pitchFamily="34" charset="0"/>
                <a:ea typeface="Calibri" pitchFamily="34" charset="-122"/>
                <a:cs typeface="Calibri" pitchFamily="34" charset="-120"/>
              </a:rPr>
              <a:t>Work them out on paper, then check the next slide.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Answers</a:t>
            </a:r>
            <a:endParaRPr lang="en-US" sz="2800" dirty="0"/>
          </a:p>
        </p:txBody>
      </p:sp>
      <p:sp>
        <p:nvSpPr>
          <p:cNvPr id="3" name="Shape 1"/>
          <p:cNvSpPr/>
          <p:nvPr/>
        </p:nvSpPr>
        <p:spPr>
          <a:xfrm>
            <a:off x="548640" y="1078992"/>
            <a:ext cx="402336" cy="402336"/>
          </a:xfrm>
          <a:prstGeom prst="ellipse">
            <a:avLst/>
          </a:prstGeom>
          <a:solidFill>
            <a:srgbClr val="2A9D8F"/>
          </a:solidFill>
          <a:ln w="12700">
            <a:solidFill>
              <a:srgbClr val="2A9D8F"/>
            </a:solidFill>
            <a:prstDash val="solid"/>
          </a:ln>
        </p:spPr>
      </p:sp>
      <p:sp>
        <p:nvSpPr>
          <p:cNvPr id="4" name="Text 2"/>
          <p:cNvSpPr txBox="1"/>
          <p:nvPr/>
        </p:nvSpPr>
        <p:spPr>
          <a:xfrm>
            <a:off x="548640" y="10789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5" name="Text 3"/>
          <p:cNvSpPr txBox="1"/>
          <p:nvPr/>
        </p:nvSpPr>
        <p:spPr>
          <a:xfrm>
            <a:off x="1188720" y="1005840"/>
            <a:ext cx="7498080" cy="292608"/>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A 6-track cell at MMP = 21 nm: how tall?</a:t>
            </a:r>
            <a:endParaRPr lang="en-US" sz="1300" dirty="0"/>
          </a:p>
        </p:txBody>
      </p:sp>
      <p:sp>
        <p:nvSpPr>
          <p:cNvPr id="6" name="Text 4"/>
          <p:cNvSpPr txBox="1"/>
          <p:nvPr/>
        </p:nvSpPr>
        <p:spPr>
          <a:xfrm>
            <a:off x="1188720" y="1280160"/>
            <a:ext cx="7498080" cy="36576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6 × 21 = 126 nm</a:t>
            </a:r>
            <a:endParaRPr lang="en-US" sz="1500" dirty="0"/>
          </a:p>
        </p:txBody>
      </p:sp>
      <p:sp>
        <p:nvSpPr>
          <p:cNvPr id="7" name="Shape 5"/>
          <p:cNvSpPr/>
          <p:nvPr/>
        </p:nvSpPr>
        <p:spPr>
          <a:xfrm>
            <a:off x="548640" y="1792224"/>
            <a:ext cx="402336" cy="402336"/>
          </a:xfrm>
          <a:prstGeom prst="ellipse">
            <a:avLst/>
          </a:prstGeom>
          <a:solidFill>
            <a:srgbClr val="2A9D8F"/>
          </a:solidFill>
          <a:ln w="12700">
            <a:solidFill>
              <a:srgbClr val="2A9D8F"/>
            </a:solidFill>
            <a:prstDash val="solid"/>
          </a:ln>
        </p:spPr>
      </p:sp>
      <p:sp>
        <p:nvSpPr>
          <p:cNvPr id="8" name="Text 6"/>
          <p:cNvSpPr txBox="1"/>
          <p:nvPr/>
        </p:nvSpPr>
        <p:spPr>
          <a:xfrm>
            <a:off x="548640" y="17922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188720" y="1719072"/>
            <a:ext cx="7498080" cy="292608"/>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Going from 6 to 5 tracks at the same pitch saves what % of cell area?</a:t>
            </a:r>
            <a:endParaRPr lang="en-US" sz="1300" dirty="0"/>
          </a:p>
        </p:txBody>
      </p:sp>
      <p:sp>
        <p:nvSpPr>
          <p:cNvPr id="10" name="Text 8"/>
          <p:cNvSpPr txBox="1"/>
          <p:nvPr/>
        </p:nvSpPr>
        <p:spPr>
          <a:xfrm>
            <a:off x="1188720" y="1993392"/>
            <a:ext cx="7498080" cy="36576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1 − 5/6 ≈ 16.7%</a:t>
            </a:r>
            <a:endParaRPr lang="en-US" sz="1500" dirty="0"/>
          </a:p>
        </p:txBody>
      </p:sp>
      <p:sp>
        <p:nvSpPr>
          <p:cNvPr id="11" name="Shape 9"/>
          <p:cNvSpPr/>
          <p:nvPr/>
        </p:nvSpPr>
        <p:spPr>
          <a:xfrm>
            <a:off x="548640" y="2505456"/>
            <a:ext cx="402336" cy="402336"/>
          </a:xfrm>
          <a:prstGeom prst="ellipse">
            <a:avLst/>
          </a:prstGeom>
          <a:solidFill>
            <a:srgbClr val="2A9D8F"/>
          </a:solidFill>
          <a:ln w="12700">
            <a:solidFill>
              <a:srgbClr val="2A9D8F"/>
            </a:solidFill>
            <a:prstDash val="solid"/>
          </a:ln>
        </p:spPr>
      </p:sp>
      <p:sp>
        <p:nvSpPr>
          <p:cNvPr id="12" name="Text 10"/>
          <p:cNvSpPr txBox="1"/>
          <p:nvPr/>
        </p:nvSpPr>
        <p:spPr>
          <a:xfrm>
            <a:off x="548640" y="250545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188720" y="2432304"/>
            <a:ext cx="7498080" cy="292608"/>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SS = 70 mV/dec. How much must Vt rise to cut leakage 100×?</a:t>
            </a:r>
            <a:endParaRPr lang="en-US" sz="1300" dirty="0"/>
          </a:p>
        </p:txBody>
      </p:sp>
      <p:sp>
        <p:nvSpPr>
          <p:cNvPr id="14" name="Text 12"/>
          <p:cNvSpPr txBox="1"/>
          <p:nvPr/>
        </p:nvSpPr>
        <p:spPr>
          <a:xfrm>
            <a:off x="1188720" y="2706624"/>
            <a:ext cx="7498080" cy="36576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2 decades × 70 = 140 mV</a:t>
            </a:r>
            <a:endParaRPr lang="en-US" sz="1500" dirty="0"/>
          </a:p>
        </p:txBody>
      </p:sp>
      <p:sp>
        <p:nvSpPr>
          <p:cNvPr id="15" name="Shape 13"/>
          <p:cNvSpPr/>
          <p:nvPr/>
        </p:nvSpPr>
        <p:spPr>
          <a:xfrm>
            <a:off x="548640" y="3218688"/>
            <a:ext cx="402336" cy="402336"/>
          </a:xfrm>
          <a:prstGeom prst="ellipse">
            <a:avLst/>
          </a:prstGeom>
          <a:solidFill>
            <a:srgbClr val="2A9D8F"/>
          </a:solidFill>
          <a:ln w="12700">
            <a:solidFill>
              <a:srgbClr val="2A9D8F"/>
            </a:solidFill>
            <a:prstDash val="solid"/>
          </a:ln>
        </p:spPr>
      </p:sp>
      <p:sp>
        <p:nvSpPr>
          <p:cNvPr id="16" name="Text 14"/>
          <p:cNvSpPr txBox="1"/>
          <p:nvPr/>
        </p:nvSpPr>
        <p:spPr>
          <a:xfrm>
            <a:off x="548640" y="32186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7" name="Text 15"/>
          <p:cNvSpPr txBox="1"/>
          <p:nvPr/>
        </p:nvSpPr>
        <p:spPr>
          <a:xfrm>
            <a:off x="1188720" y="3145536"/>
            <a:ext cx="7498080" cy="292608"/>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Effective width of 4 sheets, 25 nm wide, 5 nm thick?</a:t>
            </a:r>
            <a:endParaRPr lang="en-US" sz="1300" dirty="0"/>
          </a:p>
        </p:txBody>
      </p:sp>
      <p:sp>
        <p:nvSpPr>
          <p:cNvPr id="18" name="Text 16"/>
          <p:cNvSpPr txBox="1"/>
          <p:nvPr/>
        </p:nvSpPr>
        <p:spPr>
          <a:xfrm>
            <a:off x="1188720" y="3419856"/>
            <a:ext cx="7498080" cy="36576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4 × 2·(25 + 5) = 240 nm</a:t>
            </a:r>
            <a:endParaRPr lang="en-US" sz="1500" dirty="0"/>
          </a:p>
        </p:txBody>
      </p:sp>
      <p:sp>
        <p:nvSpPr>
          <p:cNvPr id="19" name="Shape 17"/>
          <p:cNvSpPr/>
          <p:nvPr/>
        </p:nvSpPr>
        <p:spPr>
          <a:xfrm>
            <a:off x="548640" y="3931920"/>
            <a:ext cx="402336" cy="402336"/>
          </a:xfrm>
          <a:prstGeom prst="ellipse">
            <a:avLst/>
          </a:prstGeom>
          <a:solidFill>
            <a:srgbClr val="2A9D8F"/>
          </a:solidFill>
          <a:ln w="12700">
            <a:solidFill>
              <a:srgbClr val="2A9D8F"/>
            </a:solidFill>
            <a:prstDash val="solid"/>
          </a:ln>
        </p:spPr>
      </p:sp>
      <p:sp>
        <p:nvSpPr>
          <p:cNvPr id="20" name="Text 18"/>
          <p:cNvSpPr txBox="1"/>
          <p:nvPr/>
        </p:nvSpPr>
        <p:spPr>
          <a:xfrm>
            <a:off x="548640" y="3931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1" name="Text 19"/>
          <p:cNvSpPr txBox="1"/>
          <p:nvPr/>
        </p:nvSpPr>
        <p:spPr>
          <a:xfrm>
            <a:off x="1188720" y="3858768"/>
            <a:ext cx="7498080" cy="292608"/>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Why does nanosheet gate fill limit Vt flavours?</a:t>
            </a:r>
            <a:endParaRPr lang="en-US" sz="1300" dirty="0"/>
          </a:p>
        </p:txBody>
      </p:sp>
      <p:sp>
        <p:nvSpPr>
          <p:cNvPr id="22" name="Text 20"/>
          <p:cNvSpPr txBox="1"/>
          <p:nvPr/>
        </p:nvSpPr>
        <p:spPr>
          <a:xfrm>
            <a:off x="1188720" y="4133088"/>
            <a:ext cx="7498080" cy="36576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Each Vt needs a different metal stack; ~10 nm gaps leave no room</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Deep dive in six lines</a:t>
            </a:r>
            <a:endParaRPr lang="en-US" sz="3200" dirty="0"/>
          </a:p>
        </p:txBody>
      </p:sp>
      <p:sp>
        <p:nvSpPr>
          <p:cNvPr id="3" name="Shape 1"/>
          <p:cNvSpPr/>
          <p:nvPr/>
        </p:nvSpPr>
        <p:spPr>
          <a:xfrm>
            <a:off x="548640" y="1234440"/>
            <a:ext cx="365760" cy="365760"/>
          </a:xfrm>
          <a:prstGeom prst="ellipse">
            <a:avLst/>
          </a:prstGeom>
          <a:solidFill>
            <a:srgbClr val="C8763A"/>
          </a:solidFill>
          <a:ln w="12700">
            <a:solidFill>
              <a:srgbClr val="C8763A"/>
            </a:solidFill>
            <a:prstDash val="solid"/>
          </a:ln>
        </p:spPr>
      </p:sp>
      <p:sp>
        <p:nvSpPr>
          <p:cNvPr id="4" name="Text 2"/>
          <p:cNvSpPr txBox="1"/>
          <p:nvPr/>
        </p:nvSpPr>
        <p:spPr>
          <a:xfrm>
            <a:off x="548640" y="1234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097280" y="1234440"/>
            <a:ext cx="758952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 gate voltage above Vt pulls electrons up to form the channel</a:t>
            </a:r>
            <a:endParaRPr lang="en-US" sz="1600" dirty="0"/>
          </a:p>
        </p:txBody>
      </p:sp>
      <p:sp>
        <p:nvSpPr>
          <p:cNvPr id="6" name="Shape 4"/>
          <p:cNvSpPr/>
          <p:nvPr/>
        </p:nvSpPr>
        <p:spPr>
          <a:xfrm>
            <a:off x="548640" y="1737360"/>
            <a:ext cx="365760" cy="365760"/>
          </a:xfrm>
          <a:prstGeom prst="ellipse">
            <a:avLst/>
          </a:prstGeom>
          <a:solidFill>
            <a:srgbClr val="C8763A"/>
          </a:solidFill>
          <a:ln w="12700">
            <a:solidFill>
              <a:srgbClr val="C8763A"/>
            </a:solidFill>
            <a:prstDash val="solid"/>
          </a:ln>
        </p:spPr>
      </p:sp>
      <p:sp>
        <p:nvSpPr>
          <p:cNvPr id="7" name="Text 5"/>
          <p:cNvSpPr txBox="1"/>
          <p:nvPr/>
        </p:nvSpPr>
        <p:spPr>
          <a:xfrm>
            <a:off x="548640" y="1737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097280" y="1737360"/>
            <a:ext cx="758952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Grade a switch by I_on, I_off and SS (≥ 60 mV/decade)</a:t>
            </a:r>
            <a:endParaRPr lang="en-US" sz="1600" dirty="0"/>
          </a:p>
        </p:txBody>
      </p:sp>
      <p:sp>
        <p:nvSpPr>
          <p:cNvPr id="9" name="Shape 7"/>
          <p:cNvSpPr/>
          <p:nvPr/>
        </p:nvSpPr>
        <p:spPr>
          <a:xfrm>
            <a:off x="548640" y="2240280"/>
            <a:ext cx="365760" cy="365760"/>
          </a:xfrm>
          <a:prstGeom prst="ellipse">
            <a:avLst/>
          </a:prstGeom>
          <a:solidFill>
            <a:srgbClr val="C8763A"/>
          </a:solidFill>
          <a:ln w="12700">
            <a:solidFill>
              <a:srgbClr val="C8763A"/>
            </a:solidFill>
            <a:prstDash val="solid"/>
          </a:ln>
        </p:spPr>
      </p:sp>
      <p:sp>
        <p:nvSpPr>
          <p:cNvPr id="10" name="Text 8"/>
          <p:cNvSpPr txBox="1"/>
          <p:nvPr/>
        </p:nvSpPr>
        <p:spPr>
          <a:xfrm>
            <a:off x="548640" y="22402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1" name="Text 9"/>
          <p:cNvSpPr txBox="1"/>
          <p:nvPr/>
        </p:nvSpPr>
        <p:spPr>
          <a:xfrm>
            <a:off x="1097280" y="2240280"/>
            <a:ext cx="758952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Short channels leak because the drain lowers the barrier (DIBL)</a:t>
            </a:r>
            <a:endParaRPr lang="en-US" sz="1600" dirty="0"/>
          </a:p>
        </p:txBody>
      </p:sp>
      <p:sp>
        <p:nvSpPr>
          <p:cNvPr id="12" name="Shape 10"/>
          <p:cNvSpPr/>
          <p:nvPr/>
        </p:nvSpPr>
        <p:spPr>
          <a:xfrm>
            <a:off x="548640" y="2743200"/>
            <a:ext cx="365760" cy="365760"/>
          </a:xfrm>
          <a:prstGeom prst="ellipse">
            <a:avLst/>
          </a:prstGeom>
          <a:solidFill>
            <a:srgbClr val="C8763A"/>
          </a:solidFill>
          <a:ln w="12700">
            <a:solidFill>
              <a:srgbClr val="C8763A"/>
            </a:solidFill>
            <a:prstDash val="solid"/>
          </a:ln>
        </p:spPr>
      </p:sp>
      <p:sp>
        <p:nvSpPr>
          <p:cNvPr id="13" name="Text 11"/>
          <p:cNvSpPr txBox="1"/>
          <p:nvPr/>
        </p:nvSpPr>
        <p:spPr>
          <a:xfrm>
            <a:off x="548640" y="27432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1097280" y="2743200"/>
            <a:ext cx="758952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Nodes = pitches × tracks; density now comes mostly from DTCO</a:t>
            </a:r>
            <a:endParaRPr lang="en-US" sz="1600" dirty="0"/>
          </a:p>
        </p:txBody>
      </p:sp>
      <p:sp>
        <p:nvSpPr>
          <p:cNvPr id="15" name="Shape 13"/>
          <p:cNvSpPr/>
          <p:nvPr/>
        </p:nvSpPr>
        <p:spPr>
          <a:xfrm>
            <a:off x="548640" y="3246120"/>
            <a:ext cx="365760" cy="365760"/>
          </a:xfrm>
          <a:prstGeom prst="ellipse">
            <a:avLst/>
          </a:prstGeom>
          <a:solidFill>
            <a:srgbClr val="C8763A"/>
          </a:solidFill>
          <a:ln w="12700">
            <a:solidFill>
              <a:srgbClr val="C8763A"/>
            </a:solidFill>
            <a:prstDash val="solid"/>
          </a:ln>
        </p:spPr>
      </p:sp>
      <p:sp>
        <p:nvSpPr>
          <p:cNvPr id="16" name="Text 14"/>
          <p:cNvSpPr txBox="1"/>
          <p:nvPr/>
        </p:nvSpPr>
        <p:spPr>
          <a:xfrm>
            <a:off x="548640" y="32461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7" name="Text 15"/>
          <p:cNvSpPr txBox="1"/>
          <p:nvPr/>
        </p:nvSpPr>
        <p:spPr>
          <a:xfrm>
            <a:off x="1097280" y="3246120"/>
            <a:ext cx="758952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Nanosheets: build with SiGe placeholders, then swap in the gate</a:t>
            </a:r>
            <a:endParaRPr lang="en-US" sz="1600" dirty="0"/>
          </a:p>
        </p:txBody>
      </p:sp>
      <p:sp>
        <p:nvSpPr>
          <p:cNvPr id="18" name="Shape 16"/>
          <p:cNvSpPr/>
          <p:nvPr/>
        </p:nvSpPr>
        <p:spPr>
          <a:xfrm>
            <a:off x="548640" y="3749040"/>
            <a:ext cx="365760" cy="365760"/>
          </a:xfrm>
          <a:prstGeom prst="ellipse">
            <a:avLst/>
          </a:prstGeom>
          <a:solidFill>
            <a:srgbClr val="C8763A"/>
          </a:solidFill>
          <a:ln w="12700">
            <a:solidFill>
              <a:srgbClr val="C8763A"/>
            </a:solidFill>
            <a:prstDash val="solid"/>
          </a:ln>
        </p:spPr>
      </p:sp>
      <p:sp>
        <p:nvSpPr>
          <p:cNvPr id="19" name="Text 17"/>
          <p:cNvSpPr txBox="1"/>
          <p:nvPr/>
        </p:nvSpPr>
        <p:spPr>
          <a:xfrm>
            <a:off x="548640" y="37490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0" name="Text 18"/>
          <p:cNvSpPr txBox="1"/>
          <p:nvPr/>
        </p:nvSpPr>
        <p:spPr>
          <a:xfrm>
            <a:off x="1097280" y="3749040"/>
            <a:ext cx="758952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Backside power moves power wires under the transistors</a:t>
            </a:r>
            <a:endParaRPr lang="en-US" sz="1600" dirty="0"/>
          </a:p>
        </p:txBody>
      </p:sp>
      <p:sp>
        <p:nvSpPr>
          <p:cNvPr id="21" name="Text 19"/>
          <p:cNvSpPr txBox="1"/>
          <p:nvPr/>
        </p:nvSpPr>
        <p:spPr>
          <a:xfrm>
            <a:off x="548640" y="4434840"/>
            <a:ext cx="8046720" cy="320040"/>
          </a:xfrm>
          <a:prstGeom prst="rect">
            <a:avLst/>
          </a:prstGeom>
          <a:noFill/>
          <a:ln/>
        </p:spPr>
        <p:txBody>
          <a:bodyPr wrap="square" lIns="0" tIns="0" rIns="0" bIns="0" rtlCol="0" anchor="t"/>
          <a:lstStyle/>
          <a:p>
            <a:pPr indent="0" marL="0">
              <a:buNone/>
            </a:pPr>
            <a:r>
              <a:rPr lang="en-US" sz="1300" dirty="0">
                <a:solidFill>
                  <a:srgbClr val="8FB8DE"/>
                </a:solidFill>
                <a:latin typeface="Calibri" pitchFamily="34" charset="0"/>
                <a:ea typeface="Calibri" pitchFamily="34" charset="-122"/>
                <a:cs typeface="Calibri" pitchFamily="34" charset="-120"/>
              </a:rPr>
              <a:t>Listen: Week 1 deep-dive podcast  ·  Read: notes/week-01-deep-dive.md</a:t>
            </a:r>
            <a:endParaRPr lang="en-US" sz="1300" dirty="0"/>
          </a:p>
        </p:txBody>
      </p:sp>
    </p:spTree>
  </p:cSld>
  <p:clrMapOvr>
    <a:masterClrMapping/>
  </p:clrMapOvr>
</p:sld>
</file>

<file path=ppt/theme/theme1.xml><?xml version="1.0" encoding="utf-8"?>
<a:theme xmlns:a="http://schemas.openxmlformats.org/drawingml/2006/main" name="Silicon and Copper">
  <a:themeElements>
    <a:clrScheme name="Silicon and Copper">
      <a:dk1>
        <a:srgbClr val="14202E"/>
      </a:dk1>
      <a:lt1>
        <a:srgbClr val="FFFFFF"/>
      </a:lt1>
      <a:dk2>
        <a:srgbClr val="0B1F33"/>
      </a:dk2>
      <a:lt2>
        <a:srgbClr val="EEF2F6"/>
      </a:lt2>
      <a:accent1>
        <a:srgbClr val="C8763A"/>
      </a:accent1>
      <a:accent2>
        <a:srgbClr val="2A9D8F"/>
      </a:accent2>
      <a:accent3>
        <a:srgbClr val="E9C46A"/>
      </a:accent3>
      <a:accent4>
        <a:srgbClr val="5B7083"/>
      </a:accent4>
      <a:accent5>
        <a:srgbClr val="8FB8DE"/>
      </a:accent5>
      <a:accent6>
        <a:srgbClr val="B23A48"/>
      </a:accent6>
      <a:hlink>
        <a:srgbClr val="2A9D8F"/>
      </a:hlink>
      <a:folHlink>
        <a:srgbClr val="5B7083"/>
      </a:folHlink>
    </a:clrScheme>
    <a:fontScheme name="Silicon and Copp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deep dive — Inside the transistor</dc:title>
  <dc:subject>PptxGenJS Presentation</dc:subject>
  <dc:creator>Semiconductor learning track</dc:creator>
  <cp:lastModifiedBy>Semiconductor learning track</cp:lastModifiedBy>
  <cp:revision>1</cp:revision>
  <dcterms:created xsi:type="dcterms:W3CDTF">2026-10-28T17:57:50Z</dcterms:created>
  <dcterms:modified xsi:type="dcterms:W3CDTF">2026-10-28T17:57:50Z</dcterms:modified>
</cp:coreProperties>
</file>